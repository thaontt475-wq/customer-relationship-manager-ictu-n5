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Override PartName="/ppt/qa/theme/theme1.xml" ContentType="application/vnd.openxmlformats-officedocument.theme+xml"/>
  <Override PartName="/ppt/qa/slideMasters/slideMaster1.xml" ContentType="application/vnd.openxmlformats-officedocument.presentationml.slideMaster+xml"/>
  <Override PartName="/ppt/qa/slideMasters/theme/theme2.xml" ContentType="application/vnd.openxmlformats-officedocument.theme+xml"/>
  <Override PartName="/ppt/qa/slideLayouts/slideLayout1.xml" ContentType="application/vnd.openxmlformats-officedocument.presentationml.slideLayout+xml"/>
  <Override PartName="/ppt/qa/slideLayouts/slideLayout2.xml" ContentType="application/vnd.openxmlformats-officedocument.presentationml.slideLayout+xml"/>
  <Override PartName="/ppt/qa/slideLayouts/slideLayout3.xml" ContentType="application/vnd.openxmlformats-officedocument.presentationml.slideLayout+xml"/>
  <Override PartName="/ppt/qa/slideLayouts/slideLayout4.xml" ContentType="application/vnd.openxmlformats-officedocument.presentationml.slideLayout+xml"/>
  <Override PartName="/ppt/qa/slideLayouts/slideLayout5.xml" ContentType="application/vnd.openxmlformats-officedocument.presentationml.slideLayout+xml"/>
  <Override PartName="/ppt/qa/slideLayouts/slideLayout6.xml" ContentType="application/vnd.openxmlformats-officedocument.presentationml.slideLayout+xml"/>
  <Override PartName="/ppt/qa/notesMasters/notesMaster1.xml" ContentType="application/vnd.openxmlformats-officedocument.presentationml.notesMaster+xml"/>
  <Override PartName="/ppt/qa/notesMasters/theme/theme3.xml" ContentType="application/vnd.openxmlformats-officedocument.theme+xml"/>
  <Override PartName="/ppt/qa/presProps.xml" ContentType="application/vnd.openxmlformats-officedocument.presentationml.presProps+xml"/>
  <Override PartName="/ppt/qa/tableStyles.xml" ContentType="application/vnd.openxmlformats-officedocument.presentationml.tableStyles+xml"/>
  <Override PartName="/ppt/slides/slide38.xml" ContentType="application/vnd.openxmlformats-officedocument.presentationml.slide+xml"/>
  <Override PartName="/ppt/qa/notesSlides/notesSlide1.xml" ContentType="application/vnd.openxmlformats-officedocument.presentationml.notesSlide+xml"/>
  <Override PartName="/ppt/slides/slide39.xml" ContentType="application/vnd.openxmlformats-officedocument.presentationml.slide+xml"/>
  <Override PartName="/ppt/qa/notesSlides/notesSlide2.xml" ContentType="application/vnd.openxmlformats-officedocument.presentationml.notesSlide+xml"/>
  <Override PartName="/ppt/slides/slide40.xml" ContentType="application/vnd.openxmlformats-officedocument.presentationml.slide+xml"/>
  <Override PartName="/ppt/qa/notesSlides/notesSlide3.xml" ContentType="application/vnd.openxmlformats-officedocument.presentationml.notesSlide+xml"/>
  <Override PartName="/ppt/slides/slide41.xml" ContentType="application/vnd.openxmlformats-officedocument.presentationml.slide+xml"/>
  <Override PartName="/ppt/qa/notesSlides/notesSlide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49" r:id="rId60"/>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93" r:id="rId56"/>
    <p:sldId id="294" r:id="rId57"/>
    <p:sldId id="295" r:id="rId58"/>
    <p:sldId id="296" r:id="rId59"/>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embeddedFontLst>
    <p:embeddedFont>
      <p:font typeface="Be Vietnam Pro"/>
      <p:regular r:id="rId44"/>
      <p:bold r:id="rId45"/>
      <p:italic r:id="rId46"/>
      <p:boldItalic r:id="rId47"/>
    </p:embeddedFont>
    <p:embeddedFont>
      <p:font typeface="Calibri" panose="020F0502020204030204"/>
      <p:regular r:id="rId48"/>
      <p:bold r:id="rId49"/>
      <p:italic r:id="rId50"/>
      <p:boldItalic r:id="rId51"/>
    </p:embeddedFont>
    <p:embeddedFont>
      <p:font typeface="JetBrains Mono" panose="02000009000000000000"/>
      <p:regular r:id="rId52"/>
      <p:bold r:id="rId53"/>
      <p:italic r:id="rId54"/>
      <p:boldItalic r:id="rId55"/>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B3969C7-C4A1-4AC8-A6FE-2D9392E11A51}"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font" Target="fonts/font12.fntdata"/><Relationship Id="rId54" Type="http://schemas.openxmlformats.org/officeDocument/2006/relationships/font" Target="fonts/font11.fntdata"/><Relationship Id="rId53" Type="http://schemas.openxmlformats.org/officeDocument/2006/relationships/font" Target="fonts/font10.fntdata"/><Relationship Id="rId52" Type="http://schemas.openxmlformats.org/officeDocument/2006/relationships/font" Target="fonts/font9.fntdata"/><Relationship Id="rId51" Type="http://schemas.openxmlformats.org/officeDocument/2006/relationships/font" Target="fonts/font8.fntdata"/><Relationship Id="rId50" Type="http://schemas.openxmlformats.org/officeDocument/2006/relationships/font" Target="fonts/font7.fntdata"/><Relationship Id="rId5" Type="http://schemas.openxmlformats.org/officeDocument/2006/relationships/slide" Target="slides/slide2.xml"/><Relationship Id="rId49" Type="http://schemas.openxmlformats.org/officeDocument/2006/relationships/font" Target="fonts/font6.fntdata"/><Relationship Id="rId48" Type="http://schemas.openxmlformats.org/officeDocument/2006/relationships/font" Target="fonts/font5.fntdata"/><Relationship Id="rId47" Type="http://schemas.openxmlformats.org/officeDocument/2006/relationships/font" Target="fonts/font4.fntdata"/><Relationship Id="rId46" Type="http://schemas.openxmlformats.org/officeDocument/2006/relationships/font" Target="fonts/font3.fntdata"/><Relationship Id="rId45" Type="http://schemas.openxmlformats.org/officeDocument/2006/relationships/font" Target="fonts/font2.fntdata"/><Relationship Id="rId44" Type="http://schemas.openxmlformats.org/officeDocument/2006/relationships/font" Target="fonts/font1.fntdata"/><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 Id="rId56" Type="http://schemas.openxmlformats.org/officeDocument/2006/relationships/slide" Target="slides/slide38.xml"/><Relationship Id="rId57" Type="http://schemas.openxmlformats.org/officeDocument/2006/relationships/slide" Target="slides/slide39.xml"/><Relationship Id="rId58" Type="http://schemas.openxmlformats.org/officeDocument/2006/relationships/slide" Target="slides/slide40.xml"/><Relationship Id="rId59" Type="http://schemas.openxmlformats.org/officeDocument/2006/relationships/slide" Target="slides/slide41.xml"/><Relationship Id="rId60" Type="http://schemas.openxmlformats.org/officeDocument/2006/relationships/slideMaster" Target="qa/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Trang bìa. Điền tên dự án, tên nhóm, thời gian thực tập, danh sách thành viên kèm vai trò (Frontend, Backend, Game Developer, QA…), mentor, đơn vị và trường. Nhóm dưới 4 người: xóa dòng thừa; nhóm đông hơn: thêm dòng.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Mở đầu Phần A. Nhóm cử 1–2 người trình bày phần chung.</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Trình bày timeline theo sprint (thêm hoặc bớt ô cho đúng số sprint thực tế), mô hình làm việc, công cụ và quy tắc Git nhóm đã áp dụng. Chỉ ghi những gì nhóm thực sự làm.</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a:r>
              <a:t>Slide dùng Jira roadmap có sẵn trong báo cáo để minh họa; ảnh đó không thay thế minh chứng Backlog view. Tổng 244 issue; 76 Story (38 Done + 38 In Progress), 152 subtask Done, 9 Epic, 7 Task. Để tránh nhầm, các chỉ số 38 và 100% chỉ áp dụng phạm vi S1–4.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a:r>
              <a:t>Velocity: 26,54,47,45. 16 SP S1 chuyển S2 và 5 SP S2 chuyển S3; không cộng trùng SP gốc. Tổng 172 SP S1–4.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Đây là slide A·05 còn thiếu so với template. Nguồn: bảng phân bổ Git/Jira trong báo cáo gốc, mốc 21/10/2026. Git main 415 commit = 234 non-merge + 181 merge; PR merged 142 (Loki 77, Tiệp 34, Thảo 17, Tiến 8, Toàn 4, Hoàng 2). 215 của Loki là định danh nhóm, KHÔNG phải khẳng định commit của cá nhân Nguyễn Văn Thắng. Các con số gồm merge, không phù hợp đối chiếu trực tiếp với git shortlog --no-merges; chưa có PR review, +/- dòng và ảnh contributors nên hiển thị Chưa chốt/Chưa đo.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Chứng minh nhóm làm việc theo quy trình chuyên nghiệp: mô hình nhánh, quy ước đặt tên, quy tắc review. Chọn 1 PR có trao đổi review thực chất (góp ý và chỉnh sửa), không chọn PR chỉ có "LGTM".</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PR #163 báo cáo 130/130 E2E, 354/354 Maven, 7/7 BUG-001..007 retest. Đây là báo cáo trong nội dung PR, chưa có log gốc đối chiếu. Không cộng các lần chạy/loại test hoặc gọi đây là kết quả chạy mới. Báo cáo QA 17/10 trong repo có phạm vi và kết quả khác; không dùng nó để kết luận các lỗi còn tồn tại sau PR 163 ngày 19/10.</a:t>
            </a:r>
          </a:p>
          <a:p>
            <a:r>
              <a:t>https://github.com/thaontt475-wq/customer-relationship-manager-ictu-n5/pull/163</a:t>
            </a:r>
          </a:p>
          <a:p>
            <a:r>
              <a:t>https://github.com/thaontt475-wq/customer-relationship-manager-ictu-n5/blob/f3284a8f7f5414569869a1139858f38fd59a7564/backend/docs/S4-06-integration-qa.md</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Mapping metadata: Nguyen Van Thang + Loki-sama119=215 commit; nongquangtiep và Nông Quang Tiệp=83; Thao và thaontt475-wq=77; VietTien9=16; Toan=4; hoangvanthang06=15. Còn 5 commit Ten Cua Ban chưa quy chủ, không cộng cho Toàn. GitHub account PR merged: Loki 77, Tiệp 34, Thảo 17, Tiến 8, Toàn 4, Hoàng 2; tổng 142. PR #139 ghi BE Giàng Văn Thắng, #143 ghi BE Hoàng Trọng Thái. Không tìm thấy account riêng đủ căn cứ cho hai người; không suy ra họ không đóng góp.</a:t>
            </a:r>
          </a:p>
          <a:p>
            <a:r>
              <a:t>Số sub-task Done theo assignee Jira: Nguyễn Văn Thắng 27; Nông Quang Tiệp 32; Nguyễn Thị Thu Thảo 36; Nguyễn Việt Tiến 14; Nguyễn Đình Toàn 18; Hoàng Văn Thắng 12; Giàng Văn Thắng (Giàng a thắng) 11; Hoàng Trọng Thái 2. Tổng 152. Jira giao CRM-282 cho Nguyễn Văn Thắng, PR #143 ghi BE Hoàng Trọng Thái: không quy hai nguồn thành cùng một chỉ số.</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a:r>
              <a:t>Đối chiếu assignee Jira Tiệp Nông Quang: 32 sub-task Done. Vai trò theo nhãn Summary: {"FE": 15, "INT": 16, "BE": 1}.</a:t>
            </a:r>
          </a:p>
          <a:p>
            <a:r>
              <a:t>Ticket đầy đủ: CRM-134, CRM-137, CRM-138, CRM-167, CRM-181, CRM-186, CRM-190, CRM-197, CRM-201, CRM-205, CRM-210, CRM-213, CRM-218, CRM-221, CRM-222, CRM-226, CRM-233, CRM-234, CRM-242, CRM-244, CRM-246, CRM-249, CRM-250, CRM-257, CRM-258, CRM-268, CRM-270, CRM-277, CRM-279, CRM-281, CRM-287, CRM-289. Đây là nhiệm vụ được giao, không chứng minh tác giả duy nhất của mọi commit.</a:t>
            </a:r>
          </a:p>
          <a:p/>
          <a:p>
            <a:r>
              <a:t>Tài khoản đối chiếu: https://github.com/nongquangtiep</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https://github.com/thaontt475-wq/customer-relationship-manager-ictu-n5/pull/140</a:t>
            </a:r>
          </a:p>
          <a:p>
            <a:r>
              <a:t>https://github.com/thaontt475-wq/customer-relationship-manager-ictu-n5/pull/159</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a:r>
              <a:t>Đối chiếu assignee Jira Việt Tiến Nguyễn: 14 sub-task Done. Vai trò theo nhãn Summary: {"BE": 11, "QA": 1, "INT": 1, "FE": 1}.</a:t>
            </a:r>
          </a:p>
          <a:p>
            <a:r>
              <a:t>Ticket đầy đủ: CRM-133, CRM-136, CRM-164, CRM-180, CRM-184, CRM-194, CRM-196, CRM-204, CRM-212, CRM-220, CRM-245, CRM-256, CRM-278, CRM-290. Đây là nhiệm vụ được giao, không chứng minh tác giả duy nhất của mọi commit.</a:t>
            </a:r>
          </a:p>
          <a:p/>
          <a:p>
            <a:r>
              <a:t>Tài khoản đối chiếu: https://github.com/VieTien9</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https://github.com/thaontt475-wq/customer-relationship-manager-ictu-n5/pull/142</a:t>
            </a:r>
          </a:p>
          <a:p>
            <a:r>
              <a:t>https://github.com/thaontt475-wq/customer-relationship-manager-ictu-n5/pull/143</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a:r>
              <a:t>Đối chiếu assignee Jira thao ntt: 36 sub-task Done. Vai trò theo nhãn Summary: {"QA": 19, "BE": 4, "INT": 9, "FE": 4}.</a:t>
            </a:r>
          </a:p>
          <a:p>
            <a:r>
              <a:t>Ticket đầy đủ: CRM-135, CRM-139, CRM-143, CRM-147, CRM-151, CRM-155, CRM-156, CRM-161, CRM-165, CRM-169, CRM-182, CRM-185, CRM-193, CRM-198, CRM-202, CRM-206, CRM-214, CRM-217, CRM-223, CRM-227, CRM-231, CRM-235, CRM-239, CRM-243, CRM-247, CRM-251, CRM-255, CRM-259, CRM-260, CRM-262, CRM-263, CRM-267, CRM-271, CRM-275, CRM-283, CRM-291. Đây là nhiệm vụ được giao, không chứng minh tác giả duy nhất của mọi commit.</a:t>
            </a:r>
          </a:p>
          <a:p/>
          <a:p>
            <a:r>
              <a:t>Tài khoản đối chiếu: https://github.com/thaontt475-wq</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https://github.com/thaontt475-wq/customer-relationship-manager-ictu-n5/pull/163</a:t>
            </a:r>
          </a:p>
          <a:p>
            <a:r>
              <a:t>https://github.com/thaontt475-wq/customer-relationship-manager-ictu-n5/pull/154</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Jira hiện ghi 27/27 sub-task Done cho NGUYEN VAN THANG: 11 BE, 3 FE, 2 INT, 11 QA. Con số 10/10 người dùng cung cấp trước đó và 18 trong file không khớp bản xuất hiện tại. CRM-282 API SLA được giao Nguyễn Văn Thắng trên Jira, trong khi PR #143 mô tả Backend Hoàng Trọng Thái. Giữ phân biệt assignee Jira với người thực hiện ghi trong PR; không kết luận ai là tác giả duy nhất. 215 commit/77 PR vẫn là metadata tài khoản tích hợp nhóm.</a:t>
            </a:r>
          </a:p>
          <a:p>
            <a:r>
              <a:t>https://github.com/thaontt475-wq/customer-relationship-manager-ictu-n5/pull/116</a:t>
            </a:r>
          </a:p>
          <a:p>
            <a:r>
              <a:t>https://github.com/thaontt475-wq/customer-relationship-manager-ictu-n5/pull/117</a:t>
            </a:r>
          </a:p>
          <a:p>
            <a:r>
              <a:t>https://github.com/thaontt475-wq/customer-relationship-manager-ictu-n5/pull/138</a:t>
            </a:r>
          </a:p>
          <a:p>
            <a:r>
              <a:t>https://github.com/thaontt475-wq/customer-relationship-manager-ictu-n5/pull/141</a:t>
            </a:r>
          </a:p>
          <a:p>
            <a:r>
              <a:t>https://github.com/thaontt475-wq/customer-relationship-manager-ictu-n5/pull/143</a:t>
            </a:r>
          </a:p>
          <a:p>
            <a:r>
              <a:t>Đối chiếu assignee Jira NGUYEN VAN THANG: 27 sub-task Done. Vai trò theo nhãn Summary: {"BE": 11, "FE": 3, "INT": 2, "QA": 11}.</a:t>
            </a:r>
          </a:p>
          <a:p>
            <a:r>
              <a:t>Ticket đầy đủ: CRM-140, CRM-144, CRM-162, CRM-163, CRM-166, CRM-168, CRM-170, CRM-171, CRM-183, CRM-187, CRM-191, CRM-192, CRM-195, CRM-199, CRM-200, CRM-203, CRM-207, CRM-208, CRM-211, CRM-215, CRM-216, CRM-219, CRM-224, CRM-240, CRM-261, CRM-274, CRM-282. Đây là nhiệm vụ được giao, không chứng minh tác giả duy nhất của mọi commit.</a:t>
            </a:r>
          </a:p>
          <a:p/>
          <a:p>
            <a:r>
              <a:t>Tài khoản đối chiếu: https://github.com/Loki-sama119</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https://github.com/thaontt475-wq/customer-relationship-manager-ictu-n5/pull/138</a:t>
            </a:r>
          </a:p>
          <a:p>
            <a:r>
              <a:t>https://github.com/thaontt475-wq/customer-relationship-manager-ictu-n5/pull/141</a:t>
            </a:r>
          </a:p>
          <a:p>
            <a:r>
              <a:t>https://github.com/thaontt475-wq/customer-relationship-manager-ictu-n5/blob/f3284a8f7f5414569869a1139858f38fd59a7564/backend/src/main/java/com/crm/service/leads/LeadService.java#L97</a:t>
            </a:r>
          </a:p>
          <a:p>
            <a:r>
              <a:t>https://github.com/thaontt475-wq/customer-relationship-manager-ictu-n5/blob/f3284a8f7f5414569869a1139858f38fd59a7564/backend/src/main/java/com/crm/service/leads/LeadImportService.java#L38</a:t>
            </a:r>
          </a:p>
          <a:p>
            <a:r>
              <a:t>https://github.com/thaontt475-wq/customer-relationship-manager-ictu-n5/blob/f3284a8f7f5414569869a1139858f38fd59a7564/backend/src/main/java/com/crm/dao/leads/LeadDAO.java#L35</a:t>
            </a:r>
          </a:p>
          <a:p>
            <a:r>
              <a:t>https://thaontt475.atlassian.net/browse/CRM-261 (Done; assignee NGUYEN VAN THANG, xác nhận trong bản xuất Jira 21/10/2026)</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PR #110 có chỗ ghi Nguyễn Văn Toàn, trong danh sách nhóm là Nguyễn Đình Toàn. Không dùng chỗ ghi tên khác để tự mở rộng phân công. 5 commit tác giả mẫu Ten Cua Ban không được tự gán cho Toàn.</a:t>
            </a:r>
          </a:p>
          <a:p>
            <a:r>
              <a:t>https://github.com/thaontt475-wq/customer-relationship-manager-ictu-n5/pull/22</a:t>
            </a:r>
          </a:p>
          <a:p>
            <a:r>
              <a:t>https://github.com/thaontt475-wq/customer-relationship-manager-ictu-n5/pull/12</a:t>
            </a:r>
          </a:p>
          <a:p>
            <a:r>
              <a:t>https://github.com/thaontt475-wq/customer-relationship-manager-ictu-n5/pull/36</a:t>
            </a:r>
          </a:p>
          <a:p>
            <a:r>
              <a:t>https://github.com/thaontt475-wq/customer-relationship-manager-ictu-n5/pull/140</a:t>
            </a:r>
          </a:p>
          <a:p>
            <a:r>
              <a:t>https://github.com/thaontt475-wq/customer-relationship-manager-ictu-n5/pull/144</a:t>
            </a:r>
          </a:p>
          <a:p>
            <a:r>
              <a:t>Đối chiếu assignee Jira toannguyendinh4290: 18 sub-task Done. Vai trò theo nhãn Summary: {"BE": 8, "QA": 8, "INT": 2}.</a:t>
            </a:r>
          </a:p>
          <a:p>
            <a:r>
              <a:t>Ticket đầy đủ: CRM-148, CRM-152, CRM-159, CRM-172, CRM-188, CRM-228, CRM-230, CRM-236, CRM-252, CRM-254, CRM-269, CRM-272, CRM-276, CRM-280, CRM-284, CRM-286, CRM-288, CRM-292. Đây là nhiệm vụ được giao, không chứng minh tác giả duy nhất của mọi commit.</a:t>
            </a:r>
          </a:p>
          <a:p/>
          <a:p>
            <a:r>
              <a:t>Tài khoản đối chiếu: https://github.com/toannguyendinh4290</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https://github.com/thaontt475-wq/customer-relationship-manager-ictu-n5/pull/22</a:t>
            </a:r>
          </a:p>
          <a:p>
            <a:r>
              <a:t>https://github.com/thaontt475-wq/customer-relationship-manager-ictu-n5/pull/12</a:t>
            </a:r>
          </a:p>
          <a:p>
            <a:r>
              <a:t>https://github.com/thaontt475-wq/customer-relationship-manager-ictu-n5/pull/36</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https://github.com/thaontt475-wq/customer-relationship-manager-ictu-n5/pull/10</a:t>
            </a:r>
          </a:p>
          <a:p>
            <a:r>
              <a:t>https://github.com/thaontt475-wq/customer-relationship-manager-ictu-n5/pull/11</a:t>
            </a:r>
          </a:p>
          <a:p>
            <a:r>
              <a:t>https://github.com/thaontt475-wq/customer-relationship-manager-ictu-n5/pull/139</a:t>
            </a:r>
          </a:p>
          <a:p>
            <a:r>
              <a:t>https://github.com/thaontt475-wq/customer-relationship-manager-ictu-n5/pull/106</a:t>
            </a:r>
          </a:p>
          <a:p>
            <a:r>
              <a:t>https://github.com/thaontt475-wq/customer-relationship-manager-ictu-n5/pull/107</a:t>
            </a:r>
          </a:p>
          <a:p>
            <a:r>
              <a:t>Đối chiếu assignee Jira HOANG VAN THANG: 12 sub-task Done. Vai trò theo nhãn Summary: {"FE": 8, "INT": 4}.</a:t>
            </a:r>
          </a:p>
          <a:p>
            <a:r>
              <a:t>Ticket đầy đủ: CRM-149, CRM-150, CRM-153, CRM-154, CRM-209, CRM-229, CRM-237, CRM-238, CRM-253, CRM-264, CRM-266, CRM-273. Đây là nhiệm vụ được giao, không chứng minh tác giả duy nhất của mọi commit.</a:t>
            </a:r>
          </a:p>
          <a:p/>
          <a:p>
            <a:r>
              <a:t>Tài khoản đối chiếu: https://github.com/hoangvanthang06</a:t>
            </a:r>
          </a:p>
          <a:p>
            <a:r>
              <a:t>PR được tính theo user.login của người mở PR và merged_at khác null; không theo người bấm merge, không theo số thứ tự PR lớn nhất.</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r>
              <a:t>https://github.com/thaontt475-wq/customer-relationship-manager-ictu-n5/pull/139</a:t>
            </a:r>
          </a:p>
          <a:p>
            <a:r>
              <a:t>https://github.com/thaontt475-wq/customer-relationship-manager-ictu-n5/pull/136</a:t>
            </a:r>
          </a:p>
          <a:p>
            <a:r>
              <a:t>https://github.com/thaontt475-wq/customer-relationship-manager-ictu-n5/pull/106</a:t>
            </a:r>
          </a:p>
          <a:p>
            <a:r>
              <a:t>https://github.com/thaontt475-wq/customer-relationship-manager-ictu-n5/pull/107</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Cơ sở số liệu 21/10/2026:</a:t>
            </a:r>
          </a:p>
          <a:p>
            <a:r>
              <a:t>Git main @ f3284a8f7f5414569869a1139858f38fd59a7564 có 415 commit, gồm 234 không merge và 181 merge commit.</a:t>
            </a:r>
          </a:p>
          <a:p>
            <a:r>
              <a:t>GitHub REST API liệt kê 163 PR đóng, 142 có merged_at; 21 đóng không merge. Phạm vi PR là toàn repository, mọi base branch; không chỉ một sprint.</a:t>
            </a:r>
          </a:p>
          <a:p>
            <a:r>
              <a:t>https://github.com/thaontt475-wq/customer-relationship-manager-ictu-n5/pulls?q=is%3Apr+is%3Amerged</a:t>
            </a:r>
          </a:p>
          <a:p>
            <a:r>
              <a:t>https://api.github.com/repos/thaontt475-wq/customer-relationship-manager-ictu-n5/pulls?state=all&amp;per_page=100</a:t>
            </a:r>
          </a:p>
          <a:p>
            <a:r>
              <a:t>Commit và PR là metadata hoạt động, không phải tỷ lệ đóng góp. Người dùng xác nhận Loki-sama119 là tài khoản tạo/tích hợp PR cho nhóm.</a:t>
            </a:r>
          </a:p>
          <a:p>
            <a:r>
              <a:t>Jira đối chiếu trực tiếp 21/10/2026: xuất CSV - all fields từ List, JQL project = CRM ORDER BY key ASC, bỏ chế độ hierarchy để lấy toàn bộ work item. 244 issue key duy nhất: 76 Story, 152 Subtask, 9 Epic, 7 Task. Có 38 Story Done/172 SP, 152 Subtask Done; mỗi subtask thuộc một trong 38 Story này. 38 Story còn lại (178 SP) In Progress. Số liệu là trạng thái hiện tại, không chứng minh Done tại ngày đóng sprint. Nhóm S1–4 theo phạm vi kế hoạch/Epic CRM-8/9/10/11, không gọi đây là velocity; CSV có Story nằm trong nhiều Sprint (carryover).</a:t>
            </a:r>
          </a:p>
          <a:p>
            <a:r>
              <a:t>https://thaontt475.atlassian.net/jira/software/projects/CRM/list?jql=project%20%3D%20CRM%20ORDER%20BY%20key%20ASC</a:t>
            </a:r>
          </a:p>
          <a:p>
            <a:r>
              <a:t>Subtask không có giá trị Story Point. Không gán điểm Story cha thành nỗ lực cá nhân hoặc tính trùng cho FE/BE/QA. Không dùng số commit/PR/Task để tự chấm tỷ lệ đóng góp hay năng lực. Cần phiếu đánh giá cho các chỉ số này.</a:t>
            </a:r>
          </a:p>
          <a:p/>
          <a:p>
            <a:r>
              <a:t>Bản bổ sung tỷ trọng: % = số sub-task Done theo assignee của thành viên / 152 × 100, làm tròn một chữ số thập phân. Mỗi sub-task có trọng số bằng nhau. Đây là tỷ trọng số lượng công việc đã ghi nhận, không phải điểm năng lực, chất lượng, thời gian hay toàn bộ đóng góp của thành viên. Không chấm điểm mentor/đồng đội thay người đánh giá. Đã bỏ ô SP cá nhân. Theo yêu cầu, giữ hai cột điểm Trước/Sau (1–5) và để trống cho nhóm tự đánh giá. Nhận xét định tính dựa trên phạm vi công việc và minh chứng Jira/GitHub.</a:t>
            </a:r>
          </a:p>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Phần C do nhóm trình bày chung, kết thúc bằng demo trực tiếp và hỏi đáp.</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Tóm tắt giá trị trên 3 tầng: sản phẩm và doanh nghiệp, nhóm, cá nhân. Mỗi ý nên dẫn lại minh chứng đã trình bày ở Phần A và B, không đưa thêm thông tin mới chưa chứng minh.</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Nêu bài học cụ thể, gắn với tình huống thực tế trong dự án, tránh câu chung chung như "học được làm việc nhóm". Phần "Nếu làm lại" thể hiện khả năng tự nhìn nhận và cải tiến.</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Roadmap sản phẩm nêu những gì có thể làm tiếp nếu dự án được duy trì. Định hướng nghề nghiệp: vị trí mong muốn và kế hoạch 6–12 tháng của từng thành viên, bao gồm nguyện vọng làm việc chính thức nếu có.</a:t>
            </a:r>
          </a:p>
          <a:p>
            <a:r>
              <a:t>Định hướng nghề nghiệp cá nhân không có trong báo cáo gốc; để trạng thái cần bổ sung, không tự gán nguyện vọng.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Demo trực tiếp các luồng chính, chuẩn bị sẵn tài khoản và dữ liệu mẫu. Luôn có video demo dự phòng trong trường hợp mạng hoặc máy trục trặc.</a:t>
            </a:r>
          </a:p>
          <a:p/>
        </p:txBody>
      </p:sp>
      <p:sp>
        <p:nvSpPr>
          <p:cNvPr id="4" name="Slide Number Placeholder 3"/>
          <p:cNvSpPr>
            <a:spLocks noGrp="1"/>
          </p:cNvSpPr>
          <p:nvPr>
            <p:ph type="sldNum" idx="5"/>
          </p:nvPr>
        </p:nvSpPr>
        <p:spPr/>
        <p:txBody>
          <a:bodyPr/>
          <a:lstStyle/>
          <a:p/>
        </p:txBody>
      </p:sp>
    </p:spTree>
  </p:cSld>
  <p:clrMapOvr>
    <a:masterClrMapping/>
  </p:clrMapOvr>
</p:notes>
</file>

<file path=ppt/qa/notesMasters/_rels/notesMaster1.xml.rels><?xml version='1.0' encoding='UTF-8' standalone='yes'?>
<Relationships xmlns="http://schemas.openxmlformats.org/package/2006/relationships"><Relationship Type="http://schemas.openxmlformats.org/officeDocument/2006/relationships/theme" Target="/ppt/qa/notesMasters/theme/theme3.xml" Id="R44c691ed49b84144"/></Relationships>
</file>

<file path=ppt/qa/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qa/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qa/notesSlides/_rels/notesSlide1.xml.rels><?xml version='1.0' encoding='UTF-8' standalone='yes'?>
<Relationships xmlns="http://schemas.openxmlformats.org/package/2006/relationships"><Relationship Type="http://schemas.openxmlformats.org/officeDocument/2006/relationships/slide" Target="/ppt/slides/slide38.xml" Id="R228ec2d1617b498d"/><Relationship Type="http://schemas.openxmlformats.org/officeDocument/2006/relationships/notesMaster" Target="/ppt/qa/notesMasters/notesMaster1.xml" Id="R22830e0e12d34bff"/></Relationships>
</file>

<file path=ppt/qa/notesSlides/_rels/notesSlide2.xml.rels><?xml version='1.0' encoding='UTF-8' standalone='yes'?>
<Relationships xmlns="http://schemas.openxmlformats.org/package/2006/relationships"><Relationship Type="http://schemas.openxmlformats.org/officeDocument/2006/relationships/slide" Target="/ppt/slides/slide39.xml" Id="Rec9ee72a67d64dc5"/><Relationship Type="http://schemas.openxmlformats.org/officeDocument/2006/relationships/notesMaster" Target="/ppt/qa/notesMasters/notesMaster1.xml" Id="Rb11f0867fd4c4867"/></Relationships>
</file>

<file path=ppt/qa/notesSlides/_rels/notesSlide3.xml.rels><?xml version='1.0' encoding='UTF-8' standalone='yes'?>
<Relationships xmlns="http://schemas.openxmlformats.org/package/2006/relationships"><Relationship Type="http://schemas.openxmlformats.org/officeDocument/2006/relationships/slide" Target="/ppt/slides/slide40.xml" Id="R3384abe946194be4"/><Relationship Type="http://schemas.openxmlformats.org/officeDocument/2006/relationships/notesMaster" Target="/ppt/qa/notesMasters/notesMaster1.xml" Id="R995e69a3510a4ab9"/></Relationships>
</file>

<file path=ppt/qa/notesSlides/_rels/notesSlide4.xml.rels><?xml version='1.0' encoding='UTF-8' standalone='yes'?>
<Relationships xmlns="http://schemas.openxmlformats.org/package/2006/relationships"><Relationship Type="http://schemas.openxmlformats.org/officeDocument/2006/relationships/slide" Target="/ppt/slides/slide41.xml" Id="Rd0a21eb600814efb"/><Relationship Type="http://schemas.openxmlformats.org/officeDocument/2006/relationships/notesMaster" Target="/ppt/qa/notesMasters/notesMaster1.xml" Id="R6a0f8d48a97a4948"/></Relationships>
</file>

<file path=ppt/qa/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đo: 23/10/2026. Môi trường QA local tại http://127.0.0.1:18085/crm, database crm_sprint1_test_crm261_20261023. Không chạy tải lên production. Số VU là tải mô phỏng của k6, không phải số người dùng thử thực tế.</a:t>
            </a:r>
          </a:p>
          <a:p xmlns:a="http://schemas.openxmlformats.org/drawingml/2006/main">
            <a:r>
              <a:t/>
            </a:r>
          </a:p>
          <a:p xmlns:a="http://schemas.openxmlformats.org/drawingml/2006/main">
            <a:r>
              <a:t>Backend: 355/355 test PASS, không failure, error hoặc skip. Frontend: 9/9 test PASS. HTTP smoke: 14/14 PASS. Kiểm tra HTTP nghiệp vụ và quyền: 10/10 PASS. Không cộng các lượt chạy lặp vào tổng test.</a:t>
            </a:r>
          </a:p>
          <a:p xmlns:a="http://schemas.openxmlformats.org/drawingml/2006/main">
            <a:r>
              <a:t/>
            </a:r>
          </a:p>
          <a:p xmlns:a="http://schemas.openxmlformats.org/drawingml/2006/main">
            <a:r>
              <a:t>Các con số này thuộc lần kiểm tra ngày 23/10, không thay thế số 354 Maven và 130 E2E được dẫn từ PR #163 ở slide A-10 gốc. Một lượt package chạy trùng tải từng có 1 test FAIL do HTTP 500 ở kiểm tra session. Sau khi socket hồi phục, lượt package cuối chạy đủ 355 test và PASS. Redeploy từng trả 404 tạm thời trong lúc nạp context. Chỉ xác nhận triển khai sau khi health trả 200 và 10 kiểm tra HTTP chạy lại PASS.</a:t>
            </a:r>
          </a:p>
          <a:p xmlns:a="http://schemas.openxmlformats.org/drawingml/2006/main">
            <a:r>
              <a:t/>
            </a:r>
          </a:p>
          <a:p xmlns:a="http://schemas.openxmlformats.org/drawingml/2006/main">
            <a:r>
              <a:t>Nguồn: phase2-verify.log, phase2-package-final.log, phase2-fe.log, phase2-http-smoke.log, phase2-integration.json, phase2-permission.json, deploy-final.txt và health-final.txt trong .local-qa/CRM-261-20261023/.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qa/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đo: 23/10/2026. Môi trường QA local tại http://127.0.0.1:18085/crm, database crm_sprint1_test_crm261_20261023. Không chạy tải lên production. Số VU là tải mô phỏng của k6, không phải số người dùng thử thực tế.</a:t>
            </a:r>
          </a:p>
          <a:p xmlns:a="http://schemas.openxmlformats.org/drawingml/2006/main">
            <a:r>
              <a:t/>
            </a:r>
          </a:p>
          <a:p xmlns:a="http://schemas.openxmlformats.org/drawingml/2006/main">
            <a:r>
              <a:t>Thao tác trên trình duyệt thật: đăng nhập tài khoản QA mới, mở modal tạo Lead, tải 6 nguồn từ server, nhập dữ liệu, bấm lưu và nhận HTTP 201. Bản ghi #807 được tìm lại trong danh sách. MySQL xác nhận tên, công ty, email, điện thoại, source_id 435, owner và notes có QA Director. Không tạo lại hoặc sửa dữ liệu chỉ để chụp ảnh.</a:t>
            </a:r>
          </a:p>
          <a:p xmlns:a="http://schemas.openxmlformats.org/drawingml/2006/main">
            <a:r>
              <a:t/>
            </a:r>
          </a:p>
          <a:p xmlns:a="http://schemas.openxmlformats.org/drawingml/2006/main">
            <a:r>
              <a:t>Scheduler chuyển trạng thái sang PENDING_ASSIGNMENT. Giao diện đã sửa nhãn thành Chờ phân bổ. Trường source legacy trong ảnh vẫn hiện WEB_FORM trong khi sourceId đúng theo catalog. Đây là giới hạn read model đã ghi trong báo cáo, không coi nhãn legacy là nguồn canonical. Request JSON sai trả 400, thiếu session trả 401, thiếu quyền trả 403.</a:t>
            </a:r>
          </a:p>
          <a:p xmlns:a="http://schemas.openxmlformats.org/drawingml/2006/main">
            <a:r>
              <a:t/>
            </a:r>
          </a:p>
          <a:p xmlns:a="http://schemas.openxmlformats.org/drawingml/2006/main">
            <a:r>
              <a:t>Nguồn: performance/evidence/04-browser-lead.png, browser-db-evidence.txt, phase2-integration.json, phase2-permission.json và access log Tomcat trong thư mục bằng chứng .local-qa/CRM-261-20261023/.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qa/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đo: 23/10/2026. Môi trường QA local tại http://127.0.0.1:18085/crm, database crm_sprint1_test_crm261_20261023. Không chạy tải lên production. Số VU là tải mô phỏng của k6, không phải số người dùng thử thực tế.</a:t>
            </a:r>
          </a:p>
          <a:p xmlns:a="http://schemas.openxmlformats.org/drawingml/2006/main">
            <a:r>
              <a:t/>
            </a:r>
          </a:p>
          <a:p xmlns:a="http://schemas.openxmlformats.org/drawingml/2006/main">
            <a:r>
              <a:t>1 VU chạy 30 giây. Các mức 5, 10, 25 và 50 VU đặt 60 giây. Mỗi VU nghỉ 1 giây giữa các request. Giới hạn tối đa 3.000 GET/lượt, timeout 5 giây. p95 là percentile 95 của độ trễ HTTP.</a:t>
            </a:r>
          </a:p>
          <a:p xmlns:a="http://schemas.openxmlformats.org/drawingml/2006/main">
            <a:r>
              <a:t/>
            </a:r>
          </a:p>
          <a:p xmlns:a="http://schemas.openxmlformats.org/drawingml/2006/main">
            <a:r>
              <a:t>1 VU: 30 HTTP, 30 thành công, 0 lỗi (0.0000%). Avg 2.96 ms, p50 2.20 ms, p95 9.91 ms, p99 11.12 ms. Throughput 0.99 request/giây. Hoàn tất, PASS.</a:t>
            </a:r>
          </a:p>
          <a:p xmlns:a="http://schemas.openxmlformats.org/drawingml/2006/main">
            <a:r>
              <a:t/>
            </a:r>
          </a:p>
          <a:p xmlns:a="http://schemas.openxmlformats.org/drawingml/2006/main">
            <a:r>
              <a:t>5 VU: 300 HTTP, 300 thành công, 0 lỗi (0.0000%). Avg 1.94 ms, p50 1.43 ms, p95 5.38 ms, p99 11.51 ms. Throughput 4.98 request/giây. Hoàn tất, PASS.</a:t>
            </a:r>
          </a:p>
          <a:p xmlns:a="http://schemas.openxmlformats.org/drawingml/2006/main">
            <a:r>
              <a:t/>
            </a:r>
          </a:p>
          <a:p xmlns:a="http://schemas.openxmlformats.org/drawingml/2006/main">
            <a:r>
              <a:t>10 VU: 600 HTTP, 600 thành công, 0 lỗi (0.0000%). Avg 1.69 ms, p50 1.11 ms, p95 4.01 ms, p99 13.22 ms. Throughput 9.97 request/giây. Hoàn tất, PASS.</a:t>
            </a:r>
          </a:p>
          <a:p xmlns:a="http://schemas.openxmlformats.org/drawingml/2006/main">
            <a:r>
              <a:t/>
            </a:r>
          </a:p>
          <a:p xmlns:a="http://schemas.openxmlformats.org/drawingml/2006/main">
            <a:r>
              <a:t>25 VU: 1500 HTTP, 1500 thành công, 0 lỗi (0.0000%). Avg 1.15 ms, p50 0.73 ms, p95 3.70 ms, p99 7.20 ms. Throughput 24.94 request/giây. Hoàn tất, PASS.</a:t>
            </a:r>
          </a:p>
          <a:p xmlns:a="http://schemas.openxmlformats.org/drawingml/2006/main">
            <a:r>
              <a:t/>
            </a:r>
          </a:p>
          <a:p xmlns:a="http://schemas.openxmlformats.org/drawingml/2006/main">
            <a:r>
              <a:t>50 VU: 3000 HTTP, 3000 thành công, 0 lỗi (0.0000%). Avg 2.15 ms, p50 1.01 ms, p95 7.86 ms, p99 17.64 ms. Throughput 49.63 request/giây. Hoàn tất, PASS.</a:t>
            </a:r>
          </a:p>
          <a:p xmlns:a="http://schemas.openxmlformats.org/drawingml/2006/main">
            <a:r>
              <a:t/>
            </a:r>
          </a:p>
          <a:p xmlns:a="http://schemas.openxmlformats.org/drawingml/2006/main">
            <a:r>
              <a:t>Health là endpoint public và không truy vấn MySQL. Do đó health PASS đến 50 VU không chứng minh API nghiệp vụ cũng PASS ở mức đó.</a:t>
            </a:r>
          </a:p>
          <a:p xmlns:a="http://schemas.openxmlformats.org/drawingml/2006/main">
            <a:r>
              <a:t/>
            </a:r>
          </a:p>
          <a:p xmlns:a="http://schemas.openxmlformats.org/drawingml/2006/main">
            <a:r>
              <a:t>Giới hạn: máy phát triển dùng chung, một số lượt đầu trùng build/test Maven. Đây là snapshot đo thực tế, không phải capacity benchmark cách ly. Không suy rộng thành tải production.</a:t>
            </a:r>
          </a:p>
          <a:p xmlns:a="http://schemas.openxmlformats.org/drawingml/2006/main">
            <a:r>
              <a:t/>
            </a:r>
          </a:p>
          <a:p xmlns:a="http://schemas.openxmlformats.org/drawingml/2006/main">
            <a:r>
              <a:t>Nguồn: performance/results-20261023.json, các k6-health-*.json và log tương ứng trong .local-qa/CRM-261-20261023/.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qa/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đo: 23/10/2026. Môi trường QA local tại http://127.0.0.1:18085/crm, database crm_sprint1_test_crm261_20261023. Không chạy tải lên production. Số VU là tải mô phỏng của k6, không phải số người dùng thử thực tế.</a:t>
            </a:r>
          </a:p>
          <a:p xmlns:a="http://schemas.openxmlformats.org/drawingml/2006/main">
            <a:r>
              <a:t/>
            </a:r>
          </a:p>
          <a:p xmlns:a="http://schemas.openxmlformats.org/drawingml/2006/main">
            <a:r>
              <a:t>1 VU chạy 30 giây. Các mức 5, 10, 25 và 50 VU đặt 60 giây. Mỗi VU nghỉ 1 giây giữa các request. Giới hạn tối đa 3.000 GET/lượt, timeout 5 giây. p95 là percentile 95 của độ trễ HTTP.</a:t>
            </a:r>
          </a:p>
          <a:p xmlns:a="http://schemas.openxmlformats.org/drawingml/2006/main">
            <a:r>
              <a:t/>
            </a:r>
          </a:p>
          <a:p xmlns:a="http://schemas.openxmlformats.org/drawingml/2006/main">
            <a:r>
              <a:t>1 VU: 30 HTTP, 30 thành công, 0 lỗi (0.0000%). Avg 61.69 ms, p50 34.37 ms, p95 220.47 ms, p99 370.27 ms. Throughput 0.97 request/giây. Hoàn tất, PASS.</a:t>
            </a:r>
          </a:p>
          <a:p xmlns:a="http://schemas.openxmlformats.org/drawingml/2006/main">
            <a:r>
              <a:t/>
            </a:r>
          </a:p>
          <a:p xmlns:a="http://schemas.openxmlformats.org/drawingml/2006/main">
            <a:r>
              <a:t>5 VU: 292 HTTP, 292 thành công, 0 lỗi (0.0000%). Avg 33.20 ms, p50 27.10 ms, p95 57.85 ms, p99 139.23 ms. Throughput 4.78 request/giây. Hoàn tất, PASS.</a:t>
            </a:r>
          </a:p>
          <a:p xmlns:a="http://schemas.openxmlformats.org/drawingml/2006/main">
            <a:r>
              <a:t/>
            </a:r>
          </a:p>
          <a:p xmlns:a="http://schemas.openxmlformats.org/drawingml/2006/main">
            <a:r>
              <a:t>10 VU: 591 HTTP, 591 thành công, 0 lỗi (0.0000%). Avg 29.99 ms, p50 25.42 ms, p95 59.44 ms, p99 79.99 ms. Throughput 9.65 request/giây. Hoàn tất, PASS.</a:t>
            </a:r>
          </a:p>
          <a:p xmlns:a="http://schemas.openxmlformats.org/drawingml/2006/main">
            <a:r>
              <a:t/>
            </a:r>
          </a:p>
          <a:p xmlns:a="http://schemas.openxmlformats.org/drawingml/2006/main">
            <a:r>
              <a:t>25 VU: 1450 HTTP, 1450 thành công, 0 lỗi (0.0000%). Avg 39.02 ms, p50 32.53 ms, p95 81.28 ms, p99 169.15 ms. Throughput 23.65 request/giây. Hoàn tất, PASS.</a:t>
            </a:r>
          </a:p>
          <a:p xmlns:a="http://schemas.openxmlformats.org/drawingml/2006/main">
            <a:r>
              <a:t/>
            </a:r>
          </a:p>
          <a:p xmlns:a="http://schemas.openxmlformats.org/drawingml/2006/main">
            <a:r>
              <a:t>50 VU: 1517 HTTP, 1465 thành công, 52 lỗi (3.4278%). Avg 58.01 ms, p50 41.19 ms, p95 140.45 ms, p99 349.92 ms. Throughput 47.41 request/giây. FAIL, tự dừng sớm khoảng 32 giây.</a:t>
            </a:r>
          </a:p>
          <a:p xmlns:a="http://schemas.openxmlformats.org/drawingml/2006/main">
            <a:r>
              <a:t/>
            </a:r>
          </a:p>
          <a:p xmlns:a="http://schemas.openxmlformats.org/drawingml/2006/main">
            <a:r>
              <a:t>Tổng HTTP và độ trễ bao gồm một request login trong setup. Ở 50 VU, GET check có 1.464 PASS và 52 FAIL. Tổng HTTP có 1.465 thành công và 52 lỗi, gồm login. Error rate 3,4278% vượt ngưỡng 1% nên k6 tự dừng. Không tăng tải hoặc thay ngưỡng để che kết quả FAIL. Log JDBC ghi CommunicationsException, nguyên nhân BindException: Address already in use: connect. Sau lượt tải có 13.210 TCP TIME_WAIT, trong đó 8.059 về MySQL. Dải cổng động Windows có 16.384 cổng. Việc mở kết nối JDBC ngắn qua DriverManager phù hợp với áp lực socket, chưa đủ bằng chứng kết luận MySQL hết max_connections. CPU host 71% và RAM trống 3.405 MiB là ảnh chụp tức thời, không phải peak. Khuyến nghị kiểm tra connection pool trong task riêng.</a:t>
            </a:r>
          </a:p>
          <a:p xmlns:a="http://schemas.openxmlformats.org/drawingml/2006/main">
            <a:r>
              <a:t/>
            </a:r>
          </a:p>
          <a:p xmlns:a="http://schemas.openxmlformats.org/drawingml/2006/main">
            <a:r>
              <a:t>Giới hạn: máy phát triển dùng chung, một số lượt đầu trùng build/test Maven. Đây là snapshot đo thực tế, không phải capacity benchmark cách ly. Không suy rộng thành tải production.</a:t>
            </a:r>
          </a:p>
          <a:p xmlns:a="http://schemas.openxmlformats.org/drawingml/2006/main">
            <a:r>
              <a:t/>
            </a:r>
          </a:p>
          <a:p xmlns:a="http://schemas.openxmlformats.org/drawingml/2006/main">
            <a:r>
              <a:t>Nguồn: performance/results-20261023.json, các k6-authenticated-*.json và log tương ứng trong .local-qa/CRM-261-20261023/.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qa/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qa/slideLayouts/_rels/slideLayout1.xml.rels><?xml version='1.0' encoding='UTF-8' standalone='yes'?>
<Relationships xmlns="http://schemas.openxmlformats.org/package/2006/relationships"><Relationship Type="http://schemas.openxmlformats.org/officeDocument/2006/relationships/slideMaster" Target="/ppt/qa/slideMasters/slideMaster1.xml" Id="R5870ba8071bf44a7"/></Relationships>
</file>

<file path=ppt/qa/slideLayouts/_rels/slideLayout2.xml.rels><?xml version='1.0' encoding='UTF-8' standalone='yes'?>
<Relationships xmlns="http://schemas.openxmlformats.org/package/2006/relationships"><Relationship Type="http://schemas.openxmlformats.org/officeDocument/2006/relationships/slideMaster" Target="/ppt/qa/slideMasters/slideMaster1.xml" Id="R39ea2d395b7b401b"/></Relationships>
</file>

<file path=ppt/qa/slideLayouts/_rels/slideLayout3.xml.rels><?xml version='1.0' encoding='UTF-8' standalone='yes'?>
<Relationships xmlns="http://schemas.openxmlformats.org/package/2006/relationships"><Relationship Type="http://schemas.openxmlformats.org/officeDocument/2006/relationships/slideMaster" Target="/ppt/qa/slideMasters/slideMaster1.xml" Id="Ra1bd595094ed4dfe"/></Relationships>
</file>

<file path=ppt/qa/slideLayouts/_rels/slideLayout4.xml.rels><?xml version='1.0' encoding='UTF-8' standalone='yes'?>
<Relationships xmlns="http://schemas.openxmlformats.org/package/2006/relationships"><Relationship Type="http://schemas.openxmlformats.org/officeDocument/2006/relationships/slideMaster" Target="/ppt/qa/slideMasters/slideMaster1.xml" Id="R34b3a10adce1467d"/></Relationships>
</file>

<file path=ppt/qa/slideLayouts/_rels/slideLayout5.xml.rels><?xml version='1.0' encoding='UTF-8' standalone='yes'?>
<Relationships xmlns="http://schemas.openxmlformats.org/package/2006/relationships"><Relationship Type="http://schemas.openxmlformats.org/officeDocument/2006/relationships/slideMaster" Target="/ppt/qa/slideMasters/slideMaster1.xml" Id="R1fc01a9344e340f2"/></Relationships>
</file>

<file path=ppt/qa/slideLayouts/_rels/slideLayout6.xml.rels><?xml version='1.0' encoding='UTF-8' standalone='yes'?>
<Relationships xmlns="http://schemas.openxmlformats.org/package/2006/relationships"><Relationship Type="http://schemas.openxmlformats.org/officeDocument/2006/relationships/slideMaster" Target="/ppt/qa/slideMasters/slideMaster1.xml" Id="R7a8adc19d3a349d6"/></Relationships>
</file>

<file path=ppt/qa/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487DF4-DE12-4EDB-BEE3-3DC21E2C68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053F2E3-AEC6-4C0A-827A-239B4A7621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qa/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E5C1B5-DBD9-409E-A4EE-13484910FB9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qa/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82120D-A871-4E17-8D29-1C4626D5A6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B0C42B-C8F4-4158-A0B2-7854860A5ED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qa/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4B294B6-7E18-4E17-8698-A6F0EAE07D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3F5473-A793-4D46-BC07-B9E4A1383A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9155E23-E229-4C24-9904-39EBD0A408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qa/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8BE1A9-C54B-4D29-BD83-791FB748EE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14A3D0-2FD8-41F4-AFC4-03263C51B7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qa/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qa/slideMasters/_rels/slideMaster1.xml.rels><?xml version='1.0' encoding='UTF-8' standalone='yes'?>
<Relationships xmlns="http://schemas.openxmlformats.org/package/2006/relationships"><Relationship Type="http://schemas.openxmlformats.org/officeDocument/2006/relationships/theme" Target="/ppt/qa/slideMasters/theme/theme2.xml" Id="R98c9f9a2be5e4e04"/><Relationship Type="http://schemas.openxmlformats.org/officeDocument/2006/relationships/slideLayout" Target="/ppt/qa/slideLayouts/slideLayout1.xml" Id="R56b49856e8904e8b"/><Relationship Type="http://schemas.openxmlformats.org/officeDocument/2006/relationships/slideLayout" Target="/ppt/qa/slideLayouts/slideLayout2.xml" Id="R1ac9e220219c4c73"/><Relationship Type="http://schemas.openxmlformats.org/officeDocument/2006/relationships/slideLayout" Target="/ppt/qa/slideLayouts/slideLayout3.xml" Id="Rc3cacd591c7a45f6"/><Relationship Type="http://schemas.openxmlformats.org/officeDocument/2006/relationships/slideLayout" Target="/ppt/qa/slideLayouts/slideLayout4.xml" Id="R81892627d7724db5"/><Relationship Type="http://schemas.openxmlformats.org/officeDocument/2006/relationships/slideLayout" Target="/ppt/qa/slideLayouts/slideLayout5.xml" Id="R832b666854974ba2"/><Relationship Type="http://schemas.openxmlformats.org/officeDocument/2006/relationships/slideLayout" Target="/ppt/qa/slideLayouts/slideLayout6.xml" Id="R1c330d6bc3ab482c"/></Relationships>
</file>

<file path=ppt/qa/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b49856e8904e8b"/>
    <p:sldLayoutId xmlns:r="http://schemas.openxmlformats.org/officeDocument/2006/relationships" id="2147483650" r:id="R1ac9e220219c4c73"/>
    <p:sldLayoutId xmlns:r="http://schemas.openxmlformats.org/officeDocument/2006/relationships" id="2147483651" r:id="Rc3cacd591c7a45f6"/>
    <p:sldLayoutId xmlns:r="http://schemas.openxmlformats.org/officeDocument/2006/relationships" id="2147483652" r:id="R81892627d7724db5"/>
    <p:sldLayoutId xmlns:r="http://schemas.openxmlformats.org/officeDocument/2006/relationships" id="2147483653" r:id="R832b666854974ba2"/>
    <p:sldLayoutId xmlns:r="http://schemas.openxmlformats.org/officeDocument/2006/relationships" id="2147483654" r:id="R1c330d6bc3ab48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qa/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qa/tableStyles.xml><?xml version="1.0" encoding="utf-8"?>
<a:tblStyleLst xmlns:a="http://schemas.openxmlformats.org/drawingml/2006/main" def="{5C22544A-7EE6-4342-B048-85BDC9FD1C3A}"/>
</file>

<file path=ppt/qa/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titleStyle>
    <p:body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bodyStyle>
    <p:otherStyle>
      <a:lvl1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1pPr>
      <a:lvl2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2pPr>
      <a:lvl3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3pPr>
      <a:lvl4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4pPr>
      <a:lvl5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5pPr>
      <a:lvl6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6pPr>
      <a:lvl7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7pPr>
      <a:lvl8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8pPr>
      <a:lvl9pPr marR="0" algn="l">
        <a:lnSpc>
          <a:spcPct val="100000"/>
        </a:lnSpc>
        <a:spcBef>
          <a:spcPts val="0"/>
        </a:spcBef>
        <a:spcAft>
          <a:spcPts val="0"/>
        </a:spcAft>
        <a:buClr>
          <a:srgbClr val="000000"/>
        </a:buClr>
        <a:buFont typeface="Arial" panose="020B0604020202020204"/>
        <a:buNone/>
        <a:defRPr sz="1400" b="0" i="0" u="none" strike="noStrike" cap="none" spc="0">
          <a:solidFill>
            <a:srgbClr val="000000"/>
          </a:solidFill>
          <a:latin typeface="Arial" panose="020B0604020202020204"/>
          <a:ea typeface="Arial" panose="020B0604020202020204"/>
          <a:cs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8.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xml"/><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Type="http://schemas.openxmlformats.org/officeDocument/2006/relationships/slideLayout" Target="/ppt/qa/slideLayouts/slideLayout6.xml" Id="R279cec4233c2427c"/><Relationship Type="http://schemas.openxmlformats.org/officeDocument/2006/relationships/image" Target="/ppt/qa/media/image.png" Id="R63dce55523fe41e9"/><Relationship Type="http://schemas.openxmlformats.org/officeDocument/2006/relationships/image" Target="/ppt/qa/media/image2.png" Id="Rba3fd950539a4389"/><Relationship Type="http://schemas.openxmlformats.org/officeDocument/2006/relationships/notesSlide" Target="/ppt/qa/notesSlides/notesSlide1.xml" Id="Rfda88c43cc18476e"/></Relationships>
</file>

<file path=ppt/slides/_rels/slide39.xml.rels><?xml version='1.0' encoding='UTF-8' standalone='yes'?>
<Relationships xmlns="http://schemas.openxmlformats.org/package/2006/relationships"><Relationship Type="http://schemas.openxmlformats.org/officeDocument/2006/relationships/slideLayout" Target="/ppt/qa/slideLayouts/slideLayout6.xml" Id="R39beb861b4a74bc6"/><Relationship Type="http://schemas.openxmlformats.org/officeDocument/2006/relationships/image" Target="/ppt/qa/media/image3.png" Id="Rf5f3d8830bd04a77"/><Relationship Type="http://schemas.openxmlformats.org/officeDocument/2006/relationships/image" Target="/ppt/qa/media/image4.png" Id="Rcd1f06af41eb499c"/><Relationship Type="http://schemas.openxmlformats.org/officeDocument/2006/relationships/image" Target="/ppt/qa/media/image.jpeg" Id="R9a0cee91e37643ae"/><Relationship Type="http://schemas.openxmlformats.org/officeDocument/2006/relationships/notesSlide" Target="/ppt/qa/notesSlides/notesSlide2.xml" Id="Ra4380e3b4ba541c7"/></Relationships>
</file>

<file path=ppt/slides/_rels/slide40.xml.rels><?xml version='1.0' encoding='UTF-8' standalone='yes'?>
<Relationships xmlns="http://schemas.openxmlformats.org/package/2006/relationships"><Relationship Type="http://schemas.openxmlformats.org/officeDocument/2006/relationships/slideLayout" Target="/ppt/qa/slideLayouts/slideLayout6.xml" Id="Rf86774cbe49e4248"/><Relationship Type="http://schemas.openxmlformats.org/officeDocument/2006/relationships/image" Target="/ppt/qa/media/image5.png" Id="R38a3d6e0e1de4dc2"/><Relationship Type="http://schemas.openxmlformats.org/officeDocument/2006/relationships/image" Target="/ppt/qa/media/image6.png" Id="R302cbcf8ddda4088"/><Relationship Type="http://schemas.openxmlformats.org/officeDocument/2006/relationships/notesSlide" Target="/ppt/qa/notesSlides/notesSlide3.xml" Id="Rb0025482c71a44e8"/></Relationships>
</file>

<file path=ppt/slides/_rels/slide41.xml.rels><?xml version='1.0' encoding='UTF-8' standalone='yes'?>
<Relationships xmlns="http://schemas.openxmlformats.org/package/2006/relationships"><Relationship Type="http://schemas.openxmlformats.org/officeDocument/2006/relationships/slideLayout" Target="/ppt/qa/slideLayouts/slideLayout6.xml" Id="R3d5cca0e936b4463"/><Relationship Type="http://schemas.openxmlformats.org/officeDocument/2006/relationships/image" Target="/ppt/qa/media/image7.png" Id="R3cd82f776eab4b1e"/><Relationship Type="http://schemas.openxmlformats.org/officeDocument/2006/relationships/image" Target="/ppt/qa/media/image8.png" Id="Ra24980b3641046eb"/><Relationship Type="http://schemas.openxmlformats.org/officeDocument/2006/relationships/notesSlide" Target="/ppt/qa/notesSlides/notesSlide4.xml" Id="R42ac5e7e6d954ba3"/></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16" name="Google Shape;16;p3"/>
          <p:cNvSpPr>
            <a:spLocks noGrp="1"/>
          </p:cNvSpPr>
          <p:nvPr/>
        </p:nvSpPr>
        <p:spPr>
          <a:xfrm>
            <a:off x="809625" y="971550"/>
            <a:ext cx="9525000" cy="333375"/>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2200" b="1" i="0" u="none" strike="noStrike" cap="none">
                <a:solidFill>
                  <a:srgbClr val="F28C28"/>
                </a:solidFill>
                <a:latin typeface="Be Vietnam Pro"/>
                <a:ea typeface="Be Vietnam Pro"/>
                <a:cs typeface="Be Vietnam Pro"/>
              </a:rPr>
              <a:t>BÁO CÁO THỰC TẬP NHÓM 5</a:t>
            </a:r>
            <a:endParaRPr sz="2200" b="1" i="0" u="none" strike="noStrike" cap="none">
              <a:solidFill>
                <a:srgbClr val="F28C28"/>
              </a:solidFill>
              <a:latin typeface="Be Vietnam Pro"/>
              <a:ea typeface="Be Vietnam Pro"/>
              <a:cs typeface="Be Vietnam Pro"/>
            </a:endParaRPr>
          </a:p>
        </p:txBody>
      </p:sp>
      <p:sp>
        <p:nvSpPr>
          <p:cNvPr id="17" name="Google Shape;17;p3"/>
          <p:cNvSpPr>
            <a:spLocks noGrp="1"/>
          </p:cNvSpPr>
          <p:nvPr/>
        </p:nvSpPr>
        <p:spPr>
          <a:xfrm>
            <a:off x="809625" y="1409700"/>
            <a:ext cx="10429875" cy="62865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6F7F4"/>
              </a:buClr>
              <a:buSzPts val="4800"/>
              <a:buFont typeface="Be Vietnam Pro"/>
              <a:buNone/>
            </a:pPr>
            <a:r>
              <a:rPr sz="3600" b="1" i="0" u="none" strike="noStrike" cap="none">
                <a:solidFill>
                  <a:srgbClr val="F6F7F4"/>
                </a:solidFill>
                <a:latin typeface="Be Vietnam Pro"/>
                <a:ea typeface="Be Vietnam Pro"/>
                <a:cs typeface="Be Vietnam Pro"/>
              </a:rPr>
              <a:t>Hệ thống Quản lý Quan hệ Khách hàng</a:t>
            </a:r>
            <a:endParaRPr sz="3600" b="1" i="0" u="none" strike="noStrike" cap="none">
              <a:solidFill>
                <a:srgbClr val="F6F7F4"/>
              </a:solidFill>
              <a:latin typeface="Be Vietnam Pro"/>
              <a:ea typeface="Be Vietnam Pro"/>
              <a:cs typeface="Be Vietnam Pro"/>
            </a:endParaRPr>
          </a:p>
        </p:txBody>
      </p:sp>
      <p:sp>
        <p:nvSpPr>
          <p:cNvPr id="18" name="Google Shape;18;p3"/>
          <p:cNvSpPr>
            <a:spLocks noGrp="1"/>
          </p:cNvSpPr>
          <p:nvPr/>
        </p:nvSpPr>
        <p:spPr>
          <a:xfrm>
            <a:off x="809625" y="2114550"/>
            <a:ext cx="10001250" cy="36195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800"/>
              <a:buFont typeface="Be Vietnam Pro"/>
              <a:buNone/>
            </a:pPr>
            <a:r>
              <a:rPr sz="2100" b="0" i="0" u="none" strike="noStrike" cap="none">
                <a:solidFill>
                  <a:srgbClr val="BFD0DE"/>
                </a:solidFill>
                <a:latin typeface="Be Vietnam Pro"/>
                <a:ea typeface="Be Vietnam Pro"/>
                <a:cs typeface="Be Vietnam Pro"/>
              </a:rPr>
              <a:t>Nhóm 5 · Kỳ thực tập 03/09/2026 – 26/10/2026</a:t>
            </a:r>
            <a:endParaRPr sz="2100" b="0" i="0" u="none" strike="noStrike" cap="none">
              <a:solidFill>
                <a:srgbClr val="BFD0DE"/>
              </a:solidFill>
              <a:latin typeface="Be Vietnam Pro"/>
              <a:ea typeface="Be Vietnam Pro"/>
              <a:cs typeface="Be Vietnam Pro"/>
            </a:endParaRPr>
          </a:p>
        </p:txBody>
      </p:sp>
      <p:sp>
        <p:nvSpPr>
          <p:cNvPr id="20" name="Google Shape;20;p3"/>
          <p:cNvSpPr>
            <a:spLocks noGrp="1"/>
          </p:cNvSpPr>
          <p:nvPr/>
        </p:nvSpPr>
        <p:spPr>
          <a:xfrm>
            <a:off x="809625" y="4077335"/>
            <a:ext cx="4857750" cy="30480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1700" b="1" i="0" u="none" strike="noStrike" cap="none">
                <a:solidFill>
                  <a:srgbClr val="F28C28"/>
                </a:solidFill>
                <a:latin typeface="Be Vietnam Pro"/>
                <a:ea typeface="Be Vietnam Pro"/>
                <a:cs typeface="Be Vietnam Pro"/>
              </a:rPr>
              <a:t>THÀNH VIÊN</a:t>
            </a:r>
            <a:endParaRPr sz="1700" b="1" i="0" u="none" strike="noStrike" cap="none">
              <a:solidFill>
                <a:srgbClr val="F28C28"/>
              </a:solidFill>
              <a:latin typeface="Be Vietnam Pro"/>
              <a:ea typeface="Be Vietnam Pro"/>
              <a:cs typeface="Be Vietnam Pro"/>
            </a:endParaRPr>
          </a:p>
        </p:txBody>
      </p:sp>
      <p:sp>
        <p:nvSpPr>
          <p:cNvPr id="21" name="Google Shape;21;p3"/>
          <p:cNvSpPr>
            <a:spLocks noGrp="1"/>
          </p:cNvSpPr>
          <p:nvPr/>
        </p:nvSpPr>
        <p:spPr>
          <a:xfrm>
            <a:off x="479425" y="4509135"/>
            <a:ext cx="2607945" cy="1400175"/>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Nguyễn Thị Thu Thảo</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Nguyễn Văn Thắng</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Hoàng Văn Thắng</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Nguyễn Đình Toàn</a:t>
            </a:r>
            <a:endParaRPr sz="2000" b="0" i="0" u="none" strike="noStrike" cap="none">
              <a:solidFill>
                <a:srgbClr val="F6F7F4"/>
              </a:solidFill>
              <a:latin typeface="Be Vietnam Pro"/>
              <a:ea typeface="Be Vietnam Pro"/>
              <a:cs typeface="Be Vietnam Pro"/>
            </a:endParaRPr>
          </a:p>
        </p:txBody>
      </p:sp>
      <p:sp>
        <p:nvSpPr>
          <p:cNvPr id="22" name="Google Shape;22;p3"/>
          <p:cNvSpPr>
            <a:spLocks noGrp="1"/>
          </p:cNvSpPr>
          <p:nvPr/>
        </p:nvSpPr>
        <p:spPr>
          <a:xfrm>
            <a:off x="6153150" y="4149090"/>
            <a:ext cx="2809875" cy="30480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1700" b="1" i="0" u="none" strike="noStrike" cap="none">
                <a:solidFill>
                  <a:srgbClr val="F28C28"/>
                </a:solidFill>
                <a:latin typeface="Be Vietnam Pro"/>
                <a:ea typeface="Be Vietnam Pro"/>
                <a:cs typeface="Be Vietnam Pro"/>
              </a:rPr>
              <a:t>MENTOR HƯỚNG DẪN</a:t>
            </a:r>
            <a:endParaRPr sz="1700" b="1" i="0" u="none" strike="noStrike" cap="none">
              <a:solidFill>
                <a:srgbClr val="F28C28"/>
              </a:solidFill>
              <a:latin typeface="Be Vietnam Pro"/>
              <a:ea typeface="Be Vietnam Pro"/>
              <a:cs typeface="Be Vietnam Pro"/>
            </a:endParaRPr>
          </a:p>
        </p:txBody>
      </p:sp>
      <p:sp>
        <p:nvSpPr>
          <p:cNvPr id="23" name="Google Shape;23;p3"/>
          <p:cNvSpPr>
            <a:spLocks noGrp="1"/>
          </p:cNvSpPr>
          <p:nvPr/>
        </p:nvSpPr>
        <p:spPr>
          <a:xfrm>
            <a:off x="6181725" y="4497705"/>
            <a:ext cx="2809875" cy="361950"/>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1900" b="0" i="0" u="none" strike="noStrike" cap="none">
                <a:solidFill>
                  <a:srgbClr val="F6F7F4"/>
                </a:solidFill>
                <a:latin typeface="Be Vietnam Pro"/>
                <a:ea typeface="Be Vietnam Pro"/>
                <a:cs typeface="Be Vietnam Pro"/>
              </a:rPr>
              <a:t>Dư Thanh Hoàng</a:t>
            </a:r>
            <a:endParaRPr sz="1900" b="0" i="0" u="none" strike="noStrike" cap="none">
              <a:solidFill>
                <a:srgbClr val="F6F7F4"/>
              </a:solidFill>
              <a:latin typeface="Be Vietnam Pro"/>
              <a:ea typeface="Be Vietnam Pro"/>
              <a:cs typeface="Be Vietnam Pro"/>
            </a:endParaRPr>
          </a:p>
        </p:txBody>
      </p:sp>
      <p:sp>
        <p:nvSpPr>
          <p:cNvPr id="24" name="Google Shape;24;p3"/>
          <p:cNvSpPr>
            <a:spLocks noGrp="1"/>
          </p:cNvSpPr>
          <p:nvPr/>
        </p:nvSpPr>
        <p:spPr>
          <a:xfrm>
            <a:off x="6153150" y="5082540"/>
            <a:ext cx="2809875" cy="28575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1700" b="1" i="0" u="none" strike="noStrike" cap="none">
                <a:solidFill>
                  <a:srgbClr val="F28C28"/>
                </a:solidFill>
                <a:latin typeface="Be Vietnam Pro"/>
                <a:ea typeface="Be Vietnam Pro"/>
                <a:cs typeface="Be Vietnam Pro"/>
              </a:rPr>
              <a:t>ĐƠN VỊ</a:t>
            </a:r>
            <a:endParaRPr sz="1700" b="1" i="0" u="none" strike="noStrike" cap="none">
              <a:solidFill>
                <a:srgbClr val="F28C28"/>
              </a:solidFill>
              <a:latin typeface="Be Vietnam Pro"/>
              <a:ea typeface="Be Vietnam Pro"/>
              <a:cs typeface="Be Vietnam Pro"/>
            </a:endParaRPr>
          </a:p>
        </p:txBody>
      </p:sp>
      <p:sp>
        <p:nvSpPr>
          <p:cNvPr id="25" name="Google Shape;25;p3"/>
          <p:cNvSpPr>
            <a:spLocks noGrp="1"/>
          </p:cNvSpPr>
          <p:nvPr/>
        </p:nvSpPr>
        <p:spPr>
          <a:xfrm>
            <a:off x="6109335" y="5445125"/>
            <a:ext cx="2809875" cy="381000"/>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1900" b="0" i="0" u="none" strike="noStrike" cap="none">
                <a:solidFill>
                  <a:srgbClr val="F6F7F4"/>
                </a:solidFill>
                <a:latin typeface="Be Vietnam Pro"/>
                <a:ea typeface="Be Vietnam Pro"/>
                <a:cs typeface="Be Vietnam Pro"/>
              </a:rPr>
              <a:t>CodeGym Việt Nam</a:t>
            </a:r>
            <a:endParaRPr sz="1900" b="0" i="0" u="none" strike="noStrike" cap="none">
              <a:solidFill>
                <a:srgbClr val="F6F7F4"/>
              </a:solidFill>
              <a:latin typeface="Be Vietnam Pro"/>
              <a:ea typeface="Be Vietnam Pro"/>
              <a:cs typeface="Be Vietnam Pro"/>
            </a:endParaRPr>
          </a:p>
        </p:txBody>
      </p:sp>
      <p:sp>
        <p:nvSpPr>
          <p:cNvPr id="26" name="Google Shape;26;p3"/>
          <p:cNvSpPr>
            <a:spLocks noGrp="1"/>
          </p:cNvSpPr>
          <p:nvPr/>
        </p:nvSpPr>
        <p:spPr>
          <a:xfrm>
            <a:off x="9191625" y="4144645"/>
            <a:ext cx="2476500" cy="30480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1700" b="1" i="0" u="none" strike="noStrike" cap="none">
                <a:solidFill>
                  <a:srgbClr val="F28C28"/>
                </a:solidFill>
                <a:latin typeface="Be Vietnam Pro"/>
                <a:ea typeface="Be Vietnam Pro"/>
                <a:cs typeface="Be Vietnam Pro"/>
              </a:rPr>
              <a:t>TRƯỜNG · NGÀNH</a:t>
            </a:r>
            <a:endParaRPr sz="1700" b="1" i="0" u="none" strike="noStrike" cap="none">
              <a:solidFill>
                <a:srgbClr val="F28C28"/>
              </a:solidFill>
              <a:latin typeface="Be Vietnam Pro"/>
              <a:ea typeface="Be Vietnam Pro"/>
              <a:cs typeface="Be Vietnam Pro"/>
            </a:endParaRPr>
          </a:p>
        </p:txBody>
      </p:sp>
      <p:sp>
        <p:nvSpPr>
          <p:cNvPr id="27" name="Google Shape;27;p3"/>
          <p:cNvSpPr>
            <a:spLocks noGrp="1"/>
          </p:cNvSpPr>
          <p:nvPr/>
        </p:nvSpPr>
        <p:spPr>
          <a:xfrm>
            <a:off x="9191625" y="4509135"/>
            <a:ext cx="2889885" cy="801370"/>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1700" b="0" i="0" u="none" strike="noStrike" cap="none">
                <a:solidFill>
                  <a:srgbClr val="F6F7F4"/>
                </a:solidFill>
                <a:latin typeface="Be Vietnam Pro"/>
                <a:ea typeface="Be Vietnam Pro"/>
                <a:cs typeface="Be Vietnam Pro"/>
              </a:rPr>
              <a:t>ĐH Công nghệ Thông tin</a:t>
            </a:r>
            <a:endParaRPr sz="17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1700" b="0" i="0" u="none" strike="noStrike" cap="none">
                <a:solidFill>
                  <a:srgbClr val="F6F7F4"/>
                </a:solidFill>
                <a:latin typeface="Be Vietnam Pro"/>
                <a:ea typeface="Be Vietnam Pro"/>
                <a:cs typeface="Be Vietnam Pro"/>
              </a:rPr>
              <a:t>và Truyền thông</a:t>
            </a:r>
            <a:endParaRPr sz="1700" b="0" i="0" u="none" strike="noStrike" cap="none">
              <a:solidFill>
                <a:srgbClr val="F6F7F4"/>
              </a:solidFill>
              <a:latin typeface="Be Vietnam Pro"/>
              <a:ea typeface="Be Vietnam Pro"/>
              <a:cs typeface="Be Vietnam Pro"/>
            </a:endParaRPr>
          </a:p>
        </p:txBody>
      </p:sp>
      <p:sp>
        <p:nvSpPr>
          <p:cNvPr id="28" name="Google Shape;28;p3"/>
          <p:cNvSpPr>
            <a:spLocks noGrp="1"/>
          </p:cNvSpPr>
          <p:nvPr/>
        </p:nvSpPr>
        <p:spPr>
          <a:xfrm>
            <a:off x="9191625" y="5404485"/>
            <a:ext cx="2476500" cy="28575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200"/>
              <a:buFont typeface="Be Vietnam Pro"/>
              <a:buNone/>
            </a:pPr>
            <a:r>
              <a:rPr sz="1700" b="1" i="0" u="none" strike="noStrike" cap="none">
                <a:solidFill>
                  <a:srgbClr val="F28C28"/>
                </a:solidFill>
                <a:latin typeface="Be Vietnam Pro"/>
                <a:ea typeface="Be Vietnam Pro"/>
                <a:cs typeface="Be Vietnam Pro"/>
              </a:rPr>
              <a:t>NGÀY BÁO CÁO</a:t>
            </a:r>
            <a:endParaRPr sz="1700" b="1" i="0" u="none" strike="noStrike" cap="none">
              <a:solidFill>
                <a:srgbClr val="F28C28"/>
              </a:solidFill>
              <a:latin typeface="Be Vietnam Pro"/>
              <a:ea typeface="Be Vietnam Pro"/>
              <a:cs typeface="Be Vietnam Pro"/>
            </a:endParaRPr>
          </a:p>
        </p:txBody>
      </p:sp>
      <p:sp>
        <p:nvSpPr>
          <p:cNvPr id="29" name="Google Shape;29;p3"/>
          <p:cNvSpPr>
            <a:spLocks noGrp="1"/>
          </p:cNvSpPr>
          <p:nvPr/>
        </p:nvSpPr>
        <p:spPr>
          <a:xfrm>
            <a:off x="9191625" y="5733415"/>
            <a:ext cx="2476500" cy="361950"/>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1900" b="0" i="0" u="none" strike="noStrike" cap="none">
                <a:solidFill>
                  <a:srgbClr val="F6F7F4"/>
                </a:solidFill>
                <a:latin typeface="Be Vietnam Pro"/>
                <a:ea typeface="Be Vietnam Pro"/>
                <a:cs typeface="Be Vietnam Pro"/>
              </a:rPr>
              <a:t>21/10/2026</a:t>
            </a:r>
            <a:endParaRPr sz="1900" b="0" i="0" u="none" strike="noStrike" cap="none">
              <a:solidFill>
                <a:srgbClr val="F6F7F4"/>
              </a:solidFill>
              <a:latin typeface="Be Vietnam Pro"/>
              <a:ea typeface="Be Vietnam Pro"/>
              <a:cs typeface="Be Vietnam Pro"/>
            </a:endParaRPr>
          </a:p>
        </p:txBody>
      </p:sp>
      <p:pic>
        <p:nvPicPr>
          <p:cNvPr id="30" name="Google Shape;30;p3"/>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31" name="Google Shape;31;p3"/>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sp>
        <p:nvSpPr>
          <p:cNvPr id="9001" name="Thành viên cột 2"/>
          <p:cNvSpPr>
            <a:spLocks noGrp="1"/>
          </p:cNvSpPr>
          <p:nvPr/>
        </p:nvSpPr>
        <p:spPr>
          <a:xfrm>
            <a:off x="3359785" y="4497705"/>
            <a:ext cx="2476500" cy="1400175"/>
          </a:xfrm>
          <a:prstGeom prst="rect">
            <a:avLst/>
          </a:prstGeom>
          <a:noFill/>
          <a:ln>
            <a:noFill/>
          </a:ln>
        </p:spPr>
        <p:txBody>
          <a:bodyPr spcFirstLastPara="1" wrap="square" lIns="0" tIns="0" rIns="0" bIns="0" anchor="t">
            <a:noAutofit/>
          </a:bodyPr>
          <a:lstStyle/>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Nguyễn Việt Tiến</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Nông Quang Tiệp</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Giàng Văn Thắng</a:t>
            </a:r>
            <a:endParaRPr sz="2000" b="0" i="0" u="none" strike="noStrike" cap="none">
              <a:solidFill>
                <a:srgbClr val="F6F7F4"/>
              </a:solidFill>
              <a:latin typeface="Be Vietnam Pro"/>
              <a:ea typeface="Be Vietnam Pro"/>
              <a:cs typeface="Be Vietnam Pro"/>
            </a:endParaRPr>
          </a:p>
          <a:p>
            <a:pPr marL="0" marR="0" lvl="0" indent="0" algn="l">
              <a:lnSpc>
                <a:spcPct val="150000"/>
              </a:lnSpc>
              <a:spcBef>
                <a:spcPts val="0"/>
              </a:spcBef>
              <a:spcAft>
                <a:spcPts val="0"/>
              </a:spcAft>
              <a:buClr>
                <a:srgbClr val="F6F7F4"/>
              </a:buClr>
              <a:buSzPts val="1400"/>
              <a:buFont typeface="Be Vietnam Pro"/>
              <a:buNone/>
            </a:pPr>
            <a:r>
              <a:rPr sz="2000" b="0" i="0" u="none" strike="noStrike" cap="none">
                <a:solidFill>
                  <a:srgbClr val="F6F7F4"/>
                </a:solidFill>
                <a:latin typeface="Be Vietnam Pro"/>
                <a:ea typeface="Be Vietnam Pro"/>
                <a:cs typeface="Be Vietnam Pro"/>
              </a:rPr>
              <a:t>Hoàng Trọng Thái</a:t>
            </a:r>
            <a:endParaRPr sz="2000" b="0" i="0" u="none" strike="noStrike" cap="none">
              <a:solidFill>
                <a:srgbClr val="F6F7F4"/>
              </a:solidFill>
              <a:latin typeface="Be Vietnam Pro"/>
              <a:ea typeface="Be Vietnam Pro"/>
              <a:cs typeface="Be Vietnam Pro"/>
            </a:endParaRPr>
          </a:p>
        </p:txBody>
      </p:sp>
      <p:sp>
        <p:nvSpPr>
          <p:cNvPr id="9010" name="Design accent 9010"/>
          <p:cNvSpPr>
            <a:spLocks noGrp="1"/>
          </p:cNvSpPr>
          <p:nvPr/>
        </p:nvSpPr>
        <p:spPr>
          <a:xfrm>
            <a:off x="911225" y="3933190"/>
            <a:ext cx="552450" cy="28575"/>
          </a:xfrm>
          <a:prstGeom prst="rect">
            <a:avLst/>
          </a:prstGeom>
          <a:solidFill>
            <a:srgbClr val="FF8A1F"/>
          </a:solidFill>
          <a:ln>
            <a:noFill/>
          </a:ln>
        </p:spPr>
      </p:sp>
      <p:sp>
        <p:nvSpPr>
          <p:cNvPr id="9011" name="Design accent 9011"/>
          <p:cNvSpPr>
            <a:spLocks noGrp="1"/>
          </p:cNvSpPr>
          <p:nvPr/>
        </p:nvSpPr>
        <p:spPr>
          <a:xfrm>
            <a:off x="6240145" y="3925570"/>
            <a:ext cx="552450" cy="28575"/>
          </a:xfrm>
          <a:prstGeom prst="rect">
            <a:avLst/>
          </a:prstGeom>
          <a:solidFill>
            <a:srgbClr val="FF8A1F"/>
          </a:solidFill>
          <a:ln>
            <a:noFill/>
          </a:ln>
        </p:spPr>
        <p:txBody>
          <a:bodyPr/>
          <a:p>
            <a:endParaRPr lang="en-US"/>
          </a:p>
        </p:txBody>
      </p:sp>
      <p:sp>
        <p:nvSpPr>
          <p:cNvPr id="9012" name="Design accent 9012"/>
          <p:cNvSpPr>
            <a:spLocks noGrp="1"/>
          </p:cNvSpPr>
          <p:nvPr/>
        </p:nvSpPr>
        <p:spPr>
          <a:xfrm>
            <a:off x="9192260" y="3926205"/>
            <a:ext cx="552450" cy="28575"/>
          </a:xfrm>
          <a:prstGeom prst="rect">
            <a:avLst/>
          </a:prstGeom>
          <a:solidFill>
            <a:srgbClr val="FF8A1F"/>
          </a:solidFill>
          <a:ln>
            <a:noFill/>
          </a:ln>
        </p:spPr>
      </p:sp>
      <p:sp>
        <p:nvSpPr>
          <p:cNvPr id="9013" name="Design accent 9013"/>
          <p:cNvSpPr>
            <a:spLocks noGrp="1"/>
          </p:cNvSpPr>
          <p:nvPr/>
        </p:nvSpPr>
        <p:spPr>
          <a:xfrm flipH="1">
            <a:off x="5832475" y="4256405"/>
            <a:ext cx="76200" cy="2132965"/>
          </a:xfrm>
          <a:prstGeom prst="rect">
            <a:avLst/>
          </a:prstGeom>
          <a:solidFill>
            <a:srgbClr val="294B70"/>
          </a:solidFill>
          <a:ln>
            <a:noFill/>
          </a:ln>
        </p:spPr>
      </p:sp>
      <p:sp>
        <p:nvSpPr>
          <p:cNvPr id="9014" name="Design accent 9014"/>
          <p:cNvSpPr>
            <a:spLocks noGrp="1"/>
          </p:cNvSpPr>
          <p:nvPr/>
        </p:nvSpPr>
        <p:spPr>
          <a:xfrm>
            <a:off x="8915400" y="4255770"/>
            <a:ext cx="76200" cy="2115820"/>
          </a:xfrm>
          <a:prstGeom prst="rect">
            <a:avLst/>
          </a:prstGeom>
          <a:solidFill>
            <a:srgbClr val="294B70"/>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7" name="Google Shape;37;p4"/>
          <p:cNvSpPr>
            <a:spLocks noGrp="1"/>
          </p:cNvSpPr>
          <p:nvPr/>
        </p:nvSpPr>
        <p:spPr>
          <a:xfrm>
            <a:off x="812800" y="238001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400"/>
              <a:buFont typeface="Be Vietnam Pro"/>
              <a:buNone/>
            </a:pPr>
            <a:r>
              <a:rPr sz="1400" b="1" i="0" u="none" strike="noStrike" cap="none">
                <a:solidFill>
                  <a:srgbClr val="F28C28"/>
                </a:solidFill>
                <a:latin typeface="Be Vietnam Pro"/>
                <a:ea typeface="Be Vietnam Pro"/>
                <a:cs typeface="Be Vietnam Pro"/>
              </a:rPr>
              <a:t>PHẦN A</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8" name="Google Shape;38;p4"/>
          <p:cNvSpPr>
            <a:spLocks noGrp="1"/>
          </p:cNvSpPr>
          <p:nvPr/>
        </p:nvSpPr>
        <p:spPr>
          <a:xfrm>
            <a:off x="812800" y="2832100"/>
            <a:ext cx="10883392" cy="69592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6F7F4"/>
              </a:buClr>
              <a:buSzPts val="4800"/>
              <a:buFont typeface="Be Vietnam Pro"/>
              <a:buNone/>
            </a:pPr>
            <a:r>
              <a:rPr sz="4800" b="1" i="0" u="none" strike="noStrike" cap="none">
                <a:solidFill>
                  <a:srgbClr val="F6F7F4"/>
                </a:solidFill>
                <a:latin typeface="Be Vietnam Pro"/>
                <a:ea typeface="Be Vietnam Pro"/>
                <a:cs typeface="Be Vietnam Pro"/>
              </a:rPr>
              <a:t>Kết quả nhóm</a:t>
            </a:r>
            <a:endParaRPr sz="4800" b="0" i="0" u="none" strike="noStrike" cap="none">
              <a:solidFill>
                <a:schemeClr val="dk1"/>
              </a:solidFill>
              <a:latin typeface="Calibri" panose="020F0502020204030204"/>
              <a:ea typeface="Calibri" panose="020F0502020204030204"/>
              <a:cs typeface="Calibri" panose="020F0502020204030204"/>
            </a:endParaRPr>
          </a:p>
        </p:txBody>
      </p:sp>
      <p:sp>
        <p:nvSpPr>
          <p:cNvPr id="39" name="Google Shape;39;p4"/>
          <p:cNvSpPr>
            <a:spLocks noGrp="1"/>
          </p:cNvSpPr>
          <p:nvPr/>
        </p:nvSpPr>
        <p:spPr>
          <a:xfrm>
            <a:off x="812800" y="3705820"/>
            <a:ext cx="10883392" cy="34543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800"/>
              <a:buFont typeface="Be Vietnam Pro"/>
              <a:buNone/>
            </a:pPr>
            <a:r>
              <a:rPr sz="1800" b="0" i="0" u="none" strike="noStrike" cap="none">
                <a:solidFill>
                  <a:srgbClr val="BFD0DE"/>
                </a:solidFill>
                <a:latin typeface="Be Vietnam Pro"/>
                <a:ea typeface="Be Vietnam Pro"/>
                <a:cs typeface="Be Vietnam Pro"/>
              </a:rPr>
              <a:t>Dự án · Quy trình · Minh chứng Jira &amp; Git · Sản phẩm · Tỉ lệ đóng góp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 name="Google Shape;40;p4"/>
          <p:cNvSpPr>
            <a:spLocks noGrp="1"/>
          </p:cNvSpPr>
          <p:nvPr/>
        </p:nvSpPr>
        <p:spPr>
          <a:xfrm>
            <a:off x="812800" y="422905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400"/>
              <a:buFont typeface="Be Vietnam Pro"/>
              <a:buNone/>
            </a:pPr>
            <a:r>
              <a:rPr sz="1400" b="0" i="0" u="none" strike="noStrike" cap="none">
                <a:solidFill>
                  <a:srgbClr val="BFD0DE"/>
                </a:solidFill>
                <a:latin typeface="Be Vietnam Pro"/>
                <a:ea typeface="Be Vietnam Pro"/>
                <a:cs typeface="Be Vietnam Pro"/>
              </a:rPr>
              <a:t>Nguyễn Thị Thu Thảo · Khoảng 10 phút</a:t>
            </a:r>
            <a:endParaRPr sz="1400" b="0" i="0" u="none" strike="noStrike" cap="none">
              <a:solidFill>
                <a:schemeClr val="dk1"/>
              </a:solidFill>
              <a:latin typeface="Calibri" panose="020F0502020204030204"/>
              <a:ea typeface="Calibri" panose="020F0502020204030204"/>
              <a:cs typeface="Calibri" panose="020F0502020204030204"/>
            </a:endParaRPr>
          </a:p>
        </p:txBody>
      </p:sp>
      <p:pic>
        <p:nvPicPr>
          <p:cNvPr id="41" name="Google Shape;41;p4"/>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2" name="Google Shape;42;p4"/>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sp>
        <p:nvSpPr>
          <p:cNvPr id="9102" name="Design accent 9102"/>
          <p:cNvSpPr>
            <a:spLocks noGrp="1"/>
          </p:cNvSpPr>
          <p:nvPr/>
        </p:nvSpPr>
        <p:spPr>
          <a:xfrm>
            <a:off x="809625" y="2895600"/>
            <a:ext cx="590550" cy="28575"/>
          </a:xfrm>
          <a:prstGeom prst="rect">
            <a:avLst/>
          </a:prstGeom>
          <a:solidFill>
            <a:srgbClr val="FF8A1F"/>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48" name="Google Shape;48;p5"/>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01 — TỔNG QUAN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9" name="Google Shape;49;p5"/>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Tổng quan dự án</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50" name="Google Shape;50;p5"/>
          <p:cNvSpPr>
            <a:spLocks noGrp="1"/>
          </p:cNvSpPr>
          <p:nvPr/>
        </p:nvSpPr>
        <p:spPr>
          <a:xfrm>
            <a:off x="815975" y="1806525"/>
            <a:ext cx="3414167"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51" name="Google Shape;51;p5"/>
          <p:cNvSpPr>
            <a:spLocks noGrp="1"/>
          </p:cNvSpPr>
          <p:nvPr/>
        </p:nvSpPr>
        <p:spPr>
          <a:xfrm>
            <a:off x="1022350" y="2012900"/>
            <a:ext cx="309145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Bài toán / ý tưởng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2" name="Google Shape;52;p5"/>
          <p:cNvSpPr>
            <a:spLocks noGrp="1"/>
          </p:cNvSpPr>
          <p:nvPr/>
        </p:nvSpPr>
        <p:spPr>
          <a:xfrm>
            <a:off x="1022350" y="2363391"/>
            <a:ext cx="3091459" cy="77207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400" b="0" i="0" u="none" strike="noStrike" cap="none">
                <a:solidFill>
                  <a:srgbClr val="3F4A57"/>
                </a:solidFill>
                <a:latin typeface="Be Vietnam Pro"/>
                <a:ea typeface="Be Vietnam Pro"/>
                <a:cs typeface="Be Vietnam Pro"/>
              </a:rPr>
              <a:t>Doanh nghiệp quản lý thông tin khách hàng rời rạc, khó theo dõi cơ hội và lịch sử chăm sóc.</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3" name="Google Shape;53;p5"/>
          <p:cNvSpPr>
            <a:spLocks noGrp="1"/>
          </p:cNvSpPr>
          <p:nvPr/>
        </p:nvSpPr>
        <p:spPr>
          <a:xfrm>
            <a:off x="4388892" y="1806525"/>
            <a:ext cx="3414216"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54" name="Google Shape;54;p5"/>
          <p:cNvSpPr>
            <a:spLocks noGrp="1"/>
          </p:cNvSpPr>
          <p:nvPr/>
        </p:nvSpPr>
        <p:spPr>
          <a:xfrm>
            <a:off x="4595267" y="2012900"/>
            <a:ext cx="3091510"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Người dùng mục tiêu</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5" name="Google Shape;55;p5"/>
          <p:cNvSpPr>
            <a:spLocks noGrp="1"/>
          </p:cNvSpPr>
          <p:nvPr/>
        </p:nvSpPr>
        <p:spPr>
          <a:xfrm>
            <a:off x="4595267" y="2363391"/>
            <a:ext cx="3091510" cy="52318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300" b="0" i="0" u="none" strike="noStrike" cap="none">
                <a:solidFill>
                  <a:srgbClr val="3F4A57"/>
                </a:solidFill>
                <a:latin typeface="Be Vietnam Pro"/>
                <a:ea typeface="Be Vietnam Pro"/>
                <a:cs typeface="Be Vietnam Pro"/>
              </a:rPr>
              <a:t>Kinh doanh, Marketing, CSKH, trưởng nhóm, kế toán và quản trị viên.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6" name="Google Shape;56;p5"/>
          <p:cNvSpPr>
            <a:spLocks noGrp="1"/>
          </p:cNvSpPr>
          <p:nvPr/>
        </p:nvSpPr>
        <p:spPr>
          <a:xfrm>
            <a:off x="7961858" y="1806525"/>
            <a:ext cx="3414167" cy="2922389"/>
          </a:xfrm>
          <a:prstGeom prst="roundRect">
            <a:avLst>
              <a:gd name="adj" fmla="val 336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57" name="Google Shape;57;p5"/>
          <p:cNvSpPr>
            <a:spLocks noGrp="1"/>
          </p:cNvSpPr>
          <p:nvPr/>
        </p:nvSpPr>
        <p:spPr>
          <a:xfrm>
            <a:off x="8168233" y="2012900"/>
            <a:ext cx="309145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Mục tiêu đầu kỳ</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8" name="Google Shape;58;p5"/>
          <p:cNvSpPr>
            <a:spLocks noGrp="1"/>
          </p:cNvSpPr>
          <p:nvPr/>
        </p:nvSpPr>
        <p:spPr>
          <a:xfrm>
            <a:off x="8168233" y="2363391"/>
            <a:ext cx="3091459" cy="77207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Tập trung dữ liệu khách hàng</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Quản lý Lead và cơ hội</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Hỗ trợ quy trình và báo cáo</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9" name="Google Shape;59;p5"/>
          <p:cNvSpPr>
            <a:spLocks noGrp="1"/>
          </p:cNvSpPr>
          <p:nvPr/>
        </p:nvSpPr>
        <p:spPr>
          <a:xfrm>
            <a:off x="812800" y="4986089"/>
            <a:ext cx="2527300" cy="85591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60" name="Google Shape;60;p5"/>
          <p:cNvCxnSpPr/>
          <p:nvPr/>
        </p:nvCxnSpPr>
        <p:spPr>
          <a:xfrm>
            <a:off x="812800" y="5005139"/>
            <a:ext cx="2527300" cy="0"/>
          </a:xfrm>
          <a:prstGeom prst="straightConnector1">
            <a:avLst/>
          </a:prstGeom>
          <a:ln w="38100" cap="flat">
            <a:solidFill>
              <a:srgbClr val="F28C28"/>
            </a:solidFill>
            <a:prstDash val="solid"/>
            <a:round/>
            <a:headEnd type="none" w="sm" len="sm"/>
            <a:tailEnd type="none" w="sm" len="sm"/>
          </a:ln>
        </p:spPr>
      </p:cxnSp>
      <p:sp>
        <p:nvSpPr>
          <p:cNvPr id="61" name="Google Shape;61;p5"/>
          <p:cNvSpPr>
            <a:spLocks noGrp="1"/>
          </p:cNvSpPr>
          <p:nvPr/>
        </p:nvSpPr>
        <p:spPr>
          <a:xfrm>
            <a:off x="990600" y="5176589"/>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Loại sản phẩm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62" name="Google Shape;62;p5"/>
          <p:cNvSpPr>
            <a:spLocks noGrp="1"/>
          </p:cNvSpPr>
          <p:nvPr/>
        </p:nvSpPr>
        <p:spPr>
          <a:xfrm>
            <a:off x="990600" y="5440710"/>
            <a:ext cx="223685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1" i="0" u="none" strike="noStrike" cap="none">
                <a:solidFill>
                  <a:srgbClr val="12263A"/>
                </a:solidFill>
                <a:latin typeface="Be Vietnam Pro"/>
                <a:ea typeface="Be Vietnam Pro"/>
                <a:cs typeface="Be Vietnam Pro"/>
              </a:rPr>
              <a:t>Ứng dụng web CRM</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63" name="Google Shape;63;p5"/>
          <p:cNvSpPr>
            <a:spLocks noGrp="1"/>
          </p:cNvSpPr>
          <p:nvPr/>
        </p:nvSpPr>
        <p:spPr>
          <a:xfrm>
            <a:off x="3492500" y="4986089"/>
            <a:ext cx="2527300" cy="85591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64" name="Google Shape;64;p5"/>
          <p:cNvCxnSpPr/>
          <p:nvPr/>
        </p:nvCxnSpPr>
        <p:spPr>
          <a:xfrm>
            <a:off x="3492500" y="5005139"/>
            <a:ext cx="2527300" cy="0"/>
          </a:xfrm>
          <a:prstGeom prst="straightConnector1">
            <a:avLst/>
          </a:prstGeom>
          <a:ln w="38100" cap="flat">
            <a:solidFill>
              <a:srgbClr val="F28C28"/>
            </a:solidFill>
            <a:prstDash val="solid"/>
            <a:round/>
            <a:headEnd type="none" w="sm" len="sm"/>
            <a:tailEnd type="none" w="sm" len="sm"/>
          </a:ln>
        </p:spPr>
      </p:cxnSp>
      <p:sp>
        <p:nvSpPr>
          <p:cNvPr id="65" name="Google Shape;65;p5"/>
          <p:cNvSpPr>
            <a:spLocks noGrp="1"/>
          </p:cNvSpPr>
          <p:nvPr/>
        </p:nvSpPr>
        <p:spPr>
          <a:xfrm>
            <a:off x="3670300" y="5176589"/>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Nền tảng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66" name="Google Shape;66;p5"/>
          <p:cNvSpPr>
            <a:spLocks noGrp="1"/>
          </p:cNvSpPr>
          <p:nvPr/>
        </p:nvSpPr>
        <p:spPr>
          <a:xfrm>
            <a:off x="3670300" y="5440710"/>
            <a:ext cx="223685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1" i="0" u="none" strike="noStrike" cap="none">
                <a:solidFill>
                  <a:srgbClr val="12263A"/>
                </a:solidFill>
                <a:latin typeface="Be Vietnam Pro"/>
                <a:ea typeface="Be Vietnam Pro"/>
                <a:cs typeface="Be Vietnam Pro"/>
              </a:rPr>
              <a:t>Web</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67" name="Google Shape;67;p5"/>
          <p:cNvSpPr>
            <a:spLocks noGrp="1"/>
          </p:cNvSpPr>
          <p:nvPr/>
        </p:nvSpPr>
        <p:spPr>
          <a:xfrm>
            <a:off x="6172200" y="4986089"/>
            <a:ext cx="2527300" cy="85591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68" name="Google Shape;68;p5"/>
          <p:cNvCxnSpPr/>
          <p:nvPr/>
        </p:nvCxnSpPr>
        <p:spPr>
          <a:xfrm>
            <a:off x="6172200" y="5005139"/>
            <a:ext cx="2527300" cy="0"/>
          </a:xfrm>
          <a:prstGeom prst="straightConnector1">
            <a:avLst/>
          </a:prstGeom>
          <a:ln w="38100" cap="flat">
            <a:solidFill>
              <a:srgbClr val="F28C28"/>
            </a:solidFill>
            <a:prstDash val="solid"/>
            <a:round/>
            <a:headEnd type="none" w="sm" len="sm"/>
            <a:tailEnd type="none" w="sm" len="sm"/>
          </a:ln>
        </p:spPr>
      </p:cxnSp>
      <p:sp>
        <p:nvSpPr>
          <p:cNvPr id="69" name="Google Shape;69;p5"/>
          <p:cNvSpPr>
            <a:spLocks noGrp="1"/>
          </p:cNvSpPr>
          <p:nvPr/>
        </p:nvSpPr>
        <p:spPr>
          <a:xfrm>
            <a:off x="6350000" y="5176589"/>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Thời gian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70" name="Google Shape;70;p5"/>
          <p:cNvSpPr>
            <a:spLocks noGrp="1"/>
          </p:cNvSpPr>
          <p:nvPr/>
        </p:nvSpPr>
        <p:spPr>
          <a:xfrm>
            <a:off x="6350000" y="5440710"/>
            <a:ext cx="223685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1" i="0" u="none" strike="noStrike" cap="none">
                <a:solidFill>
                  <a:srgbClr val="12263A"/>
                </a:solidFill>
                <a:latin typeface="Be Vietnam Pro"/>
                <a:ea typeface="Be Vietnam Pro"/>
                <a:cs typeface="Be Vietnam Pro"/>
              </a:rPr>
              <a:t>4 tuần · 4 sprint</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71" name="Google Shape;71;p5"/>
          <p:cNvSpPr>
            <a:spLocks noGrp="1"/>
          </p:cNvSpPr>
          <p:nvPr/>
        </p:nvSpPr>
        <p:spPr>
          <a:xfrm>
            <a:off x="8851900" y="4986089"/>
            <a:ext cx="2527300" cy="85591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72" name="Google Shape;72;p5"/>
          <p:cNvCxnSpPr/>
          <p:nvPr/>
        </p:nvCxnSpPr>
        <p:spPr>
          <a:xfrm>
            <a:off x="8851900" y="5005139"/>
            <a:ext cx="2527300" cy="0"/>
          </a:xfrm>
          <a:prstGeom prst="straightConnector1">
            <a:avLst/>
          </a:prstGeom>
          <a:ln w="38100" cap="flat">
            <a:solidFill>
              <a:srgbClr val="F28C28"/>
            </a:solidFill>
            <a:prstDash val="solid"/>
            <a:round/>
            <a:headEnd type="none" w="sm" len="sm"/>
            <a:tailEnd type="none" w="sm" len="sm"/>
          </a:ln>
        </p:spPr>
      </p:cxnSp>
      <p:sp>
        <p:nvSpPr>
          <p:cNvPr id="73" name="Google Shape;73;p5"/>
          <p:cNvSpPr>
            <a:spLocks noGrp="1"/>
          </p:cNvSpPr>
          <p:nvPr/>
        </p:nvSpPr>
        <p:spPr>
          <a:xfrm>
            <a:off x="9029700" y="5176589"/>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Thành viên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74" name="Google Shape;74;p5"/>
          <p:cNvSpPr>
            <a:spLocks noGrp="1"/>
          </p:cNvSpPr>
          <p:nvPr/>
        </p:nvSpPr>
        <p:spPr>
          <a:xfrm>
            <a:off x="9029700" y="5440710"/>
            <a:ext cx="223685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1" i="0" u="none" strike="noStrike" cap="none">
                <a:solidFill>
                  <a:srgbClr val="12263A"/>
                </a:solidFill>
                <a:latin typeface="Be Vietnam Pro"/>
                <a:ea typeface="Be Vietnam Pro"/>
                <a:cs typeface="Be Vietnam Pro"/>
              </a:rPr>
              <a:t>8 người</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75" name="Google Shape;75;p5"/>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76" name="Google Shape;76;p5"/>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77" name="Google Shape;77;p5"/>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78" name="Google Shape;78;p5"/>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84" name="Google Shape;84;p6"/>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02 — QUY TRÌNH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85" name="Google Shape;85;p6"/>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Quy trình &amp; cách làm việc nhóm</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86" name="Google Shape;86;p6"/>
          <p:cNvSpPr>
            <a:spLocks noGrp="1"/>
          </p:cNvSpPr>
          <p:nvPr/>
        </p:nvSpPr>
        <p:spPr>
          <a:xfrm>
            <a:off x="812800" y="1803350"/>
            <a:ext cx="2032000" cy="136892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87" name="Google Shape;87;p6"/>
          <p:cNvCxnSpPr/>
          <p:nvPr/>
        </p:nvCxnSpPr>
        <p:spPr>
          <a:xfrm>
            <a:off x="812800" y="1822400"/>
            <a:ext cx="2032000" cy="0"/>
          </a:xfrm>
          <a:prstGeom prst="straightConnector1">
            <a:avLst/>
          </a:prstGeom>
          <a:ln w="38100" cap="flat">
            <a:solidFill>
              <a:srgbClr val="2556C4"/>
            </a:solidFill>
            <a:prstDash val="solid"/>
            <a:round/>
            <a:headEnd type="none" w="sm" len="sm"/>
            <a:tailEnd type="none" w="sm" len="sm"/>
          </a:ln>
        </p:spPr>
      </p:cxnSp>
      <p:sp>
        <p:nvSpPr>
          <p:cNvPr id="88" name="Google Shape;88;p6"/>
          <p:cNvSpPr>
            <a:spLocks noGrp="1"/>
          </p:cNvSpPr>
          <p:nvPr/>
        </p:nvSpPr>
        <p:spPr>
          <a:xfrm>
            <a:off x="965200" y="1993850"/>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KHỞI ĐỘNG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89" name="Google Shape;89;p6"/>
          <p:cNvSpPr>
            <a:spLocks noGrp="1"/>
          </p:cNvSpPr>
          <p:nvPr/>
        </p:nvSpPr>
        <p:spPr>
          <a:xfrm>
            <a:off x="965200" y="2257971"/>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Thiết lập ban đầu</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90" name="Google Shape;90;p6"/>
          <p:cNvSpPr>
            <a:spLocks noGrp="1"/>
          </p:cNvSpPr>
          <p:nvPr/>
        </p:nvSpPr>
        <p:spPr>
          <a:xfrm>
            <a:off x="965200" y="2522091"/>
            <a:ext cx="1779016" cy="52318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0" i="0" u="none" strike="noStrike" cap="none">
                <a:solidFill>
                  <a:srgbClr val="12263A"/>
                </a:solidFill>
                <a:latin typeface="Be Vietnam Pro"/>
                <a:ea typeface="Be Vietnam Pro"/>
                <a:cs typeface="Be Vietnam Pro"/>
              </a:rPr>
              <a:t>Onboarding, môi trường và phân công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91" name="Google Shape;91;p6"/>
          <p:cNvSpPr>
            <a:spLocks noGrp="1"/>
          </p:cNvSpPr>
          <p:nvPr/>
        </p:nvSpPr>
        <p:spPr>
          <a:xfrm>
            <a:off x="2946400" y="1803350"/>
            <a:ext cx="2032000" cy="136892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92" name="Google Shape;92;p6"/>
          <p:cNvCxnSpPr/>
          <p:nvPr/>
        </p:nvCxnSpPr>
        <p:spPr>
          <a:xfrm>
            <a:off x="2946400" y="1822400"/>
            <a:ext cx="2032000" cy="0"/>
          </a:xfrm>
          <a:prstGeom prst="straightConnector1">
            <a:avLst/>
          </a:prstGeom>
          <a:ln w="38100" cap="flat">
            <a:solidFill>
              <a:srgbClr val="2556C4"/>
            </a:solidFill>
            <a:prstDash val="solid"/>
            <a:round/>
            <a:headEnd type="none" w="sm" len="sm"/>
            <a:tailEnd type="none" w="sm" len="sm"/>
          </a:ln>
        </p:spPr>
      </p:cxnSp>
      <p:sp>
        <p:nvSpPr>
          <p:cNvPr id="93" name="Google Shape;93;p6"/>
          <p:cNvSpPr>
            <a:spLocks noGrp="1"/>
          </p:cNvSpPr>
          <p:nvPr/>
        </p:nvSpPr>
        <p:spPr>
          <a:xfrm>
            <a:off x="3098800" y="1993850"/>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SPRINT 1</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94" name="Google Shape;94;p6"/>
          <p:cNvSpPr>
            <a:spLocks noGrp="1"/>
          </p:cNvSpPr>
          <p:nvPr/>
        </p:nvSpPr>
        <p:spPr>
          <a:xfrm>
            <a:off x="3098800" y="2257971"/>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10 Story · 42 SP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95" name="Google Shape;95;p6"/>
          <p:cNvSpPr>
            <a:spLocks noGrp="1"/>
          </p:cNvSpPr>
          <p:nvPr/>
        </p:nvSpPr>
        <p:spPr>
          <a:xfrm>
            <a:off x="3098800" y="2522091"/>
            <a:ext cx="1779016"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0" i="0" u="none" strike="noStrike" cap="none">
                <a:solidFill>
                  <a:srgbClr val="12263A"/>
                </a:solidFill>
                <a:latin typeface="Be Vietnam Pro"/>
                <a:ea typeface="Be Vietnam Pro"/>
                <a:cs typeface="Be Vietnam Pro"/>
              </a:rPr>
              <a:t>Tài khoản &amp; phân quyền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96" name="Google Shape;96;p6"/>
          <p:cNvSpPr>
            <a:spLocks noGrp="1"/>
          </p:cNvSpPr>
          <p:nvPr/>
        </p:nvSpPr>
        <p:spPr>
          <a:xfrm>
            <a:off x="5080000" y="1803350"/>
            <a:ext cx="2032000" cy="136892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97" name="Google Shape;97;p6"/>
          <p:cNvCxnSpPr/>
          <p:nvPr/>
        </p:nvCxnSpPr>
        <p:spPr>
          <a:xfrm>
            <a:off x="5080000" y="1822400"/>
            <a:ext cx="2032000" cy="0"/>
          </a:xfrm>
          <a:prstGeom prst="straightConnector1">
            <a:avLst/>
          </a:prstGeom>
          <a:ln w="38100" cap="flat">
            <a:solidFill>
              <a:srgbClr val="2556C4"/>
            </a:solidFill>
            <a:prstDash val="solid"/>
            <a:round/>
            <a:headEnd type="none" w="sm" len="sm"/>
            <a:tailEnd type="none" w="sm" len="sm"/>
          </a:ln>
        </p:spPr>
      </p:cxnSp>
      <p:sp>
        <p:nvSpPr>
          <p:cNvPr id="98" name="Google Shape;98;p6"/>
          <p:cNvSpPr>
            <a:spLocks noGrp="1"/>
          </p:cNvSpPr>
          <p:nvPr/>
        </p:nvSpPr>
        <p:spPr>
          <a:xfrm>
            <a:off x="5232400" y="1993850"/>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SPRINT 2</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99" name="Google Shape;99;p6"/>
          <p:cNvSpPr>
            <a:spLocks noGrp="1"/>
          </p:cNvSpPr>
          <p:nvPr/>
        </p:nvSpPr>
        <p:spPr>
          <a:xfrm>
            <a:off x="5232400" y="2257971"/>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10 Story · 43 SP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00" name="Google Shape;100;p6"/>
          <p:cNvSpPr>
            <a:spLocks noGrp="1"/>
          </p:cNvSpPr>
          <p:nvPr/>
        </p:nvSpPr>
        <p:spPr>
          <a:xfrm>
            <a:off x="5232400" y="2522091"/>
            <a:ext cx="1779016"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0" i="0" u="none" strike="noStrike" cap="none">
                <a:solidFill>
                  <a:srgbClr val="12263A"/>
                </a:solidFill>
                <a:latin typeface="Be Vietnam Pro"/>
                <a:ea typeface="Be Vietnam Pro"/>
                <a:cs typeface="Be Vietnam Pro"/>
              </a:rPr>
              <a:t>Danh mục &amp; bảng giá</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01" name="Google Shape;101;p6"/>
          <p:cNvSpPr>
            <a:spLocks noGrp="1"/>
          </p:cNvSpPr>
          <p:nvPr/>
        </p:nvSpPr>
        <p:spPr>
          <a:xfrm>
            <a:off x="7213600" y="1803350"/>
            <a:ext cx="2032000" cy="136892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102" name="Google Shape;102;p6"/>
          <p:cNvCxnSpPr/>
          <p:nvPr/>
        </p:nvCxnSpPr>
        <p:spPr>
          <a:xfrm>
            <a:off x="7213600" y="1822400"/>
            <a:ext cx="2032000" cy="0"/>
          </a:xfrm>
          <a:prstGeom prst="straightConnector1">
            <a:avLst/>
          </a:prstGeom>
          <a:ln w="38100" cap="flat">
            <a:solidFill>
              <a:srgbClr val="2556C4"/>
            </a:solidFill>
            <a:prstDash val="solid"/>
            <a:round/>
            <a:headEnd type="none" w="sm" len="sm"/>
            <a:tailEnd type="none" w="sm" len="sm"/>
          </a:ln>
        </p:spPr>
      </p:cxnSp>
      <p:sp>
        <p:nvSpPr>
          <p:cNvPr id="103" name="Google Shape;103;p6"/>
          <p:cNvSpPr>
            <a:spLocks noGrp="1"/>
          </p:cNvSpPr>
          <p:nvPr/>
        </p:nvSpPr>
        <p:spPr>
          <a:xfrm>
            <a:off x="7366000" y="1993850"/>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SPRINT 3</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04" name="Google Shape;104;p6"/>
          <p:cNvSpPr>
            <a:spLocks noGrp="1"/>
          </p:cNvSpPr>
          <p:nvPr/>
        </p:nvSpPr>
        <p:spPr>
          <a:xfrm>
            <a:off x="7366000" y="2257971"/>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9 Story · 42 SP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05" name="Google Shape;105;p6"/>
          <p:cNvSpPr>
            <a:spLocks noGrp="1"/>
          </p:cNvSpPr>
          <p:nvPr/>
        </p:nvSpPr>
        <p:spPr>
          <a:xfrm>
            <a:off x="7366000" y="2522091"/>
            <a:ext cx="1779016"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0" i="0" u="none" strike="noStrike" cap="none">
                <a:solidFill>
                  <a:srgbClr val="12263A"/>
                </a:solidFill>
                <a:latin typeface="Be Vietnam Pro"/>
                <a:ea typeface="Be Vietnam Pro"/>
                <a:cs typeface="Be Vietnam Pro"/>
              </a:rPr>
              <a:t>Customer 360</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06" name="Google Shape;106;p6"/>
          <p:cNvSpPr>
            <a:spLocks noGrp="1"/>
          </p:cNvSpPr>
          <p:nvPr/>
        </p:nvSpPr>
        <p:spPr>
          <a:xfrm>
            <a:off x="9347200" y="1803350"/>
            <a:ext cx="2032000" cy="1368921"/>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107" name="Google Shape;107;p6"/>
          <p:cNvCxnSpPr/>
          <p:nvPr/>
        </p:nvCxnSpPr>
        <p:spPr>
          <a:xfrm>
            <a:off x="9347200" y="1822400"/>
            <a:ext cx="2032000" cy="0"/>
          </a:xfrm>
          <a:prstGeom prst="straightConnector1">
            <a:avLst/>
          </a:prstGeom>
          <a:ln w="38100" cap="flat">
            <a:solidFill>
              <a:srgbClr val="F28C28"/>
            </a:solidFill>
            <a:prstDash val="solid"/>
            <a:round/>
            <a:headEnd type="none" w="sm" len="sm"/>
            <a:tailEnd type="none" w="sm" len="sm"/>
          </a:ln>
        </p:spPr>
      </p:cxnSp>
      <p:sp>
        <p:nvSpPr>
          <p:cNvPr id="108" name="Google Shape;108;p6"/>
          <p:cNvSpPr>
            <a:spLocks noGrp="1"/>
          </p:cNvSpPr>
          <p:nvPr/>
        </p:nvSpPr>
        <p:spPr>
          <a:xfrm>
            <a:off x="9499600" y="1993850"/>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SPRINT 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09" name="Google Shape;109;p6"/>
          <p:cNvSpPr>
            <a:spLocks noGrp="1"/>
          </p:cNvSpPr>
          <p:nvPr/>
        </p:nvSpPr>
        <p:spPr>
          <a:xfrm>
            <a:off x="9499600" y="2257971"/>
            <a:ext cx="177901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9 Story · 45 SP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10" name="Google Shape;110;p6"/>
          <p:cNvSpPr>
            <a:spLocks noGrp="1"/>
          </p:cNvSpPr>
          <p:nvPr/>
        </p:nvSpPr>
        <p:spPr>
          <a:xfrm>
            <a:off x="9499600" y="2522091"/>
            <a:ext cx="1779016" cy="52318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0" i="0" u="none" strike="noStrike" cap="none">
                <a:solidFill>
                  <a:srgbClr val="12263A"/>
                </a:solidFill>
                <a:latin typeface="Be Vietnam Pro"/>
                <a:ea typeface="Be Vietnam Pro"/>
                <a:cs typeface="Be Vietnam Pro"/>
              </a:rPr>
              <a:t>Lead, chấm điểm và phân bổ</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11" name="Google Shape;111;p6"/>
          <p:cNvSpPr>
            <a:spLocks noGrp="1"/>
          </p:cNvSpPr>
          <p:nvPr/>
        </p:nvSpPr>
        <p:spPr>
          <a:xfrm>
            <a:off x="815975" y="3429446"/>
            <a:ext cx="3414167"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12" name="Google Shape;112;p6"/>
          <p:cNvSpPr>
            <a:spLocks noGrp="1"/>
          </p:cNvSpPr>
          <p:nvPr/>
        </p:nvSpPr>
        <p:spPr>
          <a:xfrm>
            <a:off x="1022350" y="3635821"/>
            <a:ext cx="309145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Mô hình làm việc</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113" name="Google Shape;113;p6"/>
          <p:cNvSpPr>
            <a:spLocks noGrp="1"/>
          </p:cNvSpPr>
          <p:nvPr/>
        </p:nvSpPr>
        <p:spPr>
          <a:xfrm>
            <a:off x="1022350" y="3986312"/>
            <a:ext cx="3091459" cy="77207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Scrum · Sprint 1 tuần</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Daily, Planning, Review, Retro</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FE–BE–QA tích hợp</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14" name="Google Shape;114;p6"/>
          <p:cNvSpPr>
            <a:spLocks noGrp="1"/>
          </p:cNvSpPr>
          <p:nvPr/>
        </p:nvSpPr>
        <p:spPr>
          <a:xfrm>
            <a:off x="4388892" y="3429446"/>
            <a:ext cx="3414216"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15" name="Google Shape;115;p6"/>
          <p:cNvSpPr>
            <a:spLocks noGrp="1"/>
          </p:cNvSpPr>
          <p:nvPr/>
        </p:nvSpPr>
        <p:spPr>
          <a:xfrm>
            <a:off x="4595267" y="3635821"/>
            <a:ext cx="3091510"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Công cụ</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116" name="Google Shape;116;p6"/>
          <p:cNvSpPr>
            <a:spLocks noGrp="1"/>
          </p:cNvSpPr>
          <p:nvPr/>
        </p:nvSpPr>
        <p:spPr>
          <a:xfrm>
            <a:off x="4595267" y="3986312"/>
            <a:ext cx="3091510" cy="102096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Jira — backlog, sprint</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GitHub — mã nguồn, PR</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Zalo — trao đổi</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MySQL, Postman — triển khai/test</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17" name="Google Shape;117;p6"/>
          <p:cNvSpPr>
            <a:spLocks noGrp="1"/>
          </p:cNvSpPr>
          <p:nvPr/>
        </p:nvSpPr>
        <p:spPr>
          <a:xfrm>
            <a:off x="7961858" y="3429446"/>
            <a:ext cx="3414167" cy="2409379"/>
          </a:xfrm>
          <a:prstGeom prst="roundRect">
            <a:avLst>
              <a:gd name="adj" fmla="val 408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18" name="Google Shape;118;p6"/>
          <p:cNvSpPr>
            <a:spLocks noGrp="1"/>
          </p:cNvSpPr>
          <p:nvPr/>
        </p:nvSpPr>
        <p:spPr>
          <a:xfrm>
            <a:off x="8168233" y="3635821"/>
            <a:ext cx="309145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Quy tắc Git</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119" name="Google Shape;119;p6"/>
          <p:cNvSpPr>
            <a:spLocks noGrp="1"/>
          </p:cNvSpPr>
          <p:nvPr/>
        </p:nvSpPr>
        <p:spPr>
          <a:xfrm>
            <a:off x="8168233" y="3986312"/>
            <a:ext cx="3091459" cy="102096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main · develop · feature/*</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Pull trước khi code; PR vào develop</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Review trước merge; trưởng nhóm quản lý main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20" name="Google Shape;120;p6"/>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21" name="Google Shape;121;p6"/>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122" name="Google Shape;122;p6"/>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123" name="Google Shape;123;p6"/>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129" name="Google Shape;129;p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03 — MINH CHỨNG JIRA</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30" name="Google Shape;130;p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Product Backlog của dự án</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31" name="Google Shape;131;p7"/>
          <p:cNvSpPr>
            <a:spLocks noGrp="1"/>
          </p:cNvSpPr>
          <p:nvPr/>
        </p:nvSpPr>
        <p:spPr>
          <a:xfrm>
            <a:off x="819150" y="1809700"/>
            <a:ext cx="634747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132" name="Google Shape;132;p7"/>
          <p:cNvPicPr>
            <a:picLocks noChangeAspect="1"/>
          </p:cNvPicPr>
          <p:nvPr/>
        </p:nvPicPr>
        <p:blipFill rotWithShape="1">
          <a:blip r:embed="rId1"/>
          <a:srcRect/>
          <a:stretch>
            <a:fillRect/>
          </a:stretch>
        </p:blipFill>
        <p:spPr>
          <a:xfrm>
            <a:off x="3789660" y="3312170"/>
            <a:ext cx="406400" cy="406400"/>
          </a:xfrm>
          <a:prstGeom prst="rect">
            <a:avLst/>
          </a:prstGeom>
          <a:ln>
            <a:noFill/>
          </a:ln>
        </p:spPr>
      </p:pic>
      <p:sp>
        <p:nvSpPr>
          <p:cNvPr id="133" name="Google Shape;133;p7"/>
          <p:cNvSpPr>
            <a:spLocks noGrp="1"/>
          </p:cNvSpPr>
          <p:nvPr/>
        </p:nvSpPr>
        <p:spPr>
          <a:xfrm>
            <a:off x="2296214" y="3794770"/>
            <a:ext cx="3393293"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r>
              <a:rPr sz="1100" b="1" i="0" u="none" strike="noStrike" cap="none">
                <a:solidFill>
                  <a:srgbClr val="3F4A57"/>
                </a:solidFill>
                <a:latin typeface="Be Vietnam Pro"/>
                <a:ea typeface="Be Vietnam Pro"/>
                <a:cs typeface="Be Vietnam Pro"/>
              </a:rPr>
              <a:t>Ảnh Jira: phạm vi / roadmap dự án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34" name="Google Shape;134;p7"/>
          <p:cNvSpPr>
            <a:spLocks noGrp="1"/>
          </p:cNvSpPr>
          <p:nvPr/>
        </p:nvSpPr>
        <p:spPr>
          <a:xfrm>
            <a:off x="1942515" y="4119860"/>
            <a:ext cx="4100740" cy="23872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Cần bổ sung ảnh Backlog view đúng mẫu trước khi nộp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35" name="Google Shape;135;p7"/>
          <p:cNvSpPr>
            <a:spLocks noGrp="1"/>
          </p:cNvSpPr>
          <p:nvPr/>
        </p:nvSpPr>
        <p:spPr>
          <a:xfrm>
            <a:off x="7430145" y="1806525"/>
            <a:ext cx="190624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36" name="Google Shape;136;p7"/>
          <p:cNvSpPr>
            <a:spLocks noGrp="1"/>
          </p:cNvSpPr>
          <p:nvPr/>
        </p:nvSpPr>
        <p:spPr>
          <a:xfrm>
            <a:off x="7611120" y="1962100"/>
            <a:ext cx="159509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Tổng issue Jira</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37" name="Google Shape;137;p7"/>
          <p:cNvSpPr>
            <a:spLocks noGrp="1"/>
          </p:cNvSpPr>
          <p:nvPr/>
        </p:nvSpPr>
        <p:spPr>
          <a:xfrm>
            <a:off x="7611120" y="2226221"/>
            <a:ext cx="1595090"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244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38" name="Google Shape;138;p7"/>
          <p:cNvSpPr>
            <a:spLocks noGrp="1"/>
          </p:cNvSpPr>
          <p:nvPr/>
        </p:nvSpPr>
        <p:spPr>
          <a:xfrm>
            <a:off x="9469735" y="1806525"/>
            <a:ext cx="190629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39" name="Google Shape;139;p7"/>
          <p:cNvSpPr>
            <a:spLocks noGrp="1"/>
          </p:cNvSpPr>
          <p:nvPr/>
        </p:nvSpPr>
        <p:spPr>
          <a:xfrm>
            <a:off x="9650710" y="1962100"/>
            <a:ext cx="159514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Story Done S1–4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40" name="Google Shape;140;p7"/>
          <p:cNvSpPr>
            <a:spLocks noGrp="1"/>
          </p:cNvSpPr>
          <p:nvPr/>
        </p:nvSpPr>
        <p:spPr>
          <a:xfrm>
            <a:off x="9650710" y="2226221"/>
            <a:ext cx="1595140"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38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41" name="Google Shape;141;p7"/>
          <p:cNvSpPr>
            <a:spLocks noGrp="1"/>
          </p:cNvSpPr>
          <p:nvPr/>
        </p:nvSpPr>
        <p:spPr>
          <a:xfrm>
            <a:off x="7430145" y="2962176"/>
            <a:ext cx="190624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42" name="Google Shape;142;p7"/>
          <p:cNvSpPr>
            <a:spLocks noGrp="1"/>
          </p:cNvSpPr>
          <p:nvPr/>
        </p:nvSpPr>
        <p:spPr>
          <a:xfrm>
            <a:off x="7611120" y="3117751"/>
            <a:ext cx="159509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Story ngoài S1–4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43" name="Google Shape;143;p7"/>
          <p:cNvSpPr>
            <a:spLocks noGrp="1"/>
          </p:cNvSpPr>
          <p:nvPr/>
        </p:nvSpPr>
        <p:spPr>
          <a:xfrm>
            <a:off x="7611120" y="3381871"/>
            <a:ext cx="1595090"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38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44" name="Google Shape;144;p7"/>
          <p:cNvSpPr>
            <a:spLocks noGrp="1"/>
          </p:cNvSpPr>
          <p:nvPr/>
        </p:nvSpPr>
        <p:spPr>
          <a:xfrm>
            <a:off x="9469735" y="2962176"/>
            <a:ext cx="190629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45" name="Google Shape;145;p7"/>
          <p:cNvSpPr>
            <a:spLocks noGrp="1"/>
          </p:cNvSpPr>
          <p:nvPr/>
        </p:nvSpPr>
        <p:spPr>
          <a:xfrm>
            <a:off x="9650710" y="3117751"/>
            <a:ext cx="159514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Trong phạm vi S1–4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46" name="Google Shape;146;p7"/>
          <p:cNvSpPr>
            <a:spLocks noGrp="1"/>
          </p:cNvSpPr>
          <p:nvPr/>
        </p:nvSpPr>
        <p:spPr>
          <a:xfrm>
            <a:off x="9650710" y="3381871"/>
            <a:ext cx="1595140"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3200" b="1" i="0" u="none" strike="noStrike" cap="none">
                <a:solidFill>
                  <a:srgbClr val="2556C4"/>
                </a:solidFill>
                <a:latin typeface="Be Vietnam Pro"/>
                <a:ea typeface="Be Vietnam Pro"/>
                <a:cs typeface="Be Vietnam Pro"/>
              </a:rPr>
              <a:t>100%</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47" name="Google Shape;147;p7"/>
          <p:cNvSpPr>
            <a:spLocks noGrp="1"/>
          </p:cNvSpPr>
          <p:nvPr/>
        </p:nvSpPr>
        <p:spPr>
          <a:xfrm>
            <a:off x="7430145" y="4143226"/>
            <a:ext cx="3945880" cy="1695599"/>
          </a:xfrm>
          <a:prstGeom prst="roundRect">
            <a:avLst>
              <a:gd name="adj" fmla="val 580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48" name="Google Shape;148;p7"/>
          <p:cNvSpPr>
            <a:spLocks noGrp="1"/>
          </p:cNvSpPr>
          <p:nvPr/>
        </p:nvSpPr>
        <p:spPr>
          <a:xfrm>
            <a:off x="7636520" y="4324201"/>
            <a:ext cx="363912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Epic chính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149" name="Google Shape;149;p7"/>
          <p:cNvSpPr>
            <a:spLocks noGrp="1"/>
          </p:cNvSpPr>
          <p:nvPr/>
        </p:nvSpPr>
        <p:spPr>
          <a:xfrm>
            <a:off x="7636520" y="4674691"/>
            <a:ext cx="3639124" cy="77207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 S1 — Tài khoản &amp; phân quyền</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S2 — Danh mục &amp; bảng giá</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S3 — Khách hàng &amp; Customer 360</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S4 — Lead &amp; phân bổ</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50" name="Google Shape;150;p7"/>
          <p:cNvSpPr>
            <a:spLocks noGrp="1"/>
          </p:cNvSpPr>
          <p:nvPr/>
        </p:nvSpPr>
        <p:spPr>
          <a:xfrm>
            <a:off x="812800" y="6238280"/>
            <a:ext cx="403140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900" b="0" i="0" u="none" strike="noStrike" cap="none">
                <a:solidFill>
                  <a:srgbClr val="5A6573"/>
                </a:solidFill>
                <a:latin typeface="Be Vietnam Pro"/>
                <a:ea typeface="Be Vietnam Pro"/>
                <a:cs typeface="Be Vietnam Pro"/>
              </a:rPr>
              <a:t>Nguồn: Jira CSV 21/10/2026 · 244 issue (gồm 152 sub-task) · EP01–04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51" name="Google Shape;151;p7"/>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152" name="Google Shape;152;p7"/>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153" name="Google Shape;153;p7"/>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154" name="Picture 153"/>
          <p:cNvPicPr>
            <a:picLocks noChangeAspect="1"/>
          </p:cNvPicPr>
          <p:nvPr/>
        </p:nvPicPr>
        <p:blipFill>
          <a:blip r:embed="rId4"/>
          <a:stretch>
            <a:fillRect/>
          </a:stretch>
        </p:blipFill>
        <p:spPr>
          <a:xfrm>
            <a:off x="1821407" y="1920240"/>
            <a:ext cx="4385617" cy="272491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159" name="Google Shape;159;p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04 — MINH CHỨNG JIRA</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60" name="Google Shape;160;p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Tiến độ theo sprint</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61" name="Google Shape;161;p8"/>
          <p:cNvSpPr>
            <a:spLocks noGrp="1"/>
          </p:cNvSpPr>
          <p:nvPr/>
        </p:nvSpPr>
        <p:spPr>
          <a:xfrm>
            <a:off x="819150" y="1809700"/>
            <a:ext cx="5194300" cy="1765300"/>
          </a:xfrm>
          <a:prstGeom prst="roundRect">
            <a:avLst>
              <a:gd name="adj" fmla="val 539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162" name="Google Shape;162;p8"/>
          <p:cNvPicPr>
            <a:picLocks noChangeAspect="1"/>
          </p:cNvPicPr>
          <p:nvPr/>
        </p:nvPicPr>
        <p:blipFill rotWithShape="1">
          <a:blip r:embed="rId1"/>
          <a:srcRect/>
          <a:stretch>
            <a:fillRect/>
          </a:stretch>
        </p:blipFill>
        <p:spPr>
          <a:xfrm>
            <a:off x="3238500" y="2207220"/>
            <a:ext cx="355600" cy="355600"/>
          </a:xfrm>
          <a:prstGeom prst="rect">
            <a:avLst/>
          </a:prstGeom>
          <a:ln>
            <a:noFill/>
          </a:ln>
        </p:spPr>
      </p:pic>
      <p:sp>
        <p:nvSpPr>
          <p:cNvPr id="163" name="Google Shape;163;p8"/>
          <p:cNvSpPr>
            <a:spLocks noGrp="1"/>
          </p:cNvSpPr>
          <p:nvPr/>
        </p:nvSpPr>
        <p:spPr>
          <a:xfrm>
            <a:off x="2215557" y="2639020"/>
            <a:ext cx="240143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64" name="Google Shape;164;p8"/>
          <p:cNvSpPr>
            <a:spLocks noGrp="1"/>
          </p:cNvSpPr>
          <p:nvPr/>
        </p:nvSpPr>
        <p:spPr>
          <a:xfrm>
            <a:off x="1968857" y="2964111"/>
            <a:ext cx="2894887" cy="23872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65" name="Google Shape;165;p8"/>
          <p:cNvSpPr>
            <a:spLocks noGrp="1"/>
          </p:cNvSpPr>
          <p:nvPr/>
        </p:nvSpPr>
        <p:spPr>
          <a:xfrm>
            <a:off x="6178550" y="1809700"/>
            <a:ext cx="5194300" cy="1765300"/>
          </a:xfrm>
          <a:prstGeom prst="roundRect">
            <a:avLst>
              <a:gd name="adj" fmla="val 539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166" name="Google Shape;166;p8"/>
          <p:cNvPicPr>
            <a:picLocks noChangeAspect="1"/>
          </p:cNvPicPr>
          <p:nvPr/>
        </p:nvPicPr>
        <p:blipFill rotWithShape="1">
          <a:blip r:embed="rId2"/>
          <a:srcRect/>
          <a:stretch>
            <a:fillRect/>
          </a:stretch>
        </p:blipFill>
        <p:spPr>
          <a:xfrm>
            <a:off x="8597900" y="2207220"/>
            <a:ext cx="355600" cy="355600"/>
          </a:xfrm>
          <a:prstGeom prst="rect">
            <a:avLst/>
          </a:prstGeom>
          <a:ln>
            <a:noFill/>
          </a:ln>
        </p:spPr>
      </p:pic>
      <p:sp>
        <p:nvSpPr>
          <p:cNvPr id="167" name="Google Shape;167;p8"/>
          <p:cNvSpPr>
            <a:spLocks noGrp="1"/>
          </p:cNvSpPr>
          <p:nvPr/>
        </p:nvSpPr>
        <p:spPr>
          <a:xfrm>
            <a:off x="7275882" y="2639020"/>
            <a:ext cx="2999586"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168" name="Google Shape;168;p8"/>
          <p:cNvSpPr>
            <a:spLocks noGrp="1"/>
          </p:cNvSpPr>
          <p:nvPr/>
        </p:nvSpPr>
        <p:spPr>
          <a:xfrm>
            <a:off x="7834175" y="2964111"/>
            <a:ext cx="1883051" cy="23872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69" name="Google Shape;169;p8"/>
          <p:cNvSpPr>
            <a:spLocks noGrp="1"/>
          </p:cNvSpPr>
          <p:nvPr/>
        </p:nvSpPr>
        <p:spPr>
          <a:xfrm>
            <a:off x="812800" y="3835350"/>
            <a:ext cx="10566400" cy="1682452"/>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170" name="Google Shape;170;p8"/>
          <p:cNvCxnSpPr/>
          <p:nvPr/>
        </p:nvCxnSpPr>
        <p:spPr>
          <a:xfrm>
            <a:off x="11376025" y="3835350"/>
            <a:ext cx="0" cy="1682452"/>
          </a:xfrm>
          <a:prstGeom prst="straightConnector1">
            <a:avLst/>
          </a:prstGeom>
          <a:ln w="9525" cap="flat">
            <a:solidFill>
              <a:srgbClr val="DDE1DC"/>
            </a:solidFill>
            <a:prstDash val="solid"/>
            <a:round/>
            <a:headEnd type="none" w="sm" len="sm"/>
            <a:tailEnd type="none" w="sm" len="sm"/>
          </a:ln>
        </p:spPr>
      </p:cxnSp>
      <p:cxnSp>
        <p:nvCxnSpPr>
          <p:cNvPr id="171" name="Google Shape;171;p8"/>
          <p:cNvCxnSpPr/>
          <p:nvPr/>
        </p:nvCxnSpPr>
        <p:spPr>
          <a:xfrm>
            <a:off x="812800" y="5514628"/>
            <a:ext cx="10566400" cy="0"/>
          </a:xfrm>
          <a:prstGeom prst="straightConnector1">
            <a:avLst/>
          </a:prstGeom>
          <a:ln w="9525" cap="flat">
            <a:solidFill>
              <a:srgbClr val="DDE1DC"/>
            </a:solidFill>
            <a:prstDash val="solid"/>
            <a:round/>
            <a:headEnd type="none" w="sm" len="sm"/>
            <a:tailEnd type="none" w="sm" len="sm"/>
          </a:ln>
        </p:spPr>
      </p:cxnSp>
      <p:graphicFrame>
        <p:nvGraphicFramePr>
          <p:cNvPr id="172" name="Google Shape;172;p8"/>
          <p:cNvGraphicFramePr/>
          <p:nvPr/>
        </p:nvGraphicFramePr>
        <p:xfrm>
          <a:off x="825500" y="3848050"/>
          <a:ext cx="10547350" cy="1865376"/>
        </p:xfrm>
        <a:graphic>
          <a:graphicData uri="http://schemas.openxmlformats.org/drawingml/2006/table">
            <a:tbl>
              <a:tblPr>
                <a:tableStyleId>{9B3969C7-C4A1-4AC8-A6FE-2D9392E11A51}</a:tableStyleId>
              </a:tblPr>
              <a:tblGrid>
                <a:gridCol w="1476625"/>
                <a:gridCol w="4008000"/>
                <a:gridCol w="1687575"/>
                <a:gridCol w="1687575"/>
                <a:gridCol w="1687575"/>
              </a:tblGrid>
              <a:tr h="310896">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Sprint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Mục tiêu</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SP mới</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SP Done</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Kết quả</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10896">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Tài khoản &amp; phân quyền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26</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7/10 Story</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10896">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Danh mục &amp; cấu hình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43 (+16 carryover)</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54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12/13 Story</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10896">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Khách hàng / 360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42 (+5 carryover)</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47</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10/10 Story</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10896">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chemeClr val="dk1"/>
                        </a:buClr>
                        <a:buSzPts val="1200"/>
                        <a:buFont typeface="Calibri" panose="020F0502020204030204"/>
                        <a:buNone/>
                      </a:pPr>
                      <a:r>
                        <a:rPr sz="1000">
                          <a:latin typeface="Aptos"/>
                          <a:ea typeface="Aptos"/>
                          <a:cs typeface="Aptos"/>
                        </a:rPr>
                        <a:t>Lead / phân bổ</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45</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45</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9/9 Story</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r>
              <a:tr h="310896">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Tổng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chemeClr val="dk1"/>
                        </a:buClr>
                        <a:buSzPts val="1200"/>
                        <a:buFont typeface="Calibri" panose="020F0502020204030204"/>
                        <a:buNone/>
                      </a:pPr>
                      <a:r>
                        <a:rPr sz="1000">
                          <a:latin typeface="Aptos"/>
                          <a:ea typeface="Aptos"/>
                          <a:cs typeface="Aptos"/>
                        </a:rPr>
                        <a:t>Không tính trùng carryover</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172</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172</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38 Story</a:t>
                      </a:r>
                      <a:endParaRPr sz="1200" u="none" strike="noStrike" cap="none">
                        <a:latin typeface="Be Vietnam Pro"/>
                        <a:ea typeface="Be Vietnam Pro"/>
                        <a:cs typeface="Be Vietnam Pro"/>
                      </a:endParaRPr>
                    </a:p>
                  </a:txBody>
                  <a:tcPr marL="45720" marR="45720" marT="13716" marB="13716">
                    <a:lnL w="12700" cmpd="sng">
                      <a:solidFill>
                        <a:srgbClr val="BDBFBB"/>
                      </a:solidFill>
                      <a:prstDash val="solid"/>
                    </a:lnL>
                    <a:lnR w="12700" cmpd="sng">
                      <a:solidFill>
                        <a:srgbClr val="BDBFBB"/>
                      </a:solidFill>
                      <a:prstDash val="solid"/>
                    </a:lnR>
                    <a:lnT w="12700" cmpd="sng">
                      <a:solidFill>
                        <a:srgbClr val="CACAC8"/>
                      </a:solidFill>
                      <a:prstDash val="solid"/>
                    </a:lnT>
                    <a:lnB w="12700" cmpd="sng">
                      <a:solidFill>
                        <a:srgbClr val="BDBFBB"/>
                      </a:solidFill>
                      <a:prstDash val="solid"/>
                    </a:lnB>
                    <a:solidFill>
                      <a:srgbClr val="EDEFEA"/>
                    </a:solidFill>
                  </a:tcPr>
                </a:tc>
              </a:tr>
            </a:tbl>
          </a:graphicData>
        </a:graphic>
      </p:graphicFrame>
      <p:sp>
        <p:nvSpPr>
          <p:cNvPr id="173" name="Google Shape;173;p8"/>
          <p:cNvSpPr>
            <a:spLocks noGrp="1"/>
          </p:cNvSpPr>
          <p:nvPr/>
        </p:nvSpPr>
        <p:spPr>
          <a:xfrm>
            <a:off x="812800" y="6238280"/>
            <a:ext cx="4272633"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900" b="0" i="0" u="none" strike="noStrike" cap="none">
                <a:solidFill>
                  <a:srgbClr val="5A6573"/>
                </a:solidFill>
                <a:latin typeface="Be Vietnam Pro"/>
                <a:ea typeface="Be Vietnam Pro"/>
                <a:cs typeface="Be Vietnam Pro"/>
              </a:rPr>
              <a:t>Nguồn: Jira Sprint Reports · 21/10/2026 · SP hoàn thành khi đóng Sprint</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74" name="Google Shape;174;p8"/>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175" name="Google Shape;175;p8"/>
          <p:cNvPicPr>
            <a:picLocks noChangeAspect="1"/>
          </p:cNvPicPr>
          <p:nvPr/>
        </p:nvPicPr>
        <p:blipFill rotWithShape="1">
          <a:blip r:embed="rId3"/>
          <a:srcRect/>
          <a:stretch>
            <a:fillRect/>
          </a:stretch>
        </p:blipFill>
        <p:spPr>
          <a:xfrm>
            <a:off x="4778375" y="203200"/>
            <a:ext cx="406400" cy="406400"/>
          </a:xfrm>
          <a:prstGeom prst="rect">
            <a:avLst/>
          </a:prstGeom>
          <a:ln>
            <a:noFill/>
          </a:ln>
        </p:spPr>
      </p:pic>
      <p:pic>
        <p:nvPicPr>
          <p:cNvPr id="176" name="Google Shape;176;p8"/>
          <p:cNvPicPr>
            <a:picLocks noChangeAspect="1"/>
          </p:cNvPicPr>
          <p:nvPr/>
        </p:nvPicPr>
        <p:blipFill rotWithShape="1">
          <a:blip r:embed="rId4"/>
          <a:srcRect t="-50" b="-50"/>
          <a:stretch>
            <a:fillRect/>
          </a:stretch>
        </p:blipFill>
        <p:spPr>
          <a:xfrm>
            <a:off x="5438775" y="203200"/>
            <a:ext cx="1974850" cy="406400"/>
          </a:xfrm>
          <a:prstGeom prst="rect">
            <a:avLst/>
          </a:prstGeom>
          <a:ln>
            <a:noFill/>
          </a:ln>
        </p:spPr>
      </p:pic>
      <p:pic>
        <p:nvPicPr>
          <p:cNvPr id="177" name="Picture 176"/>
          <p:cNvPicPr>
            <a:picLocks noChangeAspect="1"/>
          </p:cNvPicPr>
          <p:nvPr/>
        </p:nvPicPr>
        <p:blipFill>
          <a:blip r:embed="rId5"/>
          <a:stretch>
            <a:fillRect/>
          </a:stretch>
        </p:blipFill>
        <p:spPr>
          <a:xfrm>
            <a:off x="1926118" y="1847088"/>
            <a:ext cx="3005762" cy="1691640"/>
          </a:xfrm>
          <a:prstGeom prst="rect">
            <a:avLst/>
          </a:prstGeom>
        </p:spPr>
      </p:pic>
      <p:pic>
        <p:nvPicPr>
          <p:cNvPr id="178" name="Picture 177"/>
          <p:cNvPicPr>
            <a:picLocks noChangeAspect="1"/>
          </p:cNvPicPr>
          <p:nvPr/>
        </p:nvPicPr>
        <p:blipFill>
          <a:blip r:embed="rId6"/>
          <a:stretch>
            <a:fillRect/>
          </a:stretch>
        </p:blipFill>
        <p:spPr>
          <a:xfrm>
            <a:off x="7275358" y="1847088"/>
            <a:ext cx="3005762" cy="1691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182" name="Google Shape;182;p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05 — MINH CHỨNG GIT</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83" name="Google Shape;183;p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Hoạt động phát triển trên Git</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184" name="Google Shape;184;p9"/>
          <p:cNvSpPr>
            <a:spLocks noGrp="1"/>
          </p:cNvSpPr>
          <p:nvPr/>
        </p:nvSpPr>
        <p:spPr>
          <a:xfrm>
            <a:off x="812800" y="1803350"/>
            <a:ext cx="63500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185" name="Google Shape;185;p9"/>
          <p:cNvCxnSpPr/>
          <p:nvPr/>
        </p:nvCxnSpPr>
        <p:spPr>
          <a:xfrm>
            <a:off x="7159625" y="1803350"/>
            <a:ext cx="0" cy="2015133"/>
          </a:xfrm>
          <a:prstGeom prst="straightConnector1">
            <a:avLst/>
          </a:prstGeom>
          <a:ln w="9525" cap="flat">
            <a:solidFill>
              <a:srgbClr val="DDE1DC"/>
            </a:solidFill>
            <a:prstDash val="solid"/>
            <a:round/>
            <a:headEnd type="none" w="sm" len="sm"/>
            <a:tailEnd type="none" w="sm" len="sm"/>
          </a:ln>
        </p:spPr>
      </p:cxnSp>
      <p:cxnSp>
        <p:nvCxnSpPr>
          <p:cNvPr id="186" name="Google Shape;186;p9"/>
          <p:cNvCxnSpPr/>
          <p:nvPr/>
        </p:nvCxnSpPr>
        <p:spPr>
          <a:xfrm>
            <a:off x="812800" y="3815308"/>
            <a:ext cx="6350000" cy="0"/>
          </a:xfrm>
          <a:prstGeom prst="straightConnector1">
            <a:avLst/>
          </a:prstGeom>
          <a:ln w="9525" cap="flat">
            <a:solidFill>
              <a:srgbClr val="DDE1DC"/>
            </a:solidFill>
            <a:prstDash val="solid"/>
            <a:round/>
            <a:headEnd type="none" w="sm" len="sm"/>
            <a:tailEnd type="none" w="sm" len="sm"/>
          </a:ln>
        </p:spPr>
      </p:cxnSp>
      <p:sp>
        <p:nvSpPr>
          <p:cNvPr id="188" name="Google Shape;188;p9"/>
          <p:cNvSpPr>
            <a:spLocks noGrp="1"/>
          </p:cNvSpPr>
          <p:nvPr/>
        </p:nvSpPr>
        <p:spPr>
          <a:xfrm>
            <a:off x="815975" y="3974058"/>
            <a:ext cx="6343650" cy="1428601"/>
          </a:xfrm>
          <a:prstGeom prst="roundRect">
            <a:avLst>
              <a:gd name="adj" fmla="val 689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89" name="Google Shape;189;p9"/>
          <p:cNvSpPr>
            <a:spLocks noGrp="1"/>
          </p:cNvSpPr>
          <p:nvPr/>
        </p:nvSpPr>
        <p:spPr>
          <a:xfrm>
            <a:off x="1022350" y="4155033"/>
            <a:ext cx="610882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Phạm vi và cách thống kê</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190" name="Google Shape;190;p9"/>
          <p:cNvSpPr>
            <a:spLocks noGrp="1"/>
          </p:cNvSpPr>
          <p:nvPr/>
        </p:nvSpPr>
        <p:spPr>
          <a:xfrm>
            <a:off x="908685" y="4489450"/>
            <a:ext cx="6336665" cy="4521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JetBrains Mono" panose="02000009000000000000"/>
              <a:buNone/>
            </a:pPr>
            <a:r>
              <a:rPr sz="1300" b="0" i="0" u="none" strike="noStrike" cap="none">
                <a:solidFill>
                  <a:srgbClr val="2556C4"/>
                </a:solidFill>
                <a:latin typeface="JetBrains Mono" panose="02000009000000000000"/>
                <a:ea typeface="JetBrains Mono" panose="02000009000000000000"/>
                <a:cs typeface="JetBrains Mono" panose="02000009000000000000"/>
              </a:rPr>
              <a:t>415 commit: 181 merge + 234 không merge; Insights: 229 hiển thị</a:t>
            </a:r>
            <a:br>
              <a:rPr sz="1300" b="0" i="0" u="none" strike="noStrike" cap="none">
                <a:solidFill>
                  <a:srgbClr val="2556C4"/>
                </a:solidFill>
                <a:latin typeface="JetBrains Mono" panose="02000009000000000000"/>
                <a:ea typeface="JetBrains Mono" panose="02000009000000000000"/>
                <a:cs typeface="JetBrains Mono" panose="02000009000000000000"/>
              </a:rPr>
            </a:br>
            <a:r>
              <a:rPr sz="1300" b="0" i="0" u="none" strike="noStrike" cap="none">
                <a:solidFill>
                  <a:srgbClr val="2556C4"/>
                </a:solidFill>
                <a:latin typeface="JetBrains Mono" panose="02000009000000000000"/>
                <a:ea typeface="JetBrains Mono" panose="02000009000000000000"/>
                <a:cs typeface="JetBrains Mono" panose="02000009000000000000"/>
              </a:rPr>
              <a:t>142 PR merged / 163 PR closed (nguồn báo cáo 21/10)</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91" name="Google Shape;191;p9"/>
          <p:cNvSpPr>
            <a:spLocks noGrp="1"/>
          </p:cNvSpPr>
          <p:nvPr/>
        </p:nvSpPr>
        <p:spPr>
          <a:xfrm>
            <a:off x="983615" y="5085199"/>
            <a:ext cx="610882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*Git tổng gồm merge · Insights loại merge · Dòng +/- từ ảnh 23/10 · PR theo báo cáo 21/10</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92" name="Google Shape;192;p9"/>
          <p:cNvSpPr>
            <a:spLocks noGrp="1"/>
          </p:cNvSpPr>
          <p:nvPr/>
        </p:nvSpPr>
        <p:spPr>
          <a:xfrm>
            <a:off x="7423150" y="1809700"/>
            <a:ext cx="3949700" cy="4025950"/>
          </a:xfrm>
          <a:prstGeom prst="roundRect">
            <a:avLst>
              <a:gd name="adj" fmla="val 2412"/>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196" name="Google Shape;196;p9"/>
          <p:cNvSpPr>
            <a:spLocks noGrp="1"/>
          </p:cNvSpPr>
          <p:nvPr/>
        </p:nvSpPr>
        <p:spPr>
          <a:xfrm>
            <a:off x="812800" y="6238280"/>
            <a:ext cx="421519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970" b="0" i="0" u="none" strike="noStrike" cap="none">
                <a:solidFill>
                  <a:srgbClr val="5A6573"/>
                </a:solidFill>
                <a:latin typeface="Be Vietnam Pro"/>
                <a:ea typeface="Be Vietnam Pro"/>
                <a:cs typeface="Be Vietnam Pro"/>
              </a:rPr>
              <a:t>Git: báo cáo 21/10/2026 · Ảnh Contributors: 23/10/2026</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197" name="Google Shape;197;p9"/>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198" name="Google Shape;198;p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199" name="Google Shape;199;p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graphicFrame>
        <p:nvGraphicFramePr>
          <p:cNvPr id="200" name="Table 199"/>
          <p:cNvGraphicFramePr/>
          <p:nvPr/>
        </p:nvGraphicFramePr>
        <p:xfrm>
          <a:off x="822960" y="1819656"/>
          <a:ext cx="6336792" cy="2131465"/>
        </p:xfrm>
        <a:graphic>
          <a:graphicData uri="http://schemas.openxmlformats.org/drawingml/2006/table">
            <a:tbl>
              <a:tblPr firstRow="1" bandRow="1">
                <a:tableStyleId>{5C22544A-7EE6-4342-B048-85BDC9FD1C3A}</a:tableStyleId>
              </a:tblPr>
              <a:tblGrid>
                <a:gridCol w="1920240"/>
                <a:gridCol w="722376"/>
                <a:gridCol w="804672"/>
                <a:gridCol w="566928"/>
                <a:gridCol w="2322576"/>
              </a:tblGrid>
              <a:tr h="320040">
                <a:tc>
                  <a:txBody>
                    <a:bodyPr wrap="none"/>
                    <a:lstStyle/>
                    <a:p>
                      <a:r>
                        <a:rPr sz="870" b="1">
                          <a:solidFill>
                            <a:srgbClr val="FFFFFF"/>
                          </a:solidFill>
                          <a:latin typeface="Arial" panose="020B0604020202020204"/>
                          <a:ea typeface="Arial" panose="020B0604020202020204"/>
                          <a:cs typeface="Arial" panose="020B0604020202020204"/>
                        </a:rPr>
                        <a:t>Tài khoản / tác giả</a:t>
                      </a:r>
                      <a:endParaRPr sz="870" b="1">
                        <a:solidFill>
                          <a:srgbClr val="FFFFFF"/>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112739"/>
                    </a:solidFill>
                  </a:tcPr>
                </a:tc>
                <a:tc>
                  <a:txBody>
                    <a:bodyPr wrap="none"/>
                    <a:lstStyle/>
                    <a:p>
                      <a:pPr algn="ctr">
                        <a:buNone/>
                      </a:pPr>
                      <a:r>
                        <a:rPr sz="900" b="1">
                          <a:solidFill>
                            <a:srgbClr val="FFFFFF"/>
                          </a:solidFill>
                          <a:latin typeface="Arial" panose="020B0604020202020204"/>
                          <a:ea typeface="Arial" panose="020B0604020202020204"/>
                          <a:cs typeface="Arial" panose="020B0604020202020204"/>
                        </a:rPr>
                        <a:t>Git tổng*</a:t>
                      </a:r>
                      <a:endParaRPr sz="900" b="1">
                        <a:solidFill>
                          <a:srgbClr val="FFFFFF"/>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112739"/>
                    </a:solidFill>
                  </a:tcPr>
                </a:tc>
                <a:tc>
                  <a:txBody>
                    <a:bodyPr wrap="none"/>
                    <a:lstStyle/>
                    <a:p>
                      <a:pPr algn="ctr">
                        <a:buNone/>
                      </a:pPr>
                      <a:r>
                        <a:rPr sz="900" b="1">
                          <a:solidFill>
                            <a:srgbClr val="FFFFFF"/>
                          </a:solidFill>
                          <a:latin typeface="Arial" panose="020B0604020202020204"/>
                          <a:ea typeface="Arial" panose="020B0604020202020204"/>
                          <a:cs typeface="Arial" panose="020B0604020202020204"/>
                        </a:rPr>
                        <a:t>Insights†</a:t>
                      </a:r>
                      <a:endParaRPr sz="900" b="1">
                        <a:solidFill>
                          <a:srgbClr val="FFFFFF"/>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112739"/>
                    </a:solidFill>
                  </a:tcPr>
                </a:tc>
                <a:tc>
                  <a:txBody>
                    <a:bodyPr wrap="none"/>
                    <a:lstStyle/>
                    <a:p>
                      <a:pPr algn="ctr">
                        <a:buNone/>
                      </a:pPr>
                      <a:r>
                        <a:rPr sz="900" b="1">
                          <a:solidFill>
                            <a:srgbClr val="FFFFFF"/>
                          </a:solidFill>
                          <a:latin typeface="Arial" panose="020B0604020202020204"/>
                          <a:ea typeface="Arial" panose="020B0604020202020204"/>
                          <a:cs typeface="Arial" panose="020B0604020202020204"/>
                        </a:rPr>
                        <a:t>PR‡</a:t>
                      </a:r>
                      <a:endParaRPr sz="900" b="1">
                        <a:solidFill>
                          <a:srgbClr val="FFFFFF"/>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112739"/>
                    </a:solidFill>
                  </a:tcPr>
                </a:tc>
                <a:tc>
                  <a:txBody>
                    <a:bodyPr wrap="none"/>
                    <a:lstStyle/>
                    <a:p>
                      <a:r>
                        <a:rPr sz="860" b="1">
                          <a:solidFill>
                            <a:srgbClr val="FFFFFF"/>
                          </a:solidFill>
                          <a:latin typeface="Arial" panose="020B0604020202020204"/>
                          <a:ea typeface="Arial" panose="020B0604020202020204"/>
                          <a:cs typeface="Arial" panose="020B0604020202020204"/>
                        </a:rPr>
                        <a:t>Dòng thêm / xóa†</a:t>
                      </a:r>
                      <a:endParaRPr sz="860" b="1">
                        <a:solidFill>
                          <a:srgbClr val="FFFFFF"/>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112739"/>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Loki-sama119 (định danh Git)</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215</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113</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77</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r>
                        <a:rPr sz="860" b="0">
                          <a:solidFill>
                            <a:srgbClr val="1C3445"/>
                          </a:solidFill>
                          <a:latin typeface="Arial" panose="020B0604020202020204"/>
                          <a:ea typeface="Arial" panose="020B0604020202020204"/>
                          <a:cs typeface="Arial" panose="020B0604020202020204"/>
                        </a:rPr>
                        <a:t>+128.239 / −98.373</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nongquangtiep</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83</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55</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34</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r>
                        <a:rPr sz="860" b="0">
                          <a:solidFill>
                            <a:srgbClr val="1C3445"/>
                          </a:solidFill>
                          <a:latin typeface="Arial" panose="020B0604020202020204"/>
                          <a:ea typeface="Arial" panose="020B0604020202020204"/>
                          <a:cs typeface="Arial" panose="020B0604020202020204"/>
                        </a:rPr>
                        <a:t>+160.767 / −41.964</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thaontt475-wq (Thảo)</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77</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28</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17</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r>
                        <a:rPr sz="860" b="0">
                          <a:solidFill>
                            <a:srgbClr val="1C3445"/>
                          </a:solidFill>
                          <a:latin typeface="Arial" panose="020B0604020202020204"/>
                          <a:ea typeface="Arial" panose="020B0604020202020204"/>
                          <a:cs typeface="Arial" panose="020B0604020202020204"/>
                        </a:rPr>
                        <a:t>+15.064 / −7.733</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VieTien9 (Việt Tiến)</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16</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16</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8</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r>
                        <a:rPr sz="860" b="0">
                          <a:solidFill>
                            <a:srgbClr val="1C3445"/>
                          </a:solidFill>
                          <a:latin typeface="Arial" panose="020B0604020202020204"/>
                          <a:ea typeface="Arial" panose="020B0604020202020204"/>
                          <a:cs typeface="Arial" panose="020B0604020202020204"/>
                        </a:rPr>
                        <a:t>+17.279 / −570</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hoangvanthang06</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15</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13</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2</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r>
                        <a:rPr sz="860" b="0">
                          <a:solidFill>
                            <a:srgbClr val="1C3445"/>
                          </a:solidFill>
                          <a:latin typeface="Arial" panose="020B0604020202020204"/>
                          <a:ea typeface="Arial" panose="020B0604020202020204"/>
                          <a:cs typeface="Arial" panose="020B0604020202020204"/>
                        </a:rPr>
                        <a:t>+6.337 / −858</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toannguyendinh4290</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4</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4</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4</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c>
                  <a:txBody>
                    <a:bodyPr wrap="none"/>
                    <a:lstStyle/>
                    <a:p>
                      <a:r>
                        <a:rPr sz="860" b="0">
                          <a:solidFill>
                            <a:srgbClr val="1C3445"/>
                          </a:solidFill>
                          <a:latin typeface="Arial" panose="020B0604020202020204"/>
                          <a:ea typeface="Arial" panose="020B0604020202020204"/>
                          <a:cs typeface="Arial" panose="020B0604020202020204"/>
                        </a:rPr>
                        <a:t>+1.717 / −28</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2F6F8"/>
                    </a:solidFill>
                  </a:tcPr>
                </a:tc>
              </a:tr>
              <a:tr h="258775">
                <a:tc>
                  <a:txBody>
                    <a:bodyPr wrap="none"/>
                    <a:lstStyle/>
                    <a:p>
                      <a:r>
                        <a:rPr sz="870" b="0">
                          <a:solidFill>
                            <a:srgbClr val="1C3445"/>
                          </a:solidFill>
                          <a:latin typeface="Arial" panose="020B0604020202020204"/>
                          <a:ea typeface="Arial" panose="020B0604020202020204"/>
                          <a:cs typeface="Arial" panose="020B0604020202020204"/>
                        </a:rPr>
                        <a:t>Chưa quy chủ (email mẫu)</a:t>
                      </a:r>
                      <a:endParaRPr sz="87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5</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pPr algn="ctr">
                        <a:buNone/>
                      </a:pPr>
                      <a:r>
                        <a:rPr sz="900" b="0">
                          <a:solidFill>
                            <a:srgbClr val="1C3445"/>
                          </a:solidFill>
                          <a:latin typeface="Arial" panose="020B0604020202020204"/>
                          <a:ea typeface="Arial" panose="020B0604020202020204"/>
                          <a:cs typeface="Arial" panose="020B0604020202020204"/>
                        </a:rPr>
                        <a:t>—</a:t>
                      </a:r>
                      <a:endParaRPr sz="90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c>
                  <a:txBody>
                    <a:bodyPr wrap="none"/>
                    <a:lstStyle/>
                    <a:p>
                      <a:r>
                        <a:rPr sz="860" b="0">
                          <a:solidFill>
                            <a:srgbClr val="1C3445"/>
                          </a:solidFill>
                          <a:latin typeface="Arial" panose="020B0604020202020204"/>
                          <a:ea typeface="Arial" panose="020B0604020202020204"/>
                          <a:cs typeface="Arial" panose="020B0604020202020204"/>
                        </a:rPr>
                        <a:t>Chưa liên kết</a:t>
                      </a:r>
                      <a:endParaRPr sz="860" b="0">
                        <a:solidFill>
                          <a:srgbClr val="1C3445"/>
                        </a:solidFill>
                        <a:latin typeface="Arial" panose="020B0604020202020204"/>
                        <a:ea typeface="Arial" panose="020B0604020202020204"/>
                        <a:cs typeface="Arial" panose="020B0604020202020204"/>
                      </a:endParaRPr>
                    </a:p>
                  </a:txBody>
                  <a:tcPr marL="54864" marR="27432" marT="18288" marB="13716" anchor="ctr">
                    <a:lnB w="4000">
                      <a:solidFill>
                        <a:srgbClr val="D7DEE3"/>
                      </a:solidFill>
                    </a:lnB>
                    <a:solidFill>
                      <a:srgbClr val="FFFFFF"/>
                    </a:solidFill>
                  </a:tcPr>
                </a:tc>
              </a:tr>
            </a:tbl>
          </a:graphicData>
        </a:graphic>
      </p:graphicFrame>
      <p:pic>
        <p:nvPicPr>
          <p:cNvPr id="201" name="Picture 200"/>
          <p:cNvPicPr>
            <a:picLocks noChangeAspect="1"/>
          </p:cNvPicPr>
          <p:nvPr/>
        </p:nvPicPr>
        <p:blipFill>
          <a:blip r:embed="rId3"/>
          <a:stretch>
            <a:fillRect/>
          </a:stretch>
        </p:blipFill>
        <p:spPr>
          <a:xfrm>
            <a:off x="7534656" y="2029968"/>
            <a:ext cx="3730752" cy="2697480"/>
          </a:xfrm>
          <a:prstGeom prst="rect">
            <a:avLst/>
          </a:prstGeom>
        </p:spPr>
      </p:pic>
      <p:sp>
        <p:nvSpPr>
          <p:cNvPr id="202" name="TextBox 201"/>
          <p:cNvSpPr>
            <a:spLocks noGrp="1"/>
          </p:cNvSpPr>
          <p:nvPr/>
        </p:nvSpPr>
        <p:spPr>
          <a:xfrm>
            <a:off x="7543800" y="4828032"/>
            <a:ext cx="3694176" cy="201168"/>
          </a:xfrm>
          <a:prstGeom prst="rect">
            <a:avLst/>
          </a:prstGeom>
          <a:noFill/>
        </p:spPr>
        <p:txBody>
          <a:bodyPr wrap="square" lIns="18288" tIns="9144" rIns="18288" bIns="9144">
            <a:spAutoFit/>
          </a:bodyPr>
          <a:lstStyle/>
          <a:p>
            <a:pPr algn="ctr">
              <a:buNone/>
            </a:pPr>
            <a:r>
              <a:rPr sz="1020" b="1">
                <a:solidFill>
                  <a:srgbClr val="265797"/>
                </a:solidFill>
                <a:latin typeface="Arial" panose="020B0604020202020204"/>
                <a:ea typeface="Arial" panose="020B0604020202020204"/>
                <a:cs typeface="Arial" panose="020B0604020202020204"/>
              </a:rPr>
              <a:t>ẢNH THỰC TẾ · GITHUB CONTRIBUTORS · 23/10/2026</a:t>
            </a:r>
            <a:endParaRPr sz="1020" b="1">
              <a:solidFill>
                <a:srgbClr val="265797"/>
              </a:solidFill>
              <a:latin typeface="Arial" panose="020B0604020202020204"/>
              <a:ea typeface="Arial" panose="020B0604020202020204"/>
              <a:cs typeface="Arial" panose="020B0604020202020204"/>
            </a:endParaRPr>
          </a:p>
        </p:txBody>
      </p:sp>
      <p:sp>
        <p:nvSpPr>
          <p:cNvPr id="203" name="TextBox 202"/>
          <p:cNvSpPr>
            <a:spLocks noGrp="1"/>
          </p:cNvSpPr>
          <p:nvPr/>
        </p:nvSpPr>
        <p:spPr>
          <a:xfrm>
            <a:off x="7598664" y="5093208"/>
            <a:ext cx="3639312" cy="463550"/>
          </a:xfrm>
          <a:prstGeom prst="rect">
            <a:avLst/>
          </a:prstGeom>
          <a:noFill/>
        </p:spPr>
        <p:txBody>
          <a:bodyPr wrap="square" lIns="18288" tIns="9144" rIns="18288" bIns="9144">
            <a:spAutoFit/>
          </a:bodyPr>
          <a:lstStyle/>
          <a:p>
            <a:pPr algn="ctr">
              <a:buNone/>
            </a:pPr>
            <a:r>
              <a:rPr sz="970" b="0">
                <a:solidFill>
                  <a:srgbClr val="3F4F5E"/>
                </a:solidFill>
                <a:latin typeface="Arial" panose="020B0604020202020204"/>
                <a:ea typeface="Arial" panose="020B0604020202020204"/>
                <a:cs typeface="Arial" panose="020B0604020202020204"/>
              </a:rPr>
              <a:t>6 tài khoản đã được ghi nhận; tổng 229 commit không merge hiển thị.</a:t>
            </a:r>
            <a:endParaRPr sz="970" b="0">
              <a:solidFill>
                <a:srgbClr val="3F4F5E"/>
              </a:solidFill>
              <a:latin typeface="Arial" panose="020B0604020202020204"/>
              <a:ea typeface="Arial" panose="020B0604020202020204"/>
              <a:cs typeface="Arial" panose="020B0604020202020204"/>
            </a:endParaRPr>
          </a:p>
          <a:p>
            <a:pPr algn="ctr">
              <a:buNone/>
            </a:pPr>
            <a:r>
              <a:rPr sz="970" b="0">
                <a:solidFill>
                  <a:srgbClr val="3F4F5E"/>
                </a:solidFill>
                <a:latin typeface="Arial" panose="020B0604020202020204"/>
                <a:ea typeface="Arial" panose="020B0604020202020204"/>
                <a:cs typeface="Arial" panose="020B0604020202020204"/>
              </a:rPr>
              <a:t>5 commit email mẫu chưa liên kết</a:t>
            </a:r>
            <a:endParaRPr sz="970" b="0">
              <a:solidFill>
                <a:srgbClr val="3F4F5E"/>
              </a:solidFill>
              <a:latin typeface="Arial" panose="020B0604020202020204"/>
              <a:ea typeface="Arial" panose="020B0604020202020204"/>
              <a:cs typeface="Arial" panose="020B0604020202020204"/>
            </a:endParaRPr>
          </a:p>
        </p:txBody>
      </p:sp>
      <p:sp>
        <p:nvSpPr>
          <p:cNvPr id="204" name="TextBox 203"/>
          <p:cNvSpPr>
            <a:spLocks noGrp="1"/>
          </p:cNvSpPr>
          <p:nvPr/>
        </p:nvSpPr>
        <p:spPr>
          <a:xfrm>
            <a:off x="9311005" y="5623560"/>
            <a:ext cx="214630" cy="138430"/>
          </a:xfrm>
          <a:prstGeom prst="rect">
            <a:avLst/>
          </a:prstGeom>
          <a:noFill/>
        </p:spPr>
        <p:txBody>
          <a:bodyPr wrap="none" tIns="0" bIns="0">
            <a:spAutoFit/>
          </a:bodyPr>
          <a:lstStyle/>
          <a:p>
            <a:pPr algn="ctr">
              <a:buNone/>
            </a:pPr>
            <a:r>
              <a:rPr sz="900">
                <a:solidFill>
                  <a:srgbClr val="485563"/>
                </a:solidFill>
                <a:latin typeface="Arial" panose="020B0604020202020204"/>
                <a:ea typeface="Arial" panose="020B0604020202020204"/>
                <a:cs typeface="Arial" panose="020B0604020202020204"/>
              </a:rPr>
              <a:t> </a:t>
            </a:r>
            <a:endParaRPr sz="900">
              <a:solidFill>
                <a:srgbClr val="485563"/>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205" name="Google Shape;205;p10"/>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06 — MINH CHỨNG GIT</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06" name="Google Shape;206;p10"/>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Quy trình Git &amp; Pull Request tiêu biểu</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207" name="Google Shape;207;p10"/>
          <p:cNvSpPr>
            <a:spLocks noGrp="1"/>
          </p:cNvSpPr>
          <p:nvPr/>
        </p:nvSpPr>
        <p:spPr>
          <a:xfrm>
            <a:off x="812800" y="1803350"/>
            <a:ext cx="5363210"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Mô hình nhánh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208" name="Google Shape;208;p10"/>
          <p:cNvSpPr>
            <a:spLocks noGrp="1"/>
          </p:cNvSpPr>
          <p:nvPr/>
        </p:nvSpPr>
        <p:spPr>
          <a:xfrm>
            <a:off x="812800" y="2230041"/>
            <a:ext cx="1127770" cy="365720"/>
          </a:xfrm>
          <a:prstGeom prst="roundRect">
            <a:avLst>
              <a:gd name="adj" fmla="val 48616"/>
            </a:avLst>
          </a:prstGeom>
          <a:solidFill>
            <a:srgbClr val="2556C4"/>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209" name="Google Shape;209;p10"/>
          <p:cNvSpPr>
            <a:spLocks noGrp="1"/>
          </p:cNvSpPr>
          <p:nvPr/>
        </p:nvSpPr>
        <p:spPr>
          <a:xfrm>
            <a:off x="965200" y="2306241"/>
            <a:ext cx="87377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6F7F4"/>
              </a:buClr>
              <a:buSzPts val="1200"/>
              <a:buFont typeface="JetBrains Mono" panose="02000009000000000000"/>
              <a:buNone/>
            </a:pPr>
            <a:r>
              <a:rPr sz="1200" b="0" i="0" u="none" strike="noStrike" cap="none">
                <a:solidFill>
                  <a:srgbClr val="F6F7F4"/>
                </a:solidFill>
                <a:latin typeface="JetBrains Mono" panose="02000009000000000000"/>
                <a:ea typeface="JetBrains Mono" panose="02000009000000000000"/>
                <a:cs typeface="JetBrains Mono" panose="02000009000000000000"/>
              </a:rPr>
              <a:t>feature/*</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10" name="Google Shape;210;p10"/>
          <p:cNvPicPr>
            <a:picLocks noChangeAspect="1"/>
          </p:cNvPicPr>
          <p:nvPr/>
        </p:nvPicPr>
        <p:blipFill rotWithShape="1">
          <a:blip r:embed="rId1"/>
          <a:srcRect/>
          <a:stretch>
            <a:fillRect/>
          </a:stretch>
        </p:blipFill>
        <p:spPr>
          <a:xfrm>
            <a:off x="2042170" y="2324001"/>
            <a:ext cx="355600" cy="177800"/>
          </a:xfrm>
          <a:prstGeom prst="rect">
            <a:avLst/>
          </a:prstGeom>
          <a:ln>
            <a:noFill/>
          </a:ln>
        </p:spPr>
      </p:pic>
      <p:sp>
        <p:nvSpPr>
          <p:cNvPr id="211" name="Google Shape;211;p10"/>
          <p:cNvSpPr>
            <a:spLocks noGrp="1"/>
          </p:cNvSpPr>
          <p:nvPr/>
        </p:nvSpPr>
        <p:spPr>
          <a:xfrm>
            <a:off x="2499370" y="2230041"/>
            <a:ext cx="944910" cy="365720"/>
          </a:xfrm>
          <a:prstGeom prst="roundRect">
            <a:avLst>
              <a:gd name="adj" fmla="val 48616"/>
            </a:avLst>
          </a:prstGeom>
          <a:solidFill>
            <a:srgbClr val="12263A"/>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212" name="Google Shape;212;p10"/>
          <p:cNvSpPr>
            <a:spLocks noGrp="1"/>
          </p:cNvSpPr>
          <p:nvPr/>
        </p:nvSpPr>
        <p:spPr>
          <a:xfrm>
            <a:off x="2651770" y="2306241"/>
            <a:ext cx="69091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6F7F4"/>
              </a:buClr>
              <a:buSzPts val="1200"/>
              <a:buFont typeface="JetBrains Mono" panose="02000009000000000000"/>
              <a:buNone/>
            </a:pPr>
            <a:r>
              <a:rPr sz="1200" b="0" i="0" u="none" strike="noStrike" cap="none">
                <a:solidFill>
                  <a:srgbClr val="F6F7F4"/>
                </a:solidFill>
                <a:latin typeface="JetBrains Mono" panose="02000009000000000000"/>
                <a:ea typeface="JetBrains Mono" panose="02000009000000000000"/>
                <a:cs typeface="JetBrains Mono" panose="02000009000000000000"/>
              </a:rPr>
              <a:t>develop</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13" name="Google Shape;213;p10"/>
          <p:cNvPicPr>
            <a:picLocks noChangeAspect="1"/>
          </p:cNvPicPr>
          <p:nvPr/>
        </p:nvPicPr>
        <p:blipFill rotWithShape="1">
          <a:blip r:embed="rId1"/>
          <a:srcRect/>
          <a:stretch>
            <a:fillRect/>
          </a:stretch>
        </p:blipFill>
        <p:spPr>
          <a:xfrm>
            <a:off x="3545880" y="2324001"/>
            <a:ext cx="355600" cy="177800"/>
          </a:xfrm>
          <a:prstGeom prst="rect">
            <a:avLst/>
          </a:prstGeom>
          <a:ln>
            <a:noFill/>
          </a:ln>
        </p:spPr>
      </p:pic>
      <p:sp>
        <p:nvSpPr>
          <p:cNvPr id="214" name="Google Shape;214;p10"/>
          <p:cNvSpPr>
            <a:spLocks noGrp="1"/>
          </p:cNvSpPr>
          <p:nvPr/>
        </p:nvSpPr>
        <p:spPr>
          <a:xfrm>
            <a:off x="4003080" y="2230041"/>
            <a:ext cx="670570" cy="365720"/>
          </a:xfrm>
          <a:prstGeom prst="roundRect">
            <a:avLst>
              <a:gd name="adj" fmla="val 48616"/>
            </a:avLst>
          </a:prstGeom>
          <a:solidFill>
            <a:srgbClr val="F28C28"/>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215" name="Google Shape;215;p10"/>
          <p:cNvSpPr>
            <a:spLocks noGrp="1"/>
          </p:cNvSpPr>
          <p:nvPr/>
        </p:nvSpPr>
        <p:spPr>
          <a:xfrm>
            <a:off x="4155480" y="2306241"/>
            <a:ext cx="41657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JetBrains Mono" panose="02000009000000000000"/>
              <a:buNone/>
            </a:pPr>
            <a:r>
              <a:rPr sz="1200" b="0" i="0" u="none" strike="noStrike" cap="none">
                <a:solidFill>
                  <a:srgbClr val="12263A"/>
                </a:solidFill>
                <a:latin typeface="JetBrains Mono" panose="02000009000000000000"/>
                <a:ea typeface="JetBrains Mono" panose="02000009000000000000"/>
                <a:cs typeface="JetBrains Mono" panose="02000009000000000000"/>
              </a:rPr>
              <a:t>main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16" name="Google Shape;216;p10"/>
          <p:cNvSpPr>
            <a:spLocks noGrp="1"/>
          </p:cNvSpPr>
          <p:nvPr/>
        </p:nvSpPr>
        <p:spPr>
          <a:xfrm>
            <a:off x="812800" y="2748161"/>
            <a:ext cx="536321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Merge vào develop qua PR; main chỉ nhận bản phát hành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17" name="Google Shape;217;p10"/>
          <p:cNvSpPr>
            <a:spLocks noGrp="1"/>
          </p:cNvSpPr>
          <p:nvPr/>
        </p:nvSpPr>
        <p:spPr>
          <a:xfrm>
            <a:off x="815975" y="3117056"/>
            <a:ext cx="5200650" cy="2721769"/>
          </a:xfrm>
          <a:prstGeom prst="roundRect">
            <a:avLst>
              <a:gd name="adj" fmla="val 361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218" name="Google Shape;218;p10"/>
          <p:cNvSpPr>
            <a:spLocks noGrp="1"/>
          </p:cNvSpPr>
          <p:nvPr/>
        </p:nvSpPr>
        <p:spPr>
          <a:xfrm>
            <a:off x="1022350" y="3298031"/>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Quy tắc nhóm áp dụng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219" name="Google Shape;219;p10"/>
          <p:cNvSpPr>
            <a:spLocks noGrp="1"/>
          </p:cNvSpPr>
          <p:nvPr/>
        </p:nvSpPr>
        <p:spPr>
          <a:xfrm>
            <a:off x="1022350" y="3648521"/>
            <a:ext cx="4931537" cy="102096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Tên nhánh feature/[mã ticket]-[mô tả]</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Pull → code → test → tạo PR về develop</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Review và QA trước khi merge; main do nhóm trưởng quản lý</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20" name="Google Shape;220;p10"/>
          <p:cNvSpPr>
            <a:spLocks noGrp="1"/>
          </p:cNvSpPr>
          <p:nvPr/>
        </p:nvSpPr>
        <p:spPr>
          <a:xfrm>
            <a:off x="6280150" y="1809700"/>
            <a:ext cx="5092700" cy="3711029"/>
          </a:xfrm>
          <a:prstGeom prst="roundRect">
            <a:avLst>
              <a:gd name="adj" fmla="val 2567"/>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221" name="Google Shape;221;p10"/>
          <p:cNvPicPr>
            <a:picLocks noChangeAspect="1"/>
          </p:cNvPicPr>
          <p:nvPr/>
        </p:nvPicPr>
        <p:blipFill rotWithShape="1">
          <a:blip r:embed="rId2"/>
          <a:srcRect/>
          <a:stretch>
            <a:fillRect/>
          </a:stretch>
        </p:blipFill>
        <p:spPr>
          <a:xfrm>
            <a:off x="8623300" y="3154710"/>
            <a:ext cx="406400" cy="406400"/>
          </a:xfrm>
          <a:prstGeom prst="rect">
            <a:avLst/>
          </a:prstGeom>
          <a:ln>
            <a:noFill/>
          </a:ln>
        </p:spPr>
      </p:pic>
      <p:sp>
        <p:nvSpPr>
          <p:cNvPr id="222" name="Google Shape;222;p10"/>
          <p:cNvSpPr>
            <a:spLocks noGrp="1"/>
          </p:cNvSpPr>
          <p:nvPr/>
        </p:nvSpPr>
        <p:spPr>
          <a:xfrm>
            <a:off x="7034710" y="3637310"/>
            <a:ext cx="3583581"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23" name="Google Shape;223;p10"/>
          <p:cNvSpPr>
            <a:spLocks noGrp="1"/>
          </p:cNvSpPr>
          <p:nvPr/>
        </p:nvSpPr>
        <p:spPr>
          <a:xfrm>
            <a:off x="6962458" y="3962400"/>
            <a:ext cx="3728085" cy="23872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24" name="Google Shape;224;p10"/>
          <p:cNvSpPr>
            <a:spLocks noGrp="1"/>
          </p:cNvSpPr>
          <p:nvPr/>
        </p:nvSpPr>
        <p:spPr>
          <a:xfrm>
            <a:off x="6273800" y="5628680"/>
            <a:ext cx="525856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200"/>
              <a:buFont typeface="Be Vietnam Pro"/>
              <a:buNone/>
            </a:pPr>
            <a:r>
              <a:rPr sz="1000" b="0" i="0" u="none" strike="noStrike" cap="none">
                <a:solidFill>
                  <a:srgbClr val="3F4A57"/>
                </a:solidFill>
                <a:latin typeface="Be Vietnam Pro"/>
                <a:ea typeface="Be Vietnam Pro"/>
                <a:cs typeface="Be Vietnam Pro"/>
              </a:rPr>
              <a:t>Minh chứng PR/review trích từ báo cáo gốc · yêu cầu kiểm tra bình luận trước khi trình bày</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25" name="Google Shape;225;p10"/>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26" name="Google Shape;226;p10"/>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27" name="Google Shape;227;p10"/>
          <p:cNvPicPr>
            <a:picLocks noChangeAspect="1"/>
          </p:cNvPicPr>
          <p:nvPr/>
        </p:nvPicPr>
        <p:blipFill rotWithShape="1">
          <a:blip r:embed="rId3"/>
          <a:srcRect/>
          <a:stretch>
            <a:fillRect/>
          </a:stretch>
        </p:blipFill>
        <p:spPr>
          <a:xfrm>
            <a:off x="4778375" y="203200"/>
            <a:ext cx="406400" cy="406400"/>
          </a:xfrm>
          <a:prstGeom prst="rect">
            <a:avLst/>
          </a:prstGeom>
          <a:ln>
            <a:noFill/>
          </a:ln>
        </p:spPr>
      </p:pic>
      <p:pic>
        <p:nvPicPr>
          <p:cNvPr id="228" name="Google Shape;228;p10"/>
          <p:cNvPicPr>
            <a:picLocks noChangeAspect="1"/>
          </p:cNvPicPr>
          <p:nvPr/>
        </p:nvPicPr>
        <p:blipFill rotWithShape="1">
          <a:blip r:embed="rId4"/>
          <a:srcRect t="-50" b="-50"/>
          <a:stretch>
            <a:fillRect/>
          </a:stretch>
        </p:blipFill>
        <p:spPr>
          <a:xfrm>
            <a:off x="5438775" y="203200"/>
            <a:ext cx="1974850" cy="406400"/>
          </a:xfrm>
          <a:prstGeom prst="rect">
            <a:avLst/>
          </a:prstGeom>
          <a:ln>
            <a:noFill/>
          </a:ln>
        </p:spPr>
      </p:pic>
      <p:pic>
        <p:nvPicPr>
          <p:cNvPr id="229" name="Picture 228"/>
          <p:cNvPicPr>
            <a:picLocks noChangeAspect="1"/>
          </p:cNvPicPr>
          <p:nvPr/>
        </p:nvPicPr>
        <p:blipFill>
          <a:blip r:embed="rId5"/>
          <a:stretch>
            <a:fillRect/>
          </a:stretch>
        </p:blipFill>
        <p:spPr>
          <a:xfrm>
            <a:off x="6355080" y="2604739"/>
            <a:ext cx="2286000" cy="1739960"/>
          </a:xfrm>
          <a:prstGeom prst="rect">
            <a:avLst/>
          </a:prstGeom>
        </p:spPr>
      </p:pic>
      <p:pic>
        <p:nvPicPr>
          <p:cNvPr id="230" name="Picture 229"/>
          <p:cNvPicPr>
            <a:picLocks noChangeAspect="1"/>
          </p:cNvPicPr>
          <p:nvPr/>
        </p:nvPicPr>
        <p:blipFill>
          <a:blip r:embed="rId6"/>
          <a:stretch>
            <a:fillRect/>
          </a:stretch>
        </p:blipFill>
        <p:spPr>
          <a:xfrm>
            <a:off x="8823960" y="2501900"/>
            <a:ext cx="2286000" cy="1945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234" name="Google Shape;234;p11"/>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07 — KẾT QUẢ SẢN PHẨM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35" name="Google Shape;235;p11"/>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Sản phẩm đã hoàn thành</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236" name="Google Shape;236;p11"/>
          <p:cNvSpPr>
            <a:spLocks noGrp="1"/>
          </p:cNvSpPr>
          <p:nvPr/>
        </p:nvSpPr>
        <p:spPr>
          <a:xfrm>
            <a:off x="819150" y="1809700"/>
            <a:ext cx="623570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237" name="Google Shape;237;p11"/>
          <p:cNvPicPr>
            <a:picLocks noChangeAspect="1"/>
          </p:cNvPicPr>
          <p:nvPr/>
        </p:nvPicPr>
        <p:blipFill rotWithShape="1">
          <a:blip r:embed="rId1"/>
          <a:srcRect/>
          <a:stretch>
            <a:fillRect/>
          </a:stretch>
        </p:blipFill>
        <p:spPr>
          <a:xfrm>
            <a:off x="3733800" y="3312170"/>
            <a:ext cx="406400" cy="406400"/>
          </a:xfrm>
          <a:prstGeom prst="rect">
            <a:avLst/>
          </a:prstGeom>
          <a:ln>
            <a:noFill/>
          </a:ln>
        </p:spPr>
      </p:pic>
      <p:sp>
        <p:nvSpPr>
          <p:cNvPr id="238" name="Google Shape;238;p11"/>
          <p:cNvSpPr>
            <a:spLocks noGrp="1"/>
          </p:cNvSpPr>
          <p:nvPr/>
        </p:nvSpPr>
        <p:spPr>
          <a:xfrm>
            <a:off x="2178065" y="3794770"/>
            <a:ext cx="3517869"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39" name="Google Shape;239;p11"/>
          <p:cNvSpPr>
            <a:spLocks noGrp="1"/>
          </p:cNvSpPr>
          <p:nvPr/>
        </p:nvSpPr>
        <p:spPr>
          <a:xfrm>
            <a:off x="2557976" y="4119860"/>
            <a:ext cx="2758047" cy="23872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40" name="Google Shape;240;p11"/>
          <p:cNvSpPr>
            <a:spLocks noGrp="1"/>
          </p:cNvSpPr>
          <p:nvPr/>
        </p:nvSpPr>
        <p:spPr>
          <a:xfrm>
            <a:off x="7318375" y="1806525"/>
            <a:ext cx="4057650" cy="1708001"/>
          </a:xfrm>
          <a:prstGeom prst="roundRect">
            <a:avLst>
              <a:gd name="adj" fmla="val 5763"/>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241" name="Google Shape;241;p11"/>
          <p:cNvSpPr>
            <a:spLocks noGrp="1"/>
          </p:cNvSpPr>
          <p:nvPr/>
        </p:nvSpPr>
        <p:spPr>
          <a:xfrm>
            <a:off x="7524750" y="1987500"/>
            <a:ext cx="375424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Tính năng chính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242" name="Google Shape;242;p11"/>
          <p:cNvSpPr>
            <a:spLocks noGrp="1"/>
          </p:cNvSpPr>
          <p:nvPr/>
        </p:nvSpPr>
        <p:spPr>
          <a:xfrm>
            <a:off x="7524750" y="2337991"/>
            <a:ext cx="3754247" cy="102096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 Tài khoản, đăng nhập, phân quyền</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Sản phẩm, bảng giá, danh mục</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Customer 360, liên hệ &amp; import</a:t>
            </a:r>
            <a:br>
              <a:rPr sz="1300" b="0" i="0" u="none" strike="noStrike" cap="none">
                <a:solidFill>
                  <a:srgbClr val="3F4A57"/>
                </a:solidFill>
                <a:latin typeface="Be Vietnam Pro"/>
                <a:ea typeface="Be Vietnam Pro"/>
                <a:cs typeface="Be Vietnam Pro"/>
              </a:rPr>
            </a:br>
            <a:r>
              <a:rPr sz="1300" b="0" i="0" u="none" strike="noStrike" cap="none">
                <a:solidFill>
                  <a:srgbClr val="3F4A57"/>
                </a:solidFill>
                <a:latin typeface="Be Vietnam Pro"/>
                <a:ea typeface="Be Vietnam Pro"/>
                <a:cs typeface="Be Vietnam Pro"/>
              </a:rPr>
              <a:t>• Lead, chấm điểm, phân bổ, chuyển đổi</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43" name="Google Shape;243;p11"/>
          <p:cNvSpPr>
            <a:spLocks noGrp="1"/>
          </p:cNvSpPr>
          <p:nvPr/>
        </p:nvSpPr>
        <p:spPr>
          <a:xfrm>
            <a:off x="7318375" y="3673277"/>
            <a:ext cx="4057650" cy="2165548"/>
          </a:xfrm>
          <a:prstGeom prst="roundRect">
            <a:avLst>
              <a:gd name="adj" fmla="val 4545"/>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244" name="Google Shape;244;p11"/>
          <p:cNvSpPr>
            <a:spLocks noGrp="1"/>
          </p:cNvSpPr>
          <p:nvPr/>
        </p:nvSpPr>
        <p:spPr>
          <a:xfrm>
            <a:off x="7524750" y="3854252"/>
            <a:ext cx="375424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Truy cập sản phẩm</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245" name="Google Shape;245;p11"/>
          <p:cNvSpPr>
            <a:spLocks noGrp="1"/>
          </p:cNvSpPr>
          <p:nvPr/>
        </p:nvSpPr>
        <p:spPr>
          <a:xfrm>
            <a:off x="7524750" y="4204742"/>
            <a:ext cx="3754247" cy="126985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200" b="1" i="0" u="none" strike="noStrike" cap="none">
                <a:solidFill>
                  <a:srgbClr val="3F4A57"/>
                </a:solidFill>
                <a:latin typeface="Be Vietnam Pro"/>
                <a:ea typeface="Be Vietnam Pro"/>
                <a:cs typeface="Be Vietnam Pro"/>
              </a:rPr>
              <a:t>Web app CRM — demo phạm vi S1–4</a:t>
            </a:r>
            <a:br>
              <a:rPr sz="1200" b="1" i="0" u="none" strike="noStrike" cap="none">
                <a:solidFill>
                  <a:srgbClr val="3F4A57"/>
                </a:solidFill>
                <a:latin typeface="Be Vietnam Pro"/>
                <a:ea typeface="Be Vietnam Pro"/>
                <a:cs typeface="Be Vietnam Pro"/>
              </a:rPr>
            </a:br>
            <a:r>
              <a:rPr sz="1200" b="1" i="0" u="none" strike="noStrike" cap="none">
                <a:solidFill>
                  <a:srgbClr val="3F4A57"/>
                </a:solidFill>
                <a:latin typeface="Be Vietnam Pro"/>
                <a:ea typeface="Be Vietnam Pro"/>
                <a:cs typeface="Be Vietnam Pro"/>
              </a:rPr>
              <a:t>Mã nguồn: GitHub nhóm 5</a:t>
            </a:r>
            <a:br>
              <a:rPr sz="1200" b="1" i="0" u="none" strike="noStrike" cap="none">
                <a:solidFill>
                  <a:srgbClr val="3F4A57"/>
                </a:solidFill>
                <a:latin typeface="Be Vietnam Pro"/>
                <a:ea typeface="Be Vietnam Pro"/>
                <a:cs typeface="Be Vietnam Pro"/>
              </a:rPr>
            </a:br>
            <a:r>
              <a:rPr sz="1200" b="1" i="0" u="none" strike="noStrike" cap="none">
                <a:solidFill>
                  <a:srgbClr val="3F4A57"/>
                </a:solidFill>
                <a:latin typeface="Be Vietnam Pro"/>
                <a:ea typeface="Be Vietnam Pro"/>
                <a:cs typeface="Be Vietnam Pro"/>
              </a:rPr>
              <a:t>Video demo: chưa cung cấp trong tài liệu</a:t>
            </a:r>
            <a:br>
              <a:rPr sz="1200" b="1" i="0" u="none" strike="noStrike" cap="none">
                <a:solidFill>
                  <a:srgbClr val="3F4A57"/>
                </a:solidFill>
                <a:latin typeface="Be Vietnam Pro"/>
                <a:ea typeface="Be Vietnam Pro"/>
                <a:cs typeface="Be Vietnam Pro"/>
              </a:rPr>
            </a:br>
            <a:r>
              <a:rPr sz="1200" b="1" i="0" u="none" strike="noStrike" cap="none">
                <a:solidFill>
                  <a:srgbClr val="3F4A57"/>
                </a:solidFill>
                <a:latin typeface="Be Vietnam Pro"/>
                <a:ea typeface="Be Vietnam Pro"/>
                <a:cs typeface="Be Vietnam Pro"/>
              </a:rPr>
              <a:t>Hoàn thiện: 38/38 Story · 172/172 SP</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46" name="Google Shape;246;p11"/>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47" name="Google Shape;247;p11"/>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48" name="Google Shape;248;p11"/>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249" name="Google Shape;249;p11"/>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250" name="Picture 249"/>
          <p:cNvPicPr>
            <a:picLocks noChangeAspect="1"/>
          </p:cNvPicPr>
          <p:nvPr/>
        </p:nvPicPr>
        <p:blipFill>
          <a:blip r:embed="rId4"/>
          <a:stretch>
            <a:fillRect/>
          </a:stretch>
        </p:blipFill>
        <p:spPr>
          <a:xfrm>
            <a:off x="914400" y="2260353"/>
            <a:ext cx="5257800" cy="29590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255" name="Google Shape;255;p12"/>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08 — KỸ THUẬT</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56" name="Google Shape;256;p12"/>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Kiến trúc &amp; công nghệ</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257" name="Google Shape;257;p12"/>
          <p:cNvSpPr>
            <a:spLocks noGrp="1"/>
          </p:cNvSpPr>
          <p:nvPr/>
        </p:nvSpPr>
        <p:spPr>
          <a:xfrm>
            <a:off x="819150" y="1809700"/>
            <a:ext cx="5727700" cy="4025950"/>
          </a:xfrm>
          <a:prstGeom prst="roundRect">
            <a:avLst>
              <a:gd name="adj" fmla="val 2366"/>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258" name="Google Shape;258;p12"/>
          <p:cNvPicPr>
            <a:picLocks noChangeAspect="1"/>
          </p:cNvPicPr>
          <p:nvPr/>
        </p:nvPicPr>
        <p:blipFill rotWithShape="1">
          <a:blip r:embed="rId1"/>
          <a:srcRect/>
          <a:stretch>
            <a:fillRect/>
          </a:stretch>
        </p:blipFill>
        <p:spPr>
          <a:xfrm>
            <a:off x="3479800" y="3205510"/>
            <a:ext cx="406400" cy="406400"/>
          </a:xfrm>
          <a:prstGeom prst="rect">
            <a:avLst/>
          </a:prstGeom>
          <a:ln>
            <a:noFill/>
          </a:ln>
        </p:spPr>
      </p:pic>
      <p:sp>
        <p:nvSpPr>
          <p:cNvPr id="259" name="Google Shape;259;p12"/>
          <p:cNvSpPr>
            <a:spLocks noGrp="1"/>
          </p:cNvSpPr>
          <p:nvPr/>
        </p:nvSpPr>
        <p:spPr>
          <a:xfrm>
            <a:off x="2486395" y="3688110"/>
            <a:ext cx="239321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60" name="Google Shape;260;p12"/>
          <p:cNvSpPr>
            <a:spLocks noGrp="1"/>
          </p:cNvSpPr>
          <p:nvPr/>
        </p:nvSpPr>
        <p:spPr>
          <a:xfrm>
            <a:off x="2368513" y="4013200"/>
            <a:ext cx="2628974" cy="452041"/>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61" name="Google Shape;261;p12"/>
          <p:cNvSpPr>
            <a:spLocks noGrp="1"/>
          </p:cNvSpPr>
          <p:nvPr/>
        </p:nvSpPr>
        <p:spPr>
          <a:xfrm>
            <a:off x="6807200" y="1803350"/>
            <a:ext cx="470916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LẬP TRÌNH WEB</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62" name="Google Shape;262;p12"/>
          <p:cNvSpPr>
            <a:spLocks noGrp="1"/>
          </p:cNvSpPr>
          <p:nvPr/>
        </p:nvSpPr>
        <p:spPr>
          <a:xfrm>
            <a:off x="6807200" y="2092871"/>
            <a:ext cx="4572000" cy="1349772"/>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263" name="Google Shape;263;p12"/>
          <p:cNvCxnSpPr/>
          <p:nvPr/>
        </p:nvCxnSpPr>
        <p:spPr>
          <a:xfrm>
            <a:off x="11376025" y="2092871"/>
            <a:ext cx="0" cy="1349772"/>
          </a:xfrm>
          <a:prstGeom prst="straightConnector1">
            <a:avLst/>
          </a:prstGeom>
          <a:ln w="9525" cap="flat">
            <a:solidFill>
              <a:srgbClr val="DDE1DC"/>
            </a:solidFill>
            <a:prstDash val="solid"/>
            <a:round/>
            <a:headEnd type="none" w="sm" len="sm"/>
            <a:tailEnd type="none" w="sm" len="sm"/>
          </a:ln>
        </p:spPr>
      </p:cxnSp>
      <p:cxnSp>
        <p:nvCxnSpPr>
          <p:cNvPr id="264" name="Google Shape;264;p12"/>
          <p:cNvCxnSpPr/>
          <p:nvPr/>
        </p:nvCxnSpPr>
        <p:spPr>
          <a:xfrm>
            <a:off x="6807200" y="3439468"/>
            <a:ext cx="4572000" cy="0"/>
          </a:xfrm>
          <a:prstGeom prst="straightConnector1">
            <a:avLst/>
          </a:prstGeom>
          <a:ln w="9525" cap="flat">
            <a:solidFill>
              <a:srgbClr val="DDE1DC"/>
            </a:solidFill>
            <a:prstDash val="solid"/>
            <a:round/>
            <a:headEnd type="none" w="sm" len="sm"/>
            <a:tailEnd type="none" w="sm" len="sm"/>
          </a:ln>
        </p:spPr>
      </p:cxnSp>
      <p:graphicFrame>
        <p:nvGraphicFramePr>
          <p:cNvPr id="265" name="Google Shape;265;p12"/>
          <p:cNvGraphicFramePr/>
          <p:nvPr/>
        </p:nvGraphicFramePr>
        <p:xfrm>
          <a:off x="6819900" y="2105571"/>
          <a:ext cx="4552950" cy="2487168"/>
        </p:xfrm>
        <a:graphic>
          <a:graphicData uri="http://schemas.openxmlformats.org/drawingml/2006/table">
            <a:tbl>
              <a:tblPr>
                <a:tableStyleId>{9B3969C7-C4A1-4AC8-A6FE-2D9392E11A51}</a:tableStyleId>
              </a:tblPr>
              <a:tblGrid>
                <a:gridCol w="1821175"/>
                <a:gridCol w="2731775"/>
              </a:tblGrid>
              <a:tr h="621792">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Frontend</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HTML/CSS/JavaScript, Fetch API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621792">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Backend</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Java 21, Jakarta Servlet, Maven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621792">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Cơ sở dữ liệu</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MySQL 8.x, JDBC Connector/J</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621792">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Luồng &amp; máy chủ</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100" u="none" strike="noStrike" cap="none">
                          <a:solidFill>
                            <a:srgbClr val="12263A"/>
                          </a:solidFill>
                          <a:latin typeface="Aptos"/>
                          <a:ea typeface="Aptos"/>
                          <a:cs typeface="Aptos"/>
                        </a:rPr>
                        <a:t>Filter → Servlet → Service → DAO; Tomcat 10.1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266" name="Google Shape;266;p12"/>
          <p:cNvSpPr>
            <a:spLocks noGrp="1"/>
          </p:cNvSpPr>
          <p:nvPr/>
        </p:nvSpPr>
        <p:spPr>
          <a:xfrm>
            <a:off x="6807200" y="3595043"/>
            <a:ext cx="470916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67" name="Google Shape;267;p12"/>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68" name="Google Shape;268;p12"/>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69" name="Google Shape;269;p12"/>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270" name="Google Shape;270;p12"/>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271" name="Picture 270"/>
          <p:cNvPicPr>
            <a:picLocks noChangeAspect="1"/>
          </p:cNvPicPr>
          <p:nvPr/>
        </p:nvPicPr>
        <p:blipFill>
          <a:blip r:embed="rId4"/>
          <a:stretch>
            <a:fillRect/>
          </a:stretch>
        </p:blipFill>
        <p:spPr>
          <a:xfrm>
            <a:off x="914400" y="2209829"/>
            <a:ext cx="5330952" cy="29778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276" name="Google Shape;276;p13"/>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09 — KẾT QUẢ SẢN PHẨM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77" name="Google Shape;277;p13"/>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Mục tiêu đầu kỳ ↔ Kết quả thực tế</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278" name="Google Shape;278;p13"/>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279" name="Google Shape;279;p13"/>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280" name="Google Shape;280;p13"/>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281" name="Google Shape;281;p13"/>
          <p:cNvGraphicFramePr/>
          <p:nvPr/>
        </p:nvGraphicFramePr>
        <p:xfrm>
          <a:off x="825500" y="1816050"/>
          <a:ext cx="10547375" cy="2249424"/>
        </p:xfrm>
        <a:graphic>
          <a:graphicData uri="http://schemas.openxmlformats.org/drawingml/2006/table">
            <a:tbl>
              <a:tblPr>
                <a:tableStyleId>{9B3969C7-C4A1-4AC8-A6FE-2D9392E11A51}</a:tableStyleId>
              </a:tblPr>
              <a:tblGrid>
                <a:gridCol w="632850"/>
                <a:gridCol w="2320425"/>
                <a:gridCol w="2531375"/>
                <a:gridCol w="2531375"/>
                <a:gridCol w="1265675"/>
                <a:gridCol w="1265675"/>
              </a:tblGrid>
              <a:tr h="374904">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STT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Tính năng / màn chơi</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Mục tiêu đầu kỳ</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Kết quả thực tế</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Trạng thái</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74904">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Tài khoản &amp; quyền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Đăng nhập, phân quyền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S1 · 10 story · 42 SP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2556C4"/>
                        </a:buClr>
                        <a:buSzPts val="1200"/>
                        <a:buFont typeface="Be Vietnam Pro"/>
                        <a:buNone/>
                      </a:pPr>
                      <a:r>
                        <a:rPr sz="1000" u="none" strike="noStrike" cap="none">
                          <a:solidFill>
                            <a:srgbClr val="2556C4"/>
                          </a:solidFill>
                          <a:latin typeface="Aptos"/>
                          <a:ea typeface="Aptos"/>
                          <a:cs typeface="Aptos"/>
                        </a:rPr>
                        <a:t>Hoàn thành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CRM-8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74904">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Danh mục, cấu hình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Sản phẩm, giá, tổ chức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S2 · 10 story · 43 SP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A35200"/>
                        </a:buClr>
                        <a:buSzPts val="1200"/>
                        <a:buFont typeface="Be Vietnam Pro"/>
                        <a:buNone/>
                      </a:pPr>
                      <a:r>
                        <a:rPr sz="1000" u="none" strike="noStrike" cap="none">
                          <a:solidFill>
                            <a:srgbClr val="A35200"/>
                          </a:solidFill>
                          <a:latin typeface="Aptos"/>
                          <a:ea typeface="Aptos"/>
                          <a:cs typeface="Aptos"/>
                        </a:rPr>
                        <a:t>Hoàn thành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CRM-9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74904">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Khách hàng, liên hệ</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Customer 360, import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S3 · 9 story · 42 SP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5A6573"/>
                        </a:buClr>
                        <a:buSzPts val="1200"/>
                        <a:buFont typeface="Be Vietnam Pro"/>
                        <a:buNone/>
                      </a:pPr>
                      <a:r>
                        <a:rPr sz="1000" u="none" strike="noStrike" cap="none">
                          <a:solidFill>
                            <a:srgbClr val="5A6573"/>
                          </a:solidFill>
                          <a:latin typeface="Aptos"/>
                          <a:ea typeface="Aptos"/>
                          <a:cs typeface="Aptos"/>
                        </a:rPr>
                        <a:t>Hoàn thành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CRM-10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74904">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Lead &amp; phân bổ</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Chấm điểm, chuyển đổi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S4 · 9 story · 45 SP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Hoàn thành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CRM-11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74904">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5</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Mở rộng sau dự án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Ngoài phạm vi S1–4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Chưa chốt SP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Đề xuất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Xem slide 37</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282" name="Google Shape;282;p13"/>
          <p:cNvSpPr>
            <a:spLocks noGrp="1"/>
          </p:cNvSpPr>
          <p:nvPr/>
        </p:nvSpPr>
        <p:spPr>
          <a:xfrm>
            <a:off x="815975" y="4075658"/>
            <a:ext cx="4526955" cy="458440"/>
          </a:xfrm>
          <a:prstGeom prst="roundRect">
            <a:avLst>
              <a:gd name="adj" fmla="val 15929"/>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283" name="Google Shape;283;p13"/>
          <p:cNvSpPr>
            <a:spLocks noGrp="1"/>
          </p:cNvSpPr>
          <p:nvPr/>
        </p:nvSpPr>
        <p:spPr>
          <a:xfrm>
            <a:off x="996950" y="4180433"/>
            <a:ext cx="4289955"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200" b="1" i="0" u="none" strike="noStrike" cap="none">
                <a:solidFill>
                  <a:srgbClr val="12263A"/>
                </a:solidFill>
                <a:latin typeface="Be Vietnam Pro"/>
                <a:ea typeface="Be Vietnam Pro"/>
                <a:cs typeface="Be Vietnam Pro"/>
              </a:rPr>
              <a:t>Hoàn thành S1–4: 38/38 Story · 172 SP · 152 sub-task Done</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284" name="Google Shape;284;p13"/>
          <p:cNvSpPr>
            <a:spLocks noGrp="1"/>
          </p:cNvSpPr>
          <p:nvPr/>
        </p:nvSpPr>
        <p:spPr>
          <a:xfrm>
            <a:off x="5498505" y="4198193"/>
            <a:ext cx="3421703"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900" b="0" i="0" u="none" strike="noStrike" cap="none">
                <a:solidFill>
                  <a:srgbClr val="5A6573"/>
                </a:solidFill>
                <a:latin typeface="Be Vietnam Pro"/>
                <a:ea typeface="Be Vietnam Pro"/>
                <a:cs typeface="Be Vietnam Pro"/>
              </a:rPr>
              <a:t>Trạng thái chốt Sprint 4; không đồng nghĩa đúng hạn từng Sprint</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85" name="Google Shape;285;p13"/>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86" name="Google Shape;286;p13"/>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287" name="Google Shape;287;p13"/>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288" name="Google Shape;288;p13"/>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294" name="Google Shape;294;p14"/>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10 — KẾT QUẢ SẢN PHẨM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95" name="Google Shape;295;p14"/>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Kết quả kiểm thử &amp; chất lượng</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296" name="Google Shape;296;p14"/>
          <p:cNvSpPr>
            <a:spLocks noGrp="1"/>
          </p:cNvSpPr>
          <p:nvPr/>
        </p:nvSpPr>
        <p:spPr>
          <a:xfrm>
            <a:off x="812800" y="1803350"/>
            <a:ext cx="25273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297" name="Google Shape;297;p14"/>
          <p:cNvCxnSpPr/>
          <p:nvPr/>
        </p:nvCxnSpPr>
        <p:spPr>
          <a:xfrm>
            <a:off x="812800" y="1822400"/>
            <a:ext cx="2527300" cy="0"/>
          </a:xfrm>
          <a:prstGeom prst="straightConnector1">
            <a:avLst/>
          </a:prstGeom>
          <a:ln w="38100" cap="flat">
            <a:solidFill>
              <a:srgbClr val="F28C28"/>
            </a:solidFill>
            <a:prstDash val="solid"/>
            <a:round/>
            <a:headEnd type="none" w="sm" len="sm"/>
            <a:tailEnd type="none" w="sm" len="sm"/>
          </a:ln>
        </p:spPr>
      </p:cxnSp>
      <p:sp>
        <p:nvSpPr>
          <p:cNvPr id="298" name="Google Shape;298;p14"/>
          <p:cNvSpPr>
            <a:spLocks noGrp="1"/>
          </p:cNvSpPr>
          <p:nvPr/>
        </p:nvSpPr>
        <p:spPr>
          <a:xfrm>
            <a:off x="990600" y="1993850"/>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Story point S1–4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299" name="Google Shape;299;p14"/>
          <p:cNvSpPr>
            <a:spLocks noGrp="1"/>
          </p:cNvSpPr>
          <p:nvPr/>
        </p:nvSpPr>
        <p:spPr>
          <a:xfrm>
            <a:off x="990600" y="2257971"/>
            <a:ext cx="223685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500" b="1" i="0" u="none" strike="noStrike" cap="none">
                <a:solidFill>
                  <a:srgbClr val="12263A"/>
                </a:solidFill>
                <a:latin typeface="Be Vietnam Pro"/>
                <a:ea typeface="Be Vietnam Pro"/>
                <a:cs typeface="Be Vietnam Pro"/>
              </a:rPr>
              <a:t>172/172</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00" name="Google Shape;300;p14"/>
          <p:cNvSpPr>
            <a:spLocks noGrp="1"/>
          </p:cNvSpPr>
          <p:nvPr/>
        </p:nvSpPr>
        <p:spPr>
          <a:xfrm>
            <a:off x="3492500" y="1803350"/>
            <a:ext cx="25273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01" name="Google Shape;301;p14"/>
          <p:cNvCxnSpPr/>
          <p:nvPr/>
        </p:nvCxnSpPr>
        <p:spPr>
          <a:xfrm>
            <a:off x="3492500" y="1822400"/>
            <a:ext cx="2527300" cy="0"/>
          </a:xfrm>
          <a:prstGeom prst="straightConnector1">
            <a:avLst/>
          </a:prstGeom>
          <a:ln w="38100" cap="flat">
            <a:solidFill>
              <a:srgbClr val="F28C28"/>
            </a:solidFill>
            <a:prstDash val="solid"/>
            <a:round/>
            <a:headEnd type="none" w="sm" len="sm"/>
            <a:tailEnd type="none" w="sm" len="sm"/>
          </a:ln>
        </p:spPr>
      </p:cxnSp>
      <p:sp>
        <p:nvSpPr>
          <p:cNvPr id="302" name="Google Shape;302;p14"/>
          <p:cNvSpPr>
            <a:spLocks noGrp="1"/>
          </p:cNvSpPr>
          <p:nvPr/>
        </p:nvSpPr>
        <p:spPr>
          <a:xfrm>
            <a:off x="3670300" y="1993850"/>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Bug retest PR #163</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03" name="Google Shape;303;p14"/>
          <p:cNvSpPr>
            <a:spLocks noGrp="1"/>
          </p:cNvSpPr>
          <p:nvPr/>
        </p:nvSpPr>
        <p:spPr>
          <a:xfrm>
            <a:off x="3670300" y="2257971"/>
            <a:ext cx="223685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500" b="1" i="0" u="none" strike="noStrike" cap="none">
                <a:solidFill>
                  <a:srgbClr val="12263A"/>
                </a:solidFill>
                <a:latin typeface="Be Vietnam Pro"/>
                <a:ea typeface="Be Vietnam Pro"/>
                <a:cs typeface="Be Vietnam Pro"/>
              </a:rPr>
              <a:t>7/7</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04" name="Google Shape;304;p14"/>
          <p:cNvSpPr>
            <a:spLocks noGrp="1"/>
          </p:cNvSpPr>
          <p:nvPr/>
        </p:nvSpPr>
        <p:spPr>
          <a:xfrm>
            <a:off x="6172200" y="1803350"/>
            <a:ext cx="25273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05" name="Google Shape;305;p14"/>
          <p:cNvCxnSpPr/>
          <p:nvPr/>
        </p:nvCxnSpPr>
        <p:spPr>
          <a:xfrm>
            <a:off x="6172200" y="1822400"/>
            <a:ext cx="2527300" cy="0"/>
          </a:xfrm>
          <a:prstGeom prst="straightConnector1">
            <a:avLst/>
          </a:prstGeom>
          <a:ln w="38100" cap="flat">
            <a:solidFill>
              <a:srgbClr val="F28C28"/>
            </a:solidFill>
            <a:prstDash val="solid"/>
            <a:round/>
            <a:headEnd type="none" w="sm" len="sm"/>
            <a:tailEnd type="none" w="sm" len="sm"/>
          </a:ln>
        </p:spPr>
      </p:cxnSp>
      <p:sp>
        <p:nvSpPr>
          <p:cNvPr id="306" name="Google Shape;306;p14"/>
          <p:cNvSpPr>
            <a:spLocks noGrp="1"/>
          </p:cNvSpPr>
          <p:nvPr/>
        </p:nvSpPr>
        <p:spPr>
          <a:xfrm>
            <a:off x="6350000" y="1993850"/>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E2E PR #163</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07" name="Google Shape;307;p14"/>
          <p:cNvSpPr>
            <a:spLocks noGrp="1"/>
          </p:cNvSpPr>
          <p:nvPr/>
        </p:nvSpPr>
        <p:spPr>
          <a:xfrm>
            <a:off x="6350000" y="2257971"/>
            <a:ext cx="223685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500" b="1" i="0" u="none" strike="noStrike" cap="none">
                <a:solidFill>
                  <a:srgbClr val="12263A"/>
                </a:solidFill>
                <a:latin typeface="Be Vietnam Pro"/>
                <a:ea typeface="Be Vietnam Pro"/>
                <a:cs typeface="Be Vietnam Pro"/>
              </a:rPr>
              <a:t>130/130</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08" name="Google Shape;308;p14"/>
          <p:cNvSpPr>
            <a:spLocks noGrp="1"/>
          </p:cNvSpPr>
          <p:nvPr/>
        </p:nvSpPr>
        <p:spPr>
          <a:xfrm>
            <a:off x="8851900" y="1803350"/>
            <a:ext cx="25273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09" name="Google Shape;309;p14"/>
          <p:cNvCxnSpPr/>
          <p:nvPr/>
        </p:nvCxnSpPr>
        <p:spPr>
          <a:xfrm>
            <a:off x="8851900" y="1822400"/>
            <a:ext cx="2527300" cy="0"/>
          </a:xfrm>
          <a:prstGeom prst="straightConnector1">
            <a:avLst/>
          </a:prstGeom>
          <a:ln w="38100" cap="flat">
            <a:solidFill>
              <a:srgbClr val="F28C28"/>
            </a:solidFill>
            <a:prstDash val="solid"/>
            <a:round/>
            <a:headEnd type="none" w="sm" len="sm"/>
            <a:tailEnd type="none" w="sm" len="sm"/>
          </a:ln>
        </p:spPr>
      </p:cxnSp>
      <p:sp>
        <p:nvSpPr>
          <p:cNvPr id="310" name="Google Shape;310;p14"/>
          <p:cNvSpPr>
            <a:spLocks noGrp="1"/>
          </p:cNvSpPr>
          <p:nvPr/>
        </p:nvSpPr>
        <p:spPr>
          <a:xfrm>
            <a:off x="9029700" y="1993850"/>
            <a:ext cx="223685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Người dùng thử</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11" name="Google Shape;311;p14"/>
          <p:cNvSpPr>
            <a:spLocks noGrp="1"/>
          </p:cNvSpPr>
          <p:nvPr/>
        </p:nvSpPr>
        <p:spPr>
          <a:xfrm>
            <a:off x="9029700" y="2257971"/>
            <a:ext cx="223685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500" b="1" i="0" u="none" strike="noStrike" cap="none">
                <a:solidFill>
                  <a:srgbClr val="12263A"/>
                </a:solidFill>
                <a:latin typeface="Be Vietnam Pro"/>
                <a:ea typeface="Be Vietnam Pro"/>
                <a:cs typeface="Be Vietnam Pro"/>
              </a:rPr>
              <a:t>Chưa đo</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12" name="Google Shape;312;p14"/>
          <p:cNvSpPr>
            <a:spLocks noGrp="1"/>
          </p:cNvSpPr>
          <p:nvPr/>
        </p:nvSpPr>
        <p:spPr>
          <a:xfrm>
            <a:off x="812800" y="3111401"/>
            <a:ext cx="10566400" cy="1349772"/>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13" name="Google Shape;313;p14"/>
          <p:cNvCxnSpPr/>
          <p:nvPr/>
        </p:nvCxnSpPr>
        <p:spPr>
          <a:xfrm>
            <a:off x="11376025" y="3111401"/>
            <a:ext cx="0" cy="1349772"/>
          </a:xfrm>
          <a:prstGeom prst="straightConnector1">
            <a:avLst/>
          </a:prstGeom>
          <a:ln w="9525" cap="flat">
            <a:solidFill>
              <a:srgbClr val="DDE1DC"/>
            </a:solidFill>
            <a:prstDash val="solid"/>
            <a:round/>
            <a:headEnd type="none" w="sm" len="sm"/>
            <a:tailEnd type="none" w="sm" len="sm"/>
          </a:ln>
        </p:spPr>
      </p:cxnSp>
      <p:cxnSp>
        <p:nvCxnSpPr>
          <p:cNvPr id="314" name="Google Shape;314;p14"/>
          <p:cNvCxnSpPr/>
          <p:nvPr/>
        </p:nvCxnSpPr>
        <p:spPr>
          <a:xfrm>
            <a:off x="812800" y="4457998"/>
            <a:ext cx="10566400" cy="0"/>
          </a:xfrm>
          <a:prstGeom prst="straightConnector1">
            <a:avLst/>
          </a:prstGeom>
          <a:ln w="9525" cap="flat">
            <a:solidFill>
              <a:srgbClr val="DDE1DC"/>
            </a:solidFill>
            <a:prstDash val="solid"/>
            <a:round/>
            <a:headEnd type="none" w="sm" len="sm"/>
            <a:tailEnd type="none" w="sm" len="sm"/>
          </a:ln>
        </p:spPr>
      </p:cxnSp>
      <p:graphicFrame>
        <p:nvGraphicFramePr>
          <p:cNvPr id="315" name="Google Shape;315;p14"/>
          <p:cNvGraphicFramePr/>
          <p:nvPr/>
        </p:nvGraphicFramePr>
        <p:xfrm>
          <a:off x="825500" y="3124101"/>
          <a:ext cx="10547325" cy="1572768"/>
        </p:xfrm>
        <a:graphic>
          <a:graphicData uri="http://schemas.openxmlformats.org/drawingml/2006/table">
            <a:tbl>
              <a:tblPr>
                <a:tableStyleId>{9B3969C7-C4A1-4AC8-A6FE-2D9392E11A51}</a:tableStyleId>
              </a:tblPr>
              <a:tblGrid>
                <a:gridCol w="1898525"/>
                <a:gridCol w="2953250"/>
                <a:gridCol w="2953250"/>
                <a:gridCol w="2742300"/>
              </a:tblGrid>
              <a:tr h="393192">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Nhóm chỉ số</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Giới hạn xác nhận</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Kết quả báo cáo</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93192">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Kiểm thử tự động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PR #163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Báo cáo PR, chưa đối chiếu log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354/354 Maven; 130/130 E2E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93192">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Khắc phục lỗi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PR #163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Retest không đồng nghĩa tổng số bug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7/7 bug retest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93192">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Triển khai/hiệu năng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Chưa có kết quả đo</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Không tự tạo dữ liệu</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1000" u="none" strike="noStrike" cap="none">
                          <a:solidFill>
                            <a:srgbClr val="12263A"/>
                          </a:solidFill>
                          <a:latin typeface="Aptos"/>
                          <a:ea typeface="Aptos"/>
                          <a:cs typeface="Aptos"/>
                        </a:rPr>
                        <a:t>Chưa đo / chưa xác minh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316" name="Google Shape;316;p14"/>
          <p:cNvSpPr>
            <a:spLocks noGrp="1"/>
          </p:cNvSpPr>
          <p:nvPr/>
        </p:nvSpPr>
        <p:spPr>
          <a:xfrm>
            <a:off x="812800" y="6238280"/>
            <a:ext cx="439353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900" b="0" i="0" u="none" strike="noStrike" cap="none">
                <a:solidFill>
                  <a:srgbClr val="5A6573"/>
                </a:solidFill>
                <a:latin typeface="Be Vietnam Pro"/>
                <a:ea typeface="Be Vietnam Pro"/>
                <a:cs typeface="Be Vietnam Pro"/>
              </a:rPr>
              <a:t>Nguồn: PR #163 (19/10/2026) · Jira S1–4 · chưa đối chiếu log gốc</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17" name="Google Shape;317;p14"/>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18" name="Google Shape;318;p14"/>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19" name="Google Shape;319;p14"/>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325" name="Google Shape;325;p15"/>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A · 11 — ĐÓNG GÓP THEO JIRA</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26" name="Google Shape;326;p15"/>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Tỷ trọng sub-task Done của 8 thành viên</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27" name="Google Shape;327;p15"/>
          <p:cNvSpPr>
            <a:spLocks noGrp="1"/>
          </p:cNvSpPr>
          <p:nvPr/>
        </p:nvSpPr>
        <p:spPr>
          <a:xfrm>
            <a:off x="812800" y="1803350"/>
            <a:ext cx="10566400" cy="189577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28" name="Google Shape;328;p15"/>
          <p:cNvCxnSpPr/>
          <p:nvPr/>
        </p:nvCxnSpPr>
        <p:spPr>
          <a:xfrm>
            <a:off x="11376025" y="1803350"/>
            <a:ext cx="0" cy="1895773"/>
          </a:xfrm>
          <a:prstGeom prst="straightConnector1">
            <a:avLst/>
          </a:prstGeom>
          <a:ln w="9525" cap="flat">
            <a:solidFill>
              <a:srgbClr val="DDE1DC"/>
            </a:solidFill>
            <a:prstDash val="solid"/>
            <a:round/>
            <a:headEnd type="none" w="sm" len="sm"/>
            <a:tailEnd type="none" w="sm" len="sm"/>
          </a:ln>
        </p:spPr>
      </p:cxnSp>
      <p:cxnSp>
        <p:nvCxnSpPr>
          <p:cNvPr id="329" name="Google Shape;329;p15"/>
          <p:cNvCxnSpPr/>
          <p:nvPr/>
        </p:nvCxnSpPr>
        <p:spPr>
          <a:xfrm>
            <a:off x="812800" y="3695948"/>
            <a:ext cx="10566400" cy="0"/>
          </a:xfrm>
          <a:prstGeom prst="straightConnector1">
            <a:avLst/>
          </a:prstGeom>
          <a:ln w="9525" cap="flat">
            <a:solidFill>
              <a:srgbClr val="DDE1DC"/>
            </a:solidFill>
            <a:prstDash val="solid"/>
            <a:round/>
            <a:headEnd type="none" w="sm" len="sm"/>
            <a:tailEnd type="none" w="sm" len="sm"/>
          </a:ln>
        </p:spPr>
      </p:cxnSp>
      <p:graphicFrame>
        <p:nvGraphicFramePr>
          <p:cNvPr id="330" name="Google Shape;330;p15"/>
          <p:cNvGraphicFramePr/>
          <p:nvPr/>
        </p:nvGraphicFramePr>
        <p:xfrm>
          <a:off x="825500" y="1816050"/>
          <a:ext cx="10547350" cy="1933956"/>
        </p:xfrm>
        <a:graphic>
          <a:graphicData uri="http://schemas.openxmlformats.org/drawingml/2006/table">
            <a:tbl>
              <a:tblPr>
                <a:tableStyleId>{9B3969C7-C4A1-4AC8-A6FE-2D9392E11A51}</a:tableStyleId>
              </a:tblPr>
              <a:tblGrid>
                <a:gridCol w="2531375"/>
                <a:gridCol w="1687575"/>
                <a:gridCol w="1687575"/>
                <a:gridCol w="1687575"/>
                <a:gridCol w="1371150"/>
                <a:gridCol w="1582100"/>
              </a:tblGrid>
              <a:tr h="214884">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Thành viên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Backend</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Frontend</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Tích hợp / QA</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Sub-task Done</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Tỷ trọng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Nguyễn Văn Thắng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 / 11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27 / 27</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17,8%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Nông Quang Tiệp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15</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16 / 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32 / 32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21,1%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Nguyễn Thị Thu Thảo</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9 / 19</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36 / 36</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23,7%</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Nguyễn Việt Tiến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 / 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14 / 14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9,2%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Nguyễn Đình Toàn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 / 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18 / 18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11,8%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Hoàng Văn Thắng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8</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4 / 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12 / 12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7,9%</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Giàng Văn Thắng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7</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3 / 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11 / 11</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7,2%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214884">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Hoàng Trọng Thái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0 / 0</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2 / 2</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1,3%</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331" name="Google Shape;331;p15"/>
          <p:cNvSpPr>
            <a:spLocks noGrp="1"/>
          </p:cNvSpPr>
          <p:nvPr/>
        </p:nvSpPr>
        <p:spPr>
          <a:xfrm>
            <a:off x="812800" y="3953123"/>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1" i="0" u="none" strike="noStrike" cap="none">
                <a:solidFill>
                  <a:srgbClr val="5A6573"/>
                </a:solidFill>
                <a:latin typeface="Be Vietnam Pro"/>
                <a:ea typeface="Be Vietnam Pro"/>
                <a:cs typeface="Be Vietnam Pro"/>
              </a:rPr>
              <a:t>Cơ cấu số lượng công việc hoàn thành (không phải điểm năng lực)</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32" name="Google Shape;332;p15"/>
          <p:cNvSpPr>
            <a:spLocks noGrp="1"/>
          </p:cNvSpPr>
          <p:nvPr/>
        </p:nvSpPr>
        <p:spPr>
          <a:xfrm>
            <a:off x="812800" y="4242643"/>
            <a:ext cx="2641600" cy="457200"/>
          </a:xfrm>
          <a:custGeom>
            <a:avLst/>
            <a:gdLst/>
            <a:ahLst/>
            <a:cxnLst/>
            <a:rect l="l" t="t" r="r" b="b"/>
            <a:pathLst>
              <a:path w="2641600" h="457200">
                <a:moveTo>
                  <a:pt x="0" y="76200"/>
                </a:moveTo>
                <a:cubicBezTo>
                  <a:pt x="0" y="34116"/>
                  <a:pt x="34116" y="0"/>
                  <a:pt x="76200" y="0"/>
                </a:cubicBezTo>
                <a:lnTo>
                  <a:pt x="2641600" y="0"/>
                </a:lnTo>
                <a:lnTo>
                  <a:pt x="2641600" y="457200"/>
                </a:lnTo>
                <a:lnTo>
                  <a:pt x="76200" y="457200"/>
                </a:lnTo>
                <a:cubicBezTo>
                  <a:pt x="34116" y="457200"/>
                  <a:pt x="0" y="423084"/>
                  <a:pt x="0" y="381000"/>
                </a:cubicBezTo>
                <a:close/>
              </a:path>
            </a:pathLst>
          </a:custGeom>
          <a:solidFill>
            <a:srgbClr val="2556C4"/>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333" name="Google Shape;333;p15"/>
          <p:cNvSpPr>
            <a:spLocks noGrp="1"/>
          </p:cNvSpPr>
          <p:nvPr/>
        </p:nvSpPr>
        <p:spPr>
          <a:xfrm>
            <a:off x="965200" y="4364583"/>
            <a:ext cx="174034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6F7F4"/>
              </a:buClr>
              <a:buSzPts val="1200"/>
              <a:buFont typeface="Be Vietnam Pro"/>
              <a:buNone/>
            </a:pPr>
            <a:r>
              <a:rPr sz="1000" b="1" i="0" u="none" strike="noStrike" cap="none">
                <a:solidFill>
                  <a:srgbClr val="F6F7F4"/>
                </a:solidFill>
                <a:latin typeface="Be Vietnam Pro"/>
                <a:ea typeface="Be Vietnam Pro"/>
                <a:cs typeface="Be Vietnam Pro"/>
              </a:rPr>
              <a:t>152 task · 8 người</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34" name="Google Shape;334;p15"/>
          <p:cNvSpPr>
            <a:spLocks noGrp="1"/>
          </p:cNvSpPr>
          <p:nvPr/>
        </p:nvSpPr>
        <p:spPr>
          <a:xfrm>
            <a:off x="3454400" y="4242643"/>
            <a:ext cx="2641600" cy="457200"/>
          </a:xfrm>
          <a:prstGeom prst="rect">
            <a:avLst/>
          </a:prstGeom>
          <a:solidFill>
            <a:srgbClr val="F28C28"/>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335" name="Google Shape;335;p15"/>
          <p:cNvSpPr>
            <a:spLocks noGrp="1"/>
          </p:cNvSpPr>
          <p:nvPr/>
        </p:nvSpPr>
        <p:spPr>
          <a:xfrm>
            <a:off x="3606800" y="4364583"/>
            <a:ext cx="1778658"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Be Vietnam Pro"/>
              <a:buNone/>
            </a:pPr>
            <a:r>
              <a:rPr sz="1000" b="1" i="0" u="none" strike="noStrike" cap="none">
                <a:solidFill>
                  <a:srgbClr val="12263A"/>
                </a:solidFill>
                <a:latin typeface="Be Vietnam Pro"/>
                <a:ea typeface="Be Vietnam Pro"/>
                <a:cs typeface="Be Vietnam Pro"/>
              </a:rPr>
              <a:t>38 Story</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36" name="Google Shape;336;p15"/>
          <p:cNvSpPr>
            <a:spLocks noGrp="1"/>
          </p:cNvSpPr>
          <p:nvPr/>
        </p:nvSpPr>
        <p:spPr>
          <a:xfrm>
            <a:off x="6096000" y="4242643"/>
            <a:ext cx="2641600" cy="457200"/>
          </a:xfrm>
          <a:prstGeom prst="rect">
            <a:avLst/>
          </a:prstGeom>
          <a:solidFill>
            <a:srgbClr val="12263A"/>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337" name="Google Shape;337;p15"/>
          <p:cNvSpPr>
            <a:spLocks noGrp="1"/>
          </p:cNvSpPr>
          <p:nvPr/>
        </p:nvSpPr>
        <p:spPr>
          <a:xfrm>
            <a:off x="6248400" y="4364583"/>
            <a:ext cx="1780856"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6F7F4"/>
              </a:buClr>
              <a:buSzPts val="1200"/>
              <a:buFont typeface="Be Vietnam Pro"/>
              <a:buNone/>
            </a:pPr>
            <a:r>
              <a:rPr sz="1000" b="1" i="0" u="none" strike="noStrike" cap="none">
                <a:solidFill>
                  <a:srgbClr val="F6F7F4"/>
                </a:solidFill>
                <a:latin typeface="Be Vietnam Pro"/>
                <a:ea typeface="Be Vietnam Pro"/>
                <a:cs typeface="Be Vietnam Pro"/>
              </a:rPr>
              <a:t>172 SP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38" name="Google Shape;338;p15"/>
          <p:cNvSpPr>
            <a:spLocks noGrp="1"/>
          </p:cNvSpPr>
          <p:nvPr/>
        </p:nvSpPr>
        <p:spPr>
          <a:xfrm>
            <a:off x="8737600" y="4242643"/>
            <a:ext cx="2641600" cy="457200"/>
          </a:xfrm>
          <a:custGeom>
            <a:avLst/>
            <a:gdLst/>
            <a:ahLst/>
            <a:cxnLst/>
            <a:rect l="l" t="t" r="r" b="b"/>
            <a:pathLst>
              <a:path w="2641600" h="457200">
                <a:moveTo>
                  <a:pt x="2565400" y="0"/>
                </a:moveTo>
                <a:cubicBezTo>
                  <a:pt x="2585609" y="0"/>
                  <a:pt x="2604991" y="8028"/>
                  <a:pt x="2619282" y="22318"/>
                </a:cubicBezTo>
                <a:cubicBezTo>
                  <a:pt x="2633572" y="36609"/>
                  <a:pt x="2641600" y="55991"/>
                  <a:pt x="2641600" y="76200"/>
                </a:cubicBezTo>
                <a:lnTo>
                  <a:pt x="2641600" y="381000"/>
                </a:lnTo>
                <a:cubicBezTo>
                  <a:pt x="2641600" y="423084"/>
                  <a:pt x="2607484" y="457200"/>
                  <a:pt x="2565400" y="457200"/>
                </a:cubicBezTo>
                <a:lnTo>
                  <a:pt x="0" y="457200"/>
                </a:lnTo>
                <a:lnTo>
                  <a:pt x="0" y="0"/>
                </a:lnTo>
                <a:close/>
              </a:path>
            </a:pathLst>
          </a:custGeom>
          <a:solidFill>
            <a:srgbClr val="A9B2BC"/>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339" name="Google Shape;339;p15"/>
          <p:cNvSpPr>
            <a:spLocks noGrp="1"/>
          </p:cNvSpPr>
          <p:nvPr/>
        </p:nvSpPr>
        <p:spPr>
          <a:xfrm>
            <a:off x="8890000" y="4364583"/>
            <a:ext cx="178744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Be Vietnam Pro"/>
              <a:buNone/>
            </a:pPr>
            <a:r>
              <a:rPr sz="1000" b="1" i="0" u="none" strike="noStrike" cap="none">
                <a:solidFill>
                  <a:srgbClr val="12263A"/>
                </a:solidFill>
                <a:latin typeface="Be Vietnam Pro"/>
                <a:ea typeface="Be Vietnam Pro"/>
                <a:cs typeface="Be Vietnam Pro"/>
              </a:rPr>
              <a:t>S1–4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40" name="Google Shape;340;p15"/>
          <p:cNvSpPr>
            <a:spLocks noGrp="1"/>
          </p:cNvSpPr>
          <p:nvPr/>
        </p:nvSpPr>
        <p:spPr>
          <a:xfrm>
            <a:off x="812800" y="4953843"/>
            <a:ext cx="10883392"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200"/>
              <a:buFont typeface="Be Vietnam Pro"/>
              <a:buNone/>
            </a:pPr>
            <a:r>
              <a:rPr sz="1200" b="0" i="0" u="none" strike="noStrike" cap="none">
                <a:solidFill>
                  <a:srgbClr val="3F4A57"/>
                </a:solidFill>
                <a:latin typeface="Be Vietnam Pro"/>
                <a:ea typeface="Be Vietnam Pro"/>
                <a:cs typeface="Be Vietnam Pro"/>
              </a:rPr>
              <a:t>Tỷ trọng = sub-task Done từng người / 152.</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41" name="Google Shape;341;p15"/>
          <p:cNvSpPr>
            <a:spLocks noGrp="1"/>
          </p:cNvSpPr>
          <p:nvPr/>
        </p:nvSpPr>
        <p:spPr>
          <a:xfrm>
            <a:off x="812800" y="6238280"/>
            <a:ext cx="41985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Nguồn: Jira CSV 21/10/2026 · 152 sub-task Done · bảng phân công nhóm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42" name="Google Shape;342;p15"/>
          <p:cNvSpPr>
            <a:spLocks noGrp="1"/>
          </p:cNvSpPr>
          <p:nvPr/>
        </p:nvSpPr>
        <p:spPr>
          <a:xfrm>
            <a:off x="9627344" y="6238280"/>
            <a:ext cx="180441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A — Kết quả nhóm</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43" name="Google Shape;343;p15"/>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44" name="Google Shape;344;p15"/>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350" name="Google Shape;350;p16"/>
          <p:cNvSpPr>
            <a:spLocks noGrp="1"/>
          </p:cNvSpPr>
          <p:nvPr/>
        </p:nvSpPr>
        <p:spPr>
          <a:xfrm>
            <a:off x="812800" y="238001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400"/>
              <a:buFont typeface="Be Vietnam Pro"/>
              <a:buNone/>
            </a:pPr>
            <a:r>
              <a:rPr sz="1400" b="1" i="0" u="none" strike="noStrike" cap="none">
                <a:solidFill>
                  <a:srgbClr val="F28C28"/>
                </a:solidFill>
                <a:latin typeface="Be Vietnam Pro"/>
                <a:ea typeface="Be Vietnam Pro"/>
                <a:cs typeface="Be Vietnam Pro"/>
              </a:rPr>
              <a:t>PHẦN B</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51" name="Google Shape;351;p16"/>
          <p:cNvSpPr>
            <a:spLocks noGrp="1"/>
          </p:cNvSpPr>
          <p:nvPr/>
        </p:nvSpPr>
        <p:spPr>
          <a:xfrm>
            <a:off x="812800" y="2832100"/>
            <a:ext cx="10883392" cy="69592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6F7F4"/>
              </a:buClr>
              <a:buSzPts val="4800"/>
              <a:buFont typeface="Be Vietnam Pro"/>
              <a:buNone/>
            </a:pPr>
            <a:r>
              <a:rPr sz="4800" b="1" i="0" u="none" strike="noStrike" cap="none">
                <a:solidFill>
                  <a:srgbClr val="F6F7F4"/>
                </a:solidFill>
                <a:latin typeface="Be Vietnam Pro"/>
                <a:ea typeface="Be Vietnam Pro"/>
                <a:cs typeface="Be Vietnam Pro"/>
              </a:rPr>
              <a:t>Đóng góp cá nhân</a:t>
            </a:r>
            <a:endParaRPr sz="4800" b="0" i="0" u="none" strike="noStrike" cap="none">
              <a:solidFill>
                <a:schemeClr val="dk1"/>
              </a:solidFill>
              <a:latin typeface="Calibri" panose="020F0502020204030204"/>
              <a:ea typeface="Calibri" panose="020F0502020204030204"/>
              <a:cs typeface="Calibri" panose="020F0502020204030204"/>
            </a:endParaRPr>
          </a:p>
        </p:txBody>
      </p:sp>
      <p:sp>
        <p:nvSpPr>
          <p:cNvPr id="352" name="Google Shape;352;p16"/>
          <p:cNvSpPr>
            <a:spLocks noGrp="1"/>
          </p:cNvSpPr>
          <p:nvPr/>
        </p:nvSpPr>
        <p:spPr>
          <a:xfrm>
            <a:off x="812800" y="3705820"/>
            <a:ext cx="10883392" cy="34543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800"/>
              <a:buFont typeface="Be Vietnam Pro"/>
              <a:buNone/>
            </a:pPr>
            <a:r>
              <a:rPr sz="1800" b="0" i="0" u="none" strike="noStrike" cap="none">
                <a:solidFill>
                  <a:srgbClr val="BFD0DE"/>
                </a:solidFill>
                <a:latin typeface="Be Vietnam Pro"/>
                <a:ea typeface="Be Vietnam Pro"/>
                <a:cs typeface="Be Vietnam Pro"/>
              </a:rPr>
              <a:t>Vai trò · Đóng góp tiêu biểu · Năng lực tăng lên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53" name="Google Shape;353;p16"/>
          <p:cNvSpPr>
            <a:spLocks noGrp="1"/>
          </p:cNvSpPr>
          <p:nvPr/>
        </p:nvSpPr>
        <p:spPr>
          <a:xfrm>
            <a:off x="812800" y="422905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400"/>
              <a:buFont typeface="Be Vietnam Pro"/>
              <a:buNone/>
            </a:pPr>
            <a:r>
              <a:rPr sz="1400" b="0" i="0" u="none" strike="noStrike" cap="none">
                <a:solidFill>
                  <a:srgbClr val="BFD0DE"/>
                </a:solidFill>
                <a:latin typeface="Be Vietnam Pro"/>
                <a:ea typeface="Be Vietnam Pro"/>
                <a:cs typeface="Be Vietnam Pro"/>
              </a:rPr>
              <a:t>6 phần trình bày · B·01 Vai trò → B·02 Đóng góp → B·03 Năng lực · 3 phút/người</a:t>
            </a:r>
            <a:endParaRPr sz="1400" b="0" i="0" u="none" strike="noStrike" cap="none">
              <a:solidFill>
                <a:srgbClr val="BFD0DE"/>
              </a:solidFill>
              <a:latin typeface="Be Vietnam Pro"/>
              <a:ea typeface="Be Vietnam Pro"/>
              <a:cs typeface="Be Vietnam Pro"/>
            </a:endParaRPr>
          </a:p>
        </p:txBody>
      </p:sp>
      <p:pic>
        <p:nvPicPr>
          <p:cNvPr id="354" name="Google Shape;354;p16"/>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355" name="Google Shape;355;p16"/>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sp>
        <p:nvSpPr>
          <p:cNvPr id="9114" name="Design accent 9114"/>
          <p:cNvSpPr>
            <a:spLocks noGrp="1"/>
          </p:cNvSpPr>
          <p:nvPr/>
        </p:nvSpPr>
        <p:spPr>
          <a:xfrm>
            <a:off x="809625" y="2895600"/>
            <a:ext cx="590550" cy="28575"/>
          </a:xfrm>
          <a:prstGeom prst="rect">
            <a:avLst/>
          </a:prstGeom>
          <a:solidFill>
            <a:srgbClr val="FF8A1F"/>
          </a:solid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NÔNG QUANG TIỆP · FRONTEND DEVELOPER</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Jira: 32 sub-task Done — 15 FE, 16 tích hợp, 1 BE.</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S1–2: Login/Session, import Excel, sản phẩm, tổ chức và Pipeline.</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S3: Khách hàng, xử lý trùng, tìm kiếm và hỗ trợ sau bán.</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S4: Web Form, gộp Lead, phân bổ, tiếp nhận và bộ lọc Lead.</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CRM-181 · CRM-233 · CRM-268 · CRM-277</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32/32</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tổng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83 / 55</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34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21,1%</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NÔNG QUANG TIỆP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Tối ưu hóa giao diện đối chiếu &amp; gộp dữ liệu khách hàng tiềm năng (Lead Merge 3-in-1)</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Dữ liệu Lead thu thập từ nhiều nguồn (Web Form, sự kiện) dễ bị trùng lặp số điện thoại, email hoặc tên công ty.…</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Xây dựng Modal so sánh 2 cột trực quan (Lead gốc vs Lead trùng) bằng Flexbox responsive; thiết kế cơ chế chọn…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Jira CRM-268 và CRM-270 Done: giao diện so sánh/gộp Lead và tích hợp FE–BE. PR #140 ghi phần Frontend Nông Quang…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CRM-181 · CRM-233 · CRM-268 · CRM-277</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2175573" y="3886200"/>
            <a:ext cx="2241676" cy="1527047"/>
          </a:xfrm>
          <a:prstGeom prst="rect">
            <a:avLst/>
          </a:prstGeom>
        </p:spPr>
      </p:pic>
      <p:pic>
        <p:nvPicPr>
          <p:cNvPr id="417" name="Picture 416"/>
          <p:cNvPicPr>
            <a:picLocks noChangeAspect="1"/>
          </p:cNvPicPr>
          <p:nvPr/>
        </p:nvPicPr>
        <p:blipFill>
          <a:blip r:embed="rId5"/>
          <a:stretch>
            <a:fillRect/>
          </a:stretch>
        </p:blipFill>
        <p:spPr>
          <a:xfrm>
            <a:off x="7488853" y="3886200"/>
            <a:ext cx="2770797" cy="15270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NÔNG QUANG TIỆP</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HTML5, CSS3, JavaScript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Chuẩn hóa Zero JSP, xây dựng UI Lead, Customer, Modal gộp trùng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Tích hợp API &amp; JSON Mapping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Gọi RESTful API, render dữ liệu động và xử lý mã lỗi HTTP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Git,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32/32 task Done. Git: 83 tổng / 55 Insights; 34 PR theo mốc 21/10.</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Quy trình Scrum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Phối hợp chặt chẽ với Backend trong cả 4 Sprint của dự án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Kỹ năng giải quyết bài toán giao diện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Xử lý triệt để bài toán hiển thị bảng dữ liệu khách hàng lớn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32/32 sub-task Done; tỷ trọng 21,1%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Tối ưu hóa trải nghiệm người dùng (UX) và rèn luyện kỹ năng tổ chức mã nguồn giao diện theo cấu trúc component gọn gàng.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NGUYỄN VIỆT TIẾN · BACKEND DEVELOPER</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Jira: 14 sub-task Done — 11 BE, 1 FE, 1 tích hợp, 1 QA.</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S1–2: Login/Session, import user, hồ sơ, sản phẩm, danh mục, Pipeline.</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S3: Customer API và giao diện tìm kiếm/bộ lọc.</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S4: Web Form, phân bổ tự động và API bộ lọc Lead.</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PR #137, #142, #145 ghi phần Backend tương ứng.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CRM-133 · CRM-220 · CRM-256 · CRM-278</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14/14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tổng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16 / 16</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9,2%</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NGUYỄN VIỆT TIẾN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Phân bổ Lead tự động theo quy tắc và hàng chờ</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Cần phân Lead theo khu vực, ngành và ưu tiên; hỗ trợ chia luân phiên và giữ hàng chờ khi không có người phù hợp.</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Servlet gọi Service/DAO; xử lý rule, round-robin và lưu lịch sử phân bổ. PR #142 ghi Backend Nguyễn Việt Tiến.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CRM-278 Done trên Jira. PR #142 ghi Backend Nguyễn Việt Tiến, gồm quy tắc phân bổ, round-robin và lưu lịch sử.</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CRM-133 · CRM-220 · CRM-256 · CRM-278</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1863663" y="3886200"/>
            <a:ext cx="2865496" cy="1527048"/>
          </a:xfrm>
          <a:prstGeom prst="rect">
            <a:avLst/>
          </a:prstGeom>
        </p:spPr>
      </p:pic>
      <p:pic>
        <p:nvPicPr>
          <p:cNvPr id="417" name="Picture 416"/>
          <p:cNvPicPr>
            <a:picLocks noChangeAspect="1"/>
          </p:cNvPicPr>
          <p:nvPr/>
        </p:nvPicPr>
        <p:blipFill>
          <a:blip r:embed="rId5"/>
          <a:stretch>
            <a:fillRect/>
          </a:stretch>
        </p:blipFill>
        <p:spPr>
          <a:xfrm>
            <a:off x="7449312" y="3886200"/>
            <a:ext cx="2849879" cy="15270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NGUYỄN VIỆT TIẾN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Java Servlet, JDBC, REST API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PR #137, #142, #145 ghi Backend Web Form, phân bổ và bộ lọc Lead.</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Thiết kế &amp; Truy vấn CSDL</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Thiết kế bảng dữ liệu Lead, tối ưu hóa các câu lệnh truy vấn MySQL</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Git, Jira, Postman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14/14 task Done. Git: 16 tổng / 16 Insights; 8 PR theo mốc 21/10.</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Quy trình Scrum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Phối hợp FE/BE theo phân công; lịch tham gia cần nhóm xác nhận.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Kỹ năng thuật toán &amp; Xử lý logic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Quy tắc phân bổ, round-robin và xử lý hàng chờ Lead.</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147413"/>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14/14 sub-task Done; tỷ trọng 9,2%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Rèn luyện thêm kỹ năng viết Unit Test tự động cho các hàm nghiệp vụ và chuẩn hóa cấu trúc xử lý lỗi (Exception Handling).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NGUYỄN THỊ THU THẢO · SCRUM MASTER / QA LEAD</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Jira: 36 sub-task Done — 19 QA, 9 tích hợp, 4 BE, 4 FE.</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Phối hợp kiểm thử, tích hợp và triển khai giao diện trong S1–4.</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PR #138, #141, #143, #145 ghi phần Frontend.</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PR #163 báo cáo hồi quy chung: 130/130 E2E, 354/354 Maven, 7/7 bug retest; chưa đối chiếu log gốc.</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CRM-135 · CRM-143 · CRM-260 · CRM-291</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36/36</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tổng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77 / 28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17</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23,7%</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NGUYỄN THỊ THU THẢO</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Kiểm thử hồi quy và tích hợp Sprint 1–4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Khi tích hợp nhiều nhánh code dễ phát sinh xung đột, lỗi hồi quy (regression) chức năng cũ.</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PR #163 mô tả sửa lỗi FE/BE, validation và hồi quy tích hợp S1–S4. Phân biệt báo cáo QA chung với đóng góp riêng…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Báo cáo PR #163: 130/130 E2E, 354/354 Maven, 7/7 bug retest. Các kết quả thuộc đợt QA chung; chưa đối chiếu log…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CRM-135 · CRM-143 · CRM-260 · CRM-291</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1756085" y="3886200"/>
            <a:ext cx="3080653" cy="1527048"/>
          </a:xfrm>
          <a:prstGeom prst="rect">
            <a:avLst/>
          </a:prstGeom>
        </p:spPr>
      </p:pic>
      <p:pic>
        <p:nvPicPr>
          <p:cNvPr id="417" name="Picture 416"/>
          <p:cNvPicPr>
            <a:picLocks noChangeAspect="1"/>
          </p:cNvPicPr>
          <p:nvPr/>
        </p:nvPicPr>
        <p:blipFill>
          <a:blip r:embed="rId5"/>
          <a:stretch>
            <a:fillRect/>
          </a:stretch>
        </p:blipFill>
        <p:spPr>
          <a:xfrm>
            <a:off x="7856220" y="3886200"/>
            <a:ext cx="2036064" cy="152704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NGUYỄN THỊ THU THẢO</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Thiết kế &amp; Thực thi Test Case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Báo cáo QA PR #163: 130/130 E2E, 354/354 Maven; chưa đối chiếu log gốc.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Quy trình: Quản trị Agile / Scrum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Jira 21/10: 38 Story Done, 172 SP; 152 sub-task Done trong phạm vi S1–4.</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Jira, Git, Postman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36/36 task Done. Git: 77 tổng / 28 Insights; 17 PR theo mốc 21/10.</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Giao tiếp điều phối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Chủ trì các phiên Daily Scrum, Sprint Planning, Retrospective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Quản trị chất lượng phát hành </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Đảm bảo tiêu chí Definition of Done nghiêm ngặt trước khi merge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36/36 sub-task Done; tỷ trọng 23,7%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Nghiên cứu áp dụng thêm các công cụ kiểm thử tự động (Automation Testing) để nâng cao tốc độ kiểm thử hồi quy cho hệ thống.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NGUYỄN VĂN THẮNG · BACKEND DEVELOPER</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S1: API đặt lại và đổi mật khẩu.</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S2: Audit Log, cơ cấu tổ chức, trường tùy chỉnh, lý do thắng/thua và đối thủ.</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S3: Contact và import khách hàng Excel.</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S4: Tạo/import và chấm điểm Lead; Jira còn giao API SLA (CRM-282).</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Java 21, Jakarta Servlet, JDBC, MySQL 8, Maven, Tomcat 10.1.</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CRM-224 · CRM-240 · CRM-261 · CRM-274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27/27</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Loki*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215 / 113</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77 nhóm</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17,8%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NGUYỄN VĂN THẮNG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CRM-261: Backend tạo và import Lead từ Excel</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Cần tạo Lead và nhập hàng loạt, kiểm tra dữ liệu đầu vào và trả lỗi theo dòng để hạn chế dữ liệu không hợp lệ.</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Servlet gọi Service/DAO qua JDBC. Preview đọc và phân loại dòng; confirm thêm Lead, chấm điểm và commit/rollback…</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CRM-261 và CRM-274 Done trên Jira. LeadService.create() gọi LeadDAO.insert(); import có preview()/confirm() và…</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CRM-224 · CRM-240 · CRM-261 · CRM-274</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2603317" y="3886200"/>
            <a:ext cx="1386188" cy="1527048"/>
          </a:xfrm>
          <a:prstGeom prst="rect">
            <a:avLst/>
          </a:prstGeom>
        </p:spPr>
      </p:pic>
      <p:pic>
        <p:nvPicPr>
          <p:cNvPr id="417" name="Picture 416"/>
          <p:cNvPicPr>
            <a:picLocks noChangeAspect="1"/>
          </p:cNvPicPr>
          <p:nvPr/>
        </p:nvPicPr>
        <p:blipFill>
          <a:blip r:embed="rId5"/>
          <a:stretch>
            <a:fillRect/>
          </a:stretch>
        </p:blipFill>
        <p:spPr>
          <a:xfrm>
            <a:off x="7409691" y="3886200"/>
            <a:ext cx="2929120" cy="15270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NGUYỄN VĂN THẮNG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Java Servlet, JDBC, REST API</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PR #116, #117, #138, #141 ghi Backend Nguyễn Văn Thắng.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Thiết kế CSDL &amp; Tối ưu hóa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Service/DAO/JDBC, kiểm tra dữ liệu và import Excel trong LeadService/LeadImportService.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Git, Jira, Postman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27/27 task Done. Định danh Loki: 215 tổng / 113 Insights; chưa quy cá nhân.</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Quy trình Scrum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Tham gia 4 Sprint, phối hợp tích hợp hệ thống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Kỹ năng giải quyết bài toán kỹ thuật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Xử lý validation, preview/confirm, transaction và lỗi dữ liệu.</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27/27 sub-task Done; tỷ trọng 17,8%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Tối ưu hóa các câu lệnh truy vấn cơ sở dữ liệu (Indexing) và hoàn thiện tài liệu đặc tả API (API Documentation) phục vụ việc tích hợp mở rộng.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NGUYỄN ĐÌNH TOÀN · BACKEND DEVELOPER</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Jira: 18 sub-task Done — 8 BE, 8 QA, 2 tích hợp.</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BE: phân quyền, menu, Customer 360, công ty mẹ–con, chăm sóc khách hàng, gộp và chuyển đổi Lead.</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GitHub: PR #22, #12, #36 cho đăng nhập, menu, avatar; PR #140/#144 ghi BE gộp/chuyển đổi Lead.</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Phân công Jira và tên người thực hiện trong PR có chỗ khác nhau.</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CRM-148 · CRM-228 · CRM-269 · CRM-286</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18/18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tổng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4 / 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4</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11,8%</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NGUYỄN ĐÌNH TOÀN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Xác thực đăng nhập bảo mật (Session &amp; BCrypt) và Phân quyền Menu động</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Nguy cơ bị tấn công giả mạo phiên hoặc truy cập trái phép trực tiếp vào các URL quản trị nhạy cảm.</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Triển khai Session Filter ở tầng Servlet; mã hóa mật khẩu một chiều BCrypt; sinh menu động từ DB theo Role.</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Jira ghi 8 sub-task Backend và 8 QA Done cho Nguyễn Đình Toàn. PR #22 mô tả BCrypt, HttpSession và các ca đăng…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CRM-148 · CRM-228 · CRM-269 · CRM-286</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2722079" y="3886200"/>
            <a:ext cx="1148664" cy="1527048"/>
          </a:xfrm>
          <a:prstGeom prst="rect">
            <a:avLst/>
          </a:prstGeom>
        </p:spPr>
      </p:pic>
      <p:pic>
        <p:nvPicPr>
          <p:cNvPr id="417" name="Picture 416"/>
          <p:cNvPicPr>
            <a:picLocks noChangeAspect="1"/>
          </p:cNvPicPr>
          <p:nvPr/>
        </p:nvPicPr>
        <p:blipFill>
          <a:blip r:embed="rId5"/>
          <a:stretch>
            <a:fillRect/>
          </a:stretch>
        </p:blipFill>
        <p:spPr>
          <a:xfrm>
            <a:off x="6541596" y="3886200"/>
            <a:ext cx="4665311" cy="152704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NGUYỄN ĐÌNH TOÀN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Xác thực &amp; Bảo mật Web</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Lập trình Session Filter, mã hóa BCrypt, kiểm soát phiên đăng nhập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Phân quyền &amp; Quản lý dữ liệu</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Xây dựng phân quyền động Menu điều hướng theo vai trò (Role)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Git, Jira, IDE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18/18 task Done. Git: 4 tổng / 4 Insights; 4 PR theo mốc 21/10.</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Tuân thủ quy trình</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Tuân thủ coding conventions và quy trình review của nhóm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Kỹ năng nghiên cứu &amp; Áp dụng kỹ thuật</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Nghiên cứu tài liệu bảo mật và áp dụng thành công vào module</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18/18 sub-task Done; tỷ trọng 11,8%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Củng cố thêm kiến thức về kiểm thử bảo mật web cơ bản và tối ưu hóa xử lý lưu trữ tệp tin tải lên hệ thống.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 name="Google Shape;361;p17"/>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 · 01 — VAI TRÒ &amp; PHẠM VI PHỤ TRÁCH</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2" name="Google Shape;362;p17"/>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100" b="1" i="0" u="none" strike="noStrike" cap="none">
                <a:solidFill>
                  <a:srgbClr val="12263A"/>
                </a:solidFill>
                <a:latin typeface="Be Vietnam Pro"/>
                <a:ea typeface="Be Vietnam Pro"/>
                <a:cs typeface="Be Vietnam Pro"/>
              </a:rPr>
              <a:t>HOÀNG VĂN THẮNG · FRONTEND DEVELOPER</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63" name="Google Shape;363;p17"/>
          <p:cNvSpPr>
            <a:spLocks noGrp="1"/>
          </p:cNvSpPr>
          <p:nvPr/>
        </p:nvSpPr>
        <p:spPr>
          <a:xfrm>
            <a:off x="815975" y="1806525"/>
            <a:ext cx="58610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4" name="Google Shape;364;p17"/>
          <p:cNvSpPr>
            <a:spLocks noGrp="1"/>
          </p:cNvSpPr>
          <p:nvPr/>
        </p:nvSpPr>
        <p:spPr>
          <a:xfrm>
            <a:off x="1022350" y="2012900"/>
            <a:ext cx="561174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Module / tính năng phụ trách</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65" name="Google Shape;365;p17"/>
          <p:cNvSpPr>
            <a:spLocks noGrp="1"/>
          </p:cNvSpPr>
          <p:nvPr/>
        </p:nvSpPr>
        <p:spPr>
          <a:xfrm>
            <a:off x="1022350" y="2363391"/>
            <a:ext cx="5611749" cy="26974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Jira: 12 sub-task Done — 8 FE và 4 tích hợp.</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S1–2: Giao diện phân quyền, menu, trường tùy chỉnh.</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S3: Customer 360, công ty mẹ–con và danh sách cần chăm sóc.</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S4: Chiến dịch Marketing và giao diện chấm điểm Lead.</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PR #139 ghi Frontend Chiến dịch Marketing.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66" name="Google Shape;366;p17"/>
          <p:cNvSpPr>
            <a:spLocks noGrp="1"/>
          </p:cNvSpPr>
          <p:nvPr/>
        </p:nvSpPr>
        <p:spPr>
          <a:xfrm>
            <a:off x="1022350" y="5419130"/>
            <a:ext cx="5611749"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000" b="0" i="0" u="none" strike="noStrike" cap="none">
                <a:solidFill>
                  <a:srgbClr val="5A6573"/>
                </a:solidFill>
                <a:latin typeface="Be Vietnam Pro"/>
                <a:ea typeface="Be Vietnam Pro"/>
                <a:cs typeface="Be Vietnam Pro"/>
              </a:rPr>
              <a:t>Ticket tiêu biểu: CRM-149 · CRM-229 · CRM-264 · CRM-273</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7" name="Google Shape;367;p17"/>
          <p:cNvSpPr>
            <a:spLocks noGrp="1"/>
          </p:cNvSpPr>
          <p:nvPr/>
        </p:nvSpPr>
        <p:spPr>
          <a:xfrm>
            <a:off x="6937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68" name="Google Shape;368;p17"/>
          <p:cNvSpPr>
            <a:spLocks noGrp="1"/>
          </p:cNvSpPr>
          <p:nvPr/>
        </p:nvSpPr>
        <p:spPr>
          <a:xfrm>
            <a:off x="7118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Sub-task Done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69" name="Google Shape;369;p17"/>
          <p:cNvSpPr>
            <a:spLocks noGrp="1"/>
          </p:cNvSpPr>
          <p:nvPr/>
        </p:nvSpPr>
        <p:spPr>
          <a:xfrm>
            <a:off x="7118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12/12</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0" name="Google Shape;370;p17"/>
          <p:cNvSpPr>
            <a:spLocks noGrp="1"/>
          </p:cNvSpPr>
          <p:nvPr/>
        </p:nvSpPr>
        <p:spPr>
          <a:xfrm>
            <a:off x="9223375" y="1806525"/>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1" name="Google Shape;371;p17"/>
          <p:cNvSpPr>
            <a:spLocks noGrp="1"/>
          </p:cNvSpPr>
          <p:nvPr/>
        </p:nvSpPr>
        <p:spPr>
          <a:xfrm>
            <a:off x="9404350" y="1962100"/>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SP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2" name="Google Shape;372;p17"/>
          <p:cNvSpPr>
            <a:spLocks noGrp="1"/>
          </p:cNvSpPr>
          <p:nvPr/>
        </p:nvSpPr>
        <p:spPr>
          <a:xfrm>
            <a:off x="9404350" y="222622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200" b="1" i="0" u="none" strike="noStrike" cap="none">
                <a:solidFill>
                  <a:srgbClr val="12263A"/>
                </a:solidFill>
                <a:latin typeface="Be Vietnam Pro"/>
                <a:ea typeface="Be Vietnam Pro"/>
                <a:cs typeface="Be Vietnam Pro"/>
              </a:rPr>
              <a:t>Không phân bổ</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3" name="Google Shape;373;p17"/>
          <p:cNvSpPr>
            <a:spLocks noGrp="1"/>
          </p:cNvSpPr>
          <p:nvPr/>
        </p:nvSpPr>
        <p:spPr>
          <a:xfrm>
            <a:off x="6937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4" name="Google Shape;374;p17"/>
          <p:cNvSpPr>
            <a:spLocks noGrp="1"/>
          </p:cNvSpPr>
          <p:nvPr/>
        </p:nvSpPr>
        <p:spPr>
          <a:xfrm>
            <a:off x="7118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100" b="0" i="0" u="none" strike="noStrike" cap="none">
                <a:solidFill>
                  <a:srgbClr val="5A6573"/>
                </a:solidFill>
                <a:latin typeface="Be Vietnam Pro"/>
                <a:ea typeface="Be Vietnam Pro"/>
                <a:cs typeface="Be Vietnam Pro"/>
              </a:rPr>
              <a:t>Git tổng / Insights</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5" name="Google Shape;375;p17"/>
          <p:cNvSpPr>
            <a:spLocks noGrp="1"/>
          </p:cNvSpPr>
          <p:nvPr/>
        </p:nvSpPr>
        <p:spPr>
          <a:xfrm>
            <a:off x="7118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600" b="1" i="0" u="none" strike="noStrike" cap="none">
                <a:solidFill>
                  <a:srgbClr val="12263A"/>
                </a:solidFill>
                <a:latin typeface="Be Vietnam Pro"/>
                <a:ea typeface="Be Vietnam Pro"/>
                <a:cs typeface="Be Vietnam Pro"/>
              </a:rPr>
              <a:t>15 / 13</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6" name="Google Shape;376;p17"/>
          <p:cNvSpPr>
            <a:spLocks noGrp="1"/>
          </p:cNvSpPr>
          <p:nvPr/>
        </p:nvSpPr>
        <p:spPr>
          <a:xfrm>
            <a:off x="9223375" y="2962176"/>
            <a:ext cx="2152650" cy="1022300"/>
          </a:xfrm>
          <a:prstGeom prst="roundRect">
            <a:avLst>
              <a:gd name="adj" fmla="val 9628"/>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77" name="Google Shape;377;p17"/>
          <p:cNvSpPr>
            <a:spLocks noGrp="1"/>
          </p:cNvSpPr>
          <p:nvPr/>
        </p:nvSpPr>
        <p:spPr>
          <a:xfrm>
            <a:off x="9404350" y="3117751"/>
            <a:ext cx="184442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PR đã merge*</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78" name="Google Shape;378;p17"/>
          <p:cNvSpPr>
            <a:spLocks noGrp="1"/>
          </p:cNvSpPr>
          <p:nvPr/>
        </p:nvSpPr>
        <p:spPr>
          <a:xfrm>
            <a:off x="9404350" y="3381871"/>
            <a:ext cx="1844421"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1600" b="1" i="0" u="none" strike="noStrike" cap="none">
                <a:solidFill>
                  <a:srgbClr val="12263A"/>
                </a:solidFill>
                <a:latin typeface="Be Vietnam Pro"/>
                <a:ea typeface="Be Vietnam Pro"/>
                <a:cs typeface="Be Vietnam Pro"/>
              </a:rPr>
              <a:t>2</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79" name="Google Shape;379;p17"/>
          <p:cNvSpPr>
            <a:spLocks noGrp="1"/>
          </p:cNvSpPr>
          <p:nvPr/>
        </p:nvSpPr>
        <p:spPr>
          <a:xfrm>
            <a:off x="6934200" y="4114651"/>
            <a:ext cx="4445000" cy="1054050"/>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380" name="Google Shape;380;p17"/>
          <p:cNvCxnSpPr/>
          <p:nvPr/>
        </p:nvCxnSpPr>
        <p:spPr>
          <a:xfrm>
            <a:off x="6934200" y="4133701"/>
            <a:ext cx="4445000" cy="0"/>
          </a:xfrm>
          <a:prstGeom prst="straightConnector1">
            <a:avLst/>
          </a:prstGeom>
          <a:ln w="38100" cap="flat">
            <a:solidFill>
              <a:srgbClr val="F28C28"/>
            </a:solidFill>
            <a:prstDash val="solid"/>
            <a:round/>
            <a:headEnd type="none" w="sm" len="sm"/>
            <a:tailEnd type="none" w="sm" len="sm"/>
          </a:ln>
        </p:spPr>
      </p:cxnSp>
      <p:sp>
        <p:nvSpPr>
          <p:cNvPr id="381" name="Google Shape;381;p17"/>
          <p:cNvSpPr>
            <a:spLocks noGrp="1"/>
          </p:cNvSpPr>
          <p:nvPr/>
        </p:nvSpPr>
        <p:spPr>
          <a:xfrm>
            <a:off x="7112000" y="4305151"/>
            <a:ext cx="421208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Tỷ trọng sub-task Done (trên 152 task)</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2" name="Google Shape;382;p17"/>
          <p:cNvSpPr>
            <a:spLocks noGrp="1"/>
          </p:cNvSpPr>
          <p:nvPr/>
        </p:nvSpPr>
        <p:spPr>
          <a:xfrm>
            <a:off x="7112000" y="4569271"/>
            <a:ext cx="421208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2556C4"/>
              </a:buClr>
              <a:buSzPts val="3200"/>
              <a:buFont typeface="Be Vietnam Pro"/>
              <a:buNone/>
            </a:pPr>
            <a:r>
              <a:rPr sz="2600" b="1" i="0" u="none" strike="noStrike" cap="none">
                <a:solidFill>
                  <a:srgbClr val="2556C4"/>
                </a:solidFill>
                <a:latin typeface="Be Vietnam Pro"/>
                <a:ea typeface="Be Vietnam Pro"/>
                <a:cs typeface="Be Vietnam Pro"/>
              </a:rPr>
              <a:t>7,9%</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83" name="Google Shape;383;p17"/>
          <p:cNvSpPr>
            <a:spLocks noGrp="1"/>
          </p:cNvSpPr>
          <p:nvPr/>
        </p:nvSpPr>
        <p:spPr>
          <a:xfrm>
            <a:off x="812800" y="6238280"/>
            <a:ext cx="3735341"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50" b="0" i="0" u="none" strike="noStrike" cap="none">
                <a:solidFill>
                  <a:srgbClr val="5A6573"/>
                </a:solidFill>
                <a:latin typeface="Be Vietnam Pro"/>
                <a:ea typeface="Be Vietnam Pro"/>
                <a:cs typeface="Be Vietnam Pro"/>
              </a:rPr>
              <a:t>Nguồn: Jira 21/10 · GitHub Insights 23/10 · Commit ≠ công lao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84" name="Google Shape;384;p17"/>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85" name="Google Shape;385;p17"/>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386" name="Google Shape;386;p17"/>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
        <p:nvSpPr>
          <p:cNvPr id="387" name="TextBox 386"/>
          <p:cNvSpPr>
            <a:spLocks noGrp="1"/>
          </p:cNvSpPr>
          <p:nvPr/>
        </p:nvSpPr>
        <p:spPr>
          <a:xfrm>
            <a:off x="7040880" y="5166360"/>
            <a:ext cx="4160520" cy="210312"/>
          </a:xfrm>
          <a:prstGeom prst="rect">
            <a:avLst/>
          </a:prstGeom>
          <a:noFill/>
        </p:spPr>
        <p:txBody>
          <a:bodyPr wrap="square" lIns="18288" tIns="9144" rIns="18288" bIns="9144">
            <a:spAutoFit/>
          </a:bodyPr>
          <a:lstStyle/>
          <a:p>
            <a:r>
              <a:rPr sz="940" b="0">
                <a:solidFill>
                  <a:srgbClr val="485D71"/>
                </a:solidFill>
                <a:latin typeface="Arial" panose="020B0604020202020204"/>
                <a:ea typeface="Arial" panose="020B0604020202020204"/>
                <a:cs typeface="Arial" panose="020B0604020202020204"/>
              </a:rPr>
              <a:t>Minh chứng: GitHub Insights · 23/10/2026 (không tính merge)</a:t>
            </a:r>
            <a:endParaRPr sz="940" b="0">
              <a:solidFill>
                <a:srgbClr val="485D71"/>
              </a:solidFill>
              <a:latin typeface="Arial" panose="020B0604020202020204"/>
              <a:ea typeface="Arial" panose="020B0604020202020204"/>
              <a:cs typeface="Arial" panose="020B0604020202020204"/>
            </a:endParaRPr>
          </a:p>
        </p:txBody>
      </p:sp>
      <p:pic>
        <p:nvPicPr>
          <p:cNvPr id="388" name="Picture 387"/>
          <p:cNvPicPr>
            <a:picLocks noChangeAspect="1"/>
          </p:cNvPicPr>
          <p:nvPr/>
        </p:nvPicPr>
        <p:blipFill>
          <a:blip r:embed="rId3"/>
          <a:stretch>
            <a:fillRect/>
          </a:stretch>
        </p:blipFill>
        <p:spPr>
          <a:xfrm>
            <a:off x="7059168" y="5404104"/>
            <a:ext cx="4160520" cy="7132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2" name="Google Shape;392;p18"/>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02 — ĐÓNG GÓP TIÊU BIỂU · HOÀNG VĂN THẮNG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393" name="Google Shape;393;p18"/>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2200" b="1" i="0" u="none" strike="noStrike" cap="none">
                <a:solidFill>
                  <a:srgbClr val="12263A"/>
                </a:solidFill>
                <a:latin typeface="Be Vietnam Pro"/>
                <a:ea typeface="Be Vietnam Pro"/>
                <a:cs typeface="Be Vietnam Pro"/>
              </a:rPr>
              <a:t>Giao diện Chiến dịch Marketing và liên kết Lead</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394" name="Google Shape;394;p18"/>
          <p:cNvSpPr>
            <a:spLocks noGrp="1"/>
          </p:cNvSpPr>
          <p:nvPr/>
        </p:nvSpPr>
        <p:spPr>
          <a:xfrm>
            <a:off x="815975" y="1806525"/>
            <a:ext cx="3177084"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395" name="Google Shape;395;p18"/>
          <p:cNvSpPr>
            <a:spLocks noGrp="1"/>
          </p:cNvSpPr>
          <p:nvPr/>
        </p:nvSpPr>
        <p:spPr>
          <a:xfrm>
            <a:off x="1022350" y="2012900"/>
            <a:ext cx="2847264"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Vấn đề</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396" name="Google Shape;396;p18"/>
          <p:cNvSpPr>
            <a:spLocks noGrp="1"/>
          </p:cNvSpPr>
          <p:nvPr/>
        </p:nvSpPr>
        <p:spPr>
          <a:xfrm>
            <a:off x="1022350" y="2363391"/>
            <a:ext cx="2847264"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Cần giao diện quản lý chiến dịch, trạng thái và các Lead liên quan, đồng bộ với API Backend.</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397" name="Google Shape;397;p18"/>
          <p:cNvSpPr>
            <a:spLocks noGrp="1"/>
          </p:cNvSpPr>
          <p:nvPr/>
        </p:nvSpPr>
        <p:spPr>
          <a:xfrm>
            <a:off x="1022350" y="2937371"/>
            <a:ext cx="2847264"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398" name="Google Shape;398;p18"/>
          <p:cNvPicPr>
            <a:picLocks noChangeAspect="1"/>
          </p:cNvPicPr>
          <p:nvPr/>
        </p:nvPicPr>
        <p:blipFill rotWithShape="1">
          <a:blip r:embed="rId1"/>
          <a:srcRect/>
          <a:stretch>
            <a:fillRect/>
          </a:stretch>
        </p:blipFill>
        <p:spPr>
          <a:xfrm>
            <a:off x="4097834" y="2599531"/>
            <a:ext cx="304800" cy="177800"/>
          </a:xfrm>
          <a:prstGeom prst="rect">
            <a:avLst/>
          </a:prstGeom>
          <a:ln>
            <a:noFill/>
          </a:ln>
        </p:spPr>
      </p:pic>
      <p:sp>
        <p:nvSpPr>
          <p:cNvPr id="399" name="Google Shape;399;p18"/>
          <p:cNvSpPr>
            <a:spLocks noGrp="1"/>
          </p:cNvSpPr>
          <p:nvPr/>
        </p:nvSpPr>
        <p:spPr>
          <a:xfrm>
            <a:off x="4507409"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0" name="Google Shape;400;p18"/>
          <p:cNvSpPr>
            <a:spLocks noGrp="1"/>
          </p:cNvSpPr>
          <p:nvPr/>
        </p:nvSpPr>
        <p:spPr>
          <a:xfrm>
            <a:off x="4713784"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Giải pháp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1" name="Google Shape;401;p18"/>
          <p:cNvSpPr>
            <a:spLocks noGrp="1"/>
          </p:cNvSpPr>
          <p:nvPr/>
        </p:nvSpPr>
        <p:spPr>
          <a:xfrm>
            <a:off x="4713784"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Xây dựng giao diện danh sách/form chiến dịch, trạng thái và liên kết Lead với API. PR #139 ghi Frontend Hoàng Văn…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2" name="Google Shape;402;p18"/>
          <p:cNvSpPr>
            <a:spLocks noGrp="1"/>
          </p:cNvSpPr>
          <p:nvPr/>
        </p:nvSpPr>
        <p:spPr>
          <a:xfrm>
            <a:off x="4713784" y="2937371"/>
            <a:ext cx="2847315" cy="452041"/>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03" name="Google Shape;403;p18"/>
          <p:cNvPicPr>
            <a:picLocks noChangeAspect="1"/>
          </p:cNvPicPr>
          <p:nvPr/>
        </p:nvPicPr>
        <p:blipFill rotWithShape="1">
          <a:blip r:embed="rId1"/>
          <a:srcRect/>
          <a:stretch>
            <a:fillRect/>
          </a:stretch>
        </p:blipFill>
        <p:spPr>
          <a:xfrm>
            <a:off x="7789317" y="2599531"/>
            <a:ext cx="304800" cy="177800"/>
          </a:xfrm>
          <a:prstGeom prst="rect">
            <a:avLst/>
          </a:prstGeom>
          <a:ln>
            <a:noFill/>
          </a:ln>
        </p:spPr>
      </p:pic>
      <p:sp>
        <p:nvSpPr>
          <p:cNvPr id="404" name="Google Shape;404;p18"/>
          <p:cNvSpPr>
            <a:spLocks noGrp="1"/>
          </p:cNvSpPr>
          <p:nvPr/>
        </p:nvSpPr>
        <p:spPr>
          <a:xfrm>
            <a:off x="8198892" y="1806525"/>
            <a:ext cx="3177133" cy="1763861"/>
          </a:xfrm>
          <a:prstGeom prst="roundRect">
            <a:avLst>
              <a:gd name="adj" fmla="val 5580"/>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5" name="Google Shape;405;p18"/>
          <p:cNvSpPr>
            <a:spLocks noGrp="1"/>
          </p:cNvSpPr>
          <p:nvPr/>
        </p:nvSpPr>
        <p:spPr>
          <a:xfrm>
            <a:off x="8405267" y="2012900"/>
            <a:ext cx="2847315"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Kết quả có minh chứng</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06" name="Google Shape;406;p18"/>
          <p:cNvSpPr>
            <a:spLocks noGrp="1"/>
          </p:cNvSpPr>
          <p:nvPr/>
        </p:nvSpPr>
        <p:spPr>
          <a:xfrm>
            <a:off x="8405267" y="2363391"/>
            <a:ext cx="2847315" cy="1078992"/>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000" b="0" i="0" u="none" strike="noStrike" cap="none">
                <a:solidFill>
                  <a:srgbClr val="3F4A57"/>
                </a:solidFill>
                <a:latin typeface="Be Vietnam Pro"/>
                <a:ea typeface="Be Vietnam Pro"/>
                <a:cs typeface="Be Vietnam Pro"/>
              </a:rPr>
              <a:t>CRM-264 và CRM-266 Done: giao diện chiến dịch và tích hợp FE–BE. PR #139 ghi Frontend Hoàng Văn Thắng.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07" name="Google Shape;407;p18"/>
          <p:cNvSpPr>
            <a:spLocks noGrp="1"/>
          </p:cNvSpPr>
          <p:nvPr/>
        </p:nvSpPr>
        <p:spPr>
          <a:xfrm>
            <a:off x="8405267" y="2937371"/>
            <a:ext cx="284731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08" name="Google Shape;408;p18"/>
          <p:cNvSpPr>
            <a:spLocks noGrp="1"/>
          </p:cNvSpPr>
          <p:nvPr/>
        </p:nvSpPr>
        <p:spPr>
          <a:xfrm>
            <a:off x="8191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09" name="Google Shape;409;p18"/>
          <p:cNvSpPr>
            <a:spLocks noGrp="1"/>
          </p:cNvSpPr>
          <p:nvPr/>
        </p:nvSpPr>
        <p:spPr>
          <a:xfrm>
            <a:off x="2405640" y="4710311"/>
            <a:ext cx="2021270"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0" name="Google Shape;410;p18"/>
          <p:cNvSpPr>
            <a:spLocks noGrp="1"/>
          </p:cNvSpPr>
          <p:nvPr/>
        </p:nvSpPr>
        <p:spPr>
          <a:xfrm>
            <a:off x="6178550" y="3833912"/>
            <a:ext cx="5194300" cy="2001738"/>
          </a:xfrm>
          <a:prstGeom prst="roundRect">
            <a:avLst>
              <a:gd name="adj" fmla="val 4758"/>
            </a:avLst>
          </a:prstGeom>
          <a:solidFill>
            <a:srgbClr val="EDEFEA"/>
          </a:solidFill>
          <a:ln w="12700" cap="flat" cmpd="sng">
            <a:solidFill>
              <a:srgbClr val="A9B2BC"/>
            </a:solidFill>
            <a:prstDash val="dash"/>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11" name="Google Shape;411;p18"/>
          <p:cNvSpPr>
            <a:spLocks noGrp="1"/>
          </p:cNvSpPr>
          <p:nvPr/>
        </p:nvSpPr>
        <p:spPr>
          <a:xfrm>
            <a:off x="7911257" y="4710311"/>
            <a:ext cx="1728887" cy="274290"/>
          </a:xfrm>
          <a:prstGeom prst="rect">
            <a:avLst/>
          </a:prstGeom>
          <a:noFill/>
          <a:ln>
            <a:noFill/>
          </a:ln>
        </p:spPr>
        <p:txBody>
          <a:bodyPr spcFirstLastPara="1" wrap="square" lIns="0" tIns="0" rIns="0" bIns="0" anchor="t">
            <a:noAutofit/>
          </a:bodyPr>
          <a:lstStyle/>
          <a:p>
            <a:pPr marL="0" marR="0" lvl="0" indent="0" algn="ctr">
              <a:lnSpc>
                <a:spcPct val="140000"/>
              </a:lnSpc>
              <a:spcBef>
                <a:spcPts val="0"/>
              </a:spcBef>
              <a:spcAft>
                <a:spcPts val="0"/>
              </a:spcAft>
              <a:buClr>
                <a:srgbClr val="3F4A57"/>
              </a:buClr>
              <a:buSzPts val="1400"/>
              <a:buFont typeface="Be Vietnam Pro"/>
              <a:buNone/>
            </a:pP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12" name="Google Shape;412;p18"/>
          <p:cNvSpPr>
            <a:spLocks noGrp="1"/>
          </p:cNvSpPr>
          <p:nvPr/>
        </p:nvSpPr>
        <p:spPr>
          <a:xfrm>
            <a:off x="812800" y="6238280"/>
            <a:ext cx="307449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800" b="0" i="0" u="none" strike="noStrike" cap="none">
                <a:solidFill>
                  <a:srgbClr val="5A6573"/>
                </a:solidFill>
                <a:latin typeface="Be Vietnam Pro"/>
                <a:ea typeface="Be Vietnam Pro"/>
                <a:cs typeface="Be Vietnam Pro"/>
              </a:rPr>
              <a:t>Minh chứng: Ticket tiêu biểu: CRM-149 · CRM-229 · CRM-264 · CRM-273</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13" name="Google Shape;413;p18"/>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14" name="Google Shape;414;p18"/>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15" name="Google Shape;415;p18"/>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pic>
        <p:nvPicPr>
          <p:cNvPr id="416" name="Picture 415"/>
          <p:cNvPicPr>
            <a:picLocks noChangeAspect="1"/>
          </p:cNvPicPr>
          <p:nvPr/>
        </p:nvPicPr>
        <p:blipFill>
          <a:blip r:embed="rId4"/>
          <a:stretch>
            <a:fillRect/>
          </a:stretch>
        </p:blipFill>
        <p:spPr>
          <a:xfrm>
            <a:off x="1806887" y="3886200"/>
            <a:ext cx="2979048" cy="1527048"/>
          </a:xfrm>
          <a:prstGeom prst="rect">
            <a:avLst/>
          </a:prstGeom>
        </p:spPr>
      </p:pic>
      <p:pic>
        <p:nvPicPr>
          <p:cNvPr id="417" name="Picture 416"/>
          <p:cNvPicPr>
            <a:picLocks noChangeAspect="1"/>
          </p:cNvPicPr>
          <p:nvPr/>
        </p:nvPicPr>
        <p:blipFill>
          <a:blip r:embed="rId5"/>
          <a:stretch>
            <a:fillRect/>
          </a:stretch>
        </p:blipFill>
        <p:spPr>
          <a:xfrm>
            <a:off x="7583751" y="3886200"/>
            <a:ext cx="2581000" cy="152704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1" name="Google Shape;421;p19"/>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100" b="1" i="0" u="none" strike="noStrike" cap="none">
                <a:solidFill>
                  <a:srgbClr val="2556C4"/>
                </a:solidFill>
                <a:latin typeface="Be Vietnam Pro"/>
                <a:ea typeface="Be Vietnam Pro"/>
                <a:cs typeface="Be Vietnam Pro"/>
              </a:rPr>
              <a:t>B · 03 — NĂNG LỰC TĂNG LÊN · HOÀNG VĂN THẮNG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22" name="Google Shape;422;p19"/>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Năng lực trước và sau kỳ thực tập</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23" name="Google Shape;423;p19"/>
          <p:cNvSpPr>
            <a:spLocks noGrp="1"/>
          </p:cNvSpPr>
          <p:nvPr/>
        </p:nvSpPr>
        <p:spPr>
          <a:xfrm>
            <a:off x="812800" y="1803350"/>
            <a:ext cx="10566400" cy="2015133"/>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24" name="Google Shape;424;p19"/>
          <p:cNvCxnSpPr/>
          <p:nvPr/>
        </p:nvCxnSpPr>
        <p:spPr>
          <a:xfrm>
            <a:off x="11376025" y="1803350"/>
            <a:ext cx="0" cy="2015133"/>
          </a:xfrm>
          <a:prstGeom prst="straightConnector1">
            <a:avLst/>
          </a:prstGeom>
          <a:ln w="9525" cap="flat">
            <a:solidFill>
              <a:srgbClr val="DDE1DC"/>
            </a:solidFill>
            <a:prstDash val="solid"/>
            <a:round/>
            <a:headEnd type="none" w="sm" len="sm"/>
            <a:tailEnd type="none" w="sm" len="sm"/>
          </a:ln>
        </p:spPr>
      </p:cxnSp>
      <p:cxnSp>
        <p:nvCxnSpPr>
          <p:cNvPr id="425" name="Google Shape;425;p19"/>
          <p:cNvCxnSpPr/>
          <p:nvPr/>
        </p:nvCxnSpPr>
        <p:spPr>
          <a:xfrm>
            <a:off x="812800" y="3815308"/>
            <a:ext cx="10566400" cy="0"/>
          </a:xfrm>
          <a:prstGeom prst="straightConnector1">
            <a:avLst/>
          </a:prstGeom>
          <a:ln w="9525" cap="flat">
            <a:solidFill>
              <a:srgbClr val="DDE1DC"/>
            </a:solidFill>
            <a:prstDash val="solid"/>
            <a:round/>
            <a:headEnd type="none" w="sm" len="sm"/>
            <a:tailEnd type="none" w="sm" len="sm"/>
          </a:ln>
        </p:spPr>
      </p:cxnSp>
      <p:graphicFrame>
        <p:nvGraphicFramePr>
          <p:cNvPr id="426" name="Google Shape;426;p19"/>
          <p:cNvGraphicFramePr/>
          <p:nvPr/>
        </p:nvGraphicFramePr>
        <p:xfrm>
          <a:off x="825500" y="1816050"/>
          <a:ext cx="10547350" cy="2029968"/>
        </p:xfrm>
        <a:graphic>
          <a:graphicData uri="http://schemas.openxmlformats.org/drawingml/2006/table">
            <a:tbl>
              <a:tblPr>
                <a:tableStyleId>{9B3969C7-C4A1-4AC8-A6FE-2D9392E11A51}</a:tableStyleId>
              </a:tblPr>
              <a:tblGrid>
                <a:gridCol w="4008000"/>
                <a:gridCol w="1476625"/>
                <a:gridCol w="1476625"/>
                <a:gridCol w="3586100"/>
              </a:tblGrid>
              <a:tr h="338328">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Năng lực</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Trước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Sau (1–5)</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c>
                  <a:txBody>
                    <a:bodyPr wrap="square"/>
                    <a:lstStyle/>
                    <a:p>
                      <a:pPr marL="0" marR="0" lvl="0" indent="0" algn="l">
                        <a:lnSpc>
                          <a:spcPct val="140000"/>
                        </a:lnSpc>
                        <a:spcBef>
                          <a:spcPts val="0"/>
                        </a:spcBef>
                        <a:spcAft>
                          <a:spcPts val="0"/>
                        </a:spcAft>
                        <a:buClr>
                          <a:srgbClr val="F6F7F4"/>
                        </a:buClr>
                        <a:buSzPts val="1200"/>
                        <a:buFont typeface="Be Vietnam Pro"/>
                        <a:buNone/>
                      </a:pPr>
                      <a:r>
                        <a:rPr sz="900" b="1" u="none" strike="noStrike" cap="none">
                          <a:solidFill>
                            <a:srgbClr val="F6F7F4"/>
                          </a:solidFill>
                          <a:latin typeface="Aptos"/>
                          <a:ea typeface="Aptos"/>
                          <a:cs typeface="Aptos"/>
                        </a:rPr>
                        <a:t>Minh chứng</a:t>
                      </a:r>
                      <a:endParaRPr sz="1200" u="none" strike="noStrike" cap="none">
                        <a:latin typeface="Be Vietnam Pro"/>
                        <a:ea typeface="Be Vietnam Pro"/>
                        <a:cs typeface="Be Vietnam Pro"/>
                      </a:endParaRPr>
                    </a:p>
                  </a:txBody>
                  <a:tcPr marL="45720" marR="45720" marT="13716" marB="13716">
                    <a:lnL w="12700" cmpd="sng">
                      <a:solidFill>
                        <a:srgbClr val="122231"/>
                      </a:solidFill>
                      <a:prstDash val="solid"/>
                    </a:lnL>
                    <a:lnR w="12700" cmpd="sng">
                      <a:solidFill>
                        <a:srgbClr val="122231"/>
                      </a:solidFill>
                      <a:prstDash val="solid"/>
                    </a:lnR>
                    <a:lnT w="12700" cmpd="sng">
                      <a:solidFill>
                        <a:srgbClr val="CACAC8"/>
                      </a:solidFill>
                      <a:prstDash val="solid"/>
                    </a:lnT>
                    <a:lnB w="12700" cmpd="sng">
                      <a:solidFill>
                        <a:srgbClr val="122231"/>
                      </a:solidFill>
                      <a:prstDash val="solid"/>
                    </a:lnB>
                    <a:solidFill>
                      <a:srgbClr val="12263A"/>
                    </a:solidFill>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HTML5, CSS3, DOM &amp; Animation</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Xây dựng giao diện bảng dữ liệu Chiến dịch, tối ưu CSS</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122231"/>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Chuyên môn: Tối ưu hiển thị &amp; Trải nghiệm</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PR #139 ghi Frontend Chiến dịch; chống chớp trang PR #106/#107 thuộc nongquangtiep.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Công cụ: Git, Jira</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r>
                        <a:rPr sz="1100">
                          <a:solidFill>
                            <a:srgbClr val="1D3340"/>
                          </a:solidFill>
                          <a:latin typeface="Arial" panose="020B0604020202020204"/>
                          <a:ea typeface="Arial" panose="020B0604020202020204"/>
                          <a:cs typeface="Arial" panose="020B0604020202020204"/>
                        </a:rPr>
                        <a:t>Jira: 12/12 task Done. Git: 15 tổng / 13 Insights; 2 PR theo mốc 21/10.</a:t>
                      </a:r>
                      <a:endParaRPr sz="1100">
                        <a:solidFill>
                          <a:srgbClr val="1D3340"/>
                        </a:solidFill>
                        <a:latin typeface="Arial" panose="020B0604020202020204"/>
                        <a:ea typeface="Arial" panose="020B0604020202020204"/>
                        <a:cs typeface="Arial" panose="020B0604020202020204"/>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Làm việc nhóm &amp; Giao tiếp</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Tiếp thu phản hồi từ QA và fix lỗi giao diện nhanh chóng</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r h="338328">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Kỹ năng chỉnh chu giao diện UI/UX</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c>
                  <a:txBody>
                    <a:bodyPr wrap="square"/>
                    <a:lstStyle/>
                    <a:p>
                      <a:pPr marL="0" marR="0" lvl="0" indent="0" algn="l">
                        <a:lnSpc>
                          <a:spcPct val="140000"/>
                        </a:lnSpc>
                        <a:spcBef>
                          <a:spcPts val="0"/>
                        </a:spcBef>
                        <a:spcAft>
                          <a:spcPts val="0"/>
                        </a:spcAft>
                        <a:buClr>
                          <a:srgbClr val="12263A"/>
                        </a:buClr>
                        <a:buSzPts val="1200"/>
                        <a:buFont typeface="Be Vietnam Pro"/>
                        <a:buNone/>
                      </a:pPr>
                      <a:r>
                        <a:rPr sz="900" u="none" strike="noStrike" cap="none">
                          <a:solidFill>
                            <a:srgbClr val="12263A"/>
                          </a:solidFill>
                          <a:latin typeface="Aptos"/>
                          <a:ea typeface="Aptos"/>
                          <a:cs typeface="Aptos"/>
                        </a:rPr>
                        <a:t>Có phân công Frontend S4-03; chất lượng UI cần đối chiếu ca kiểm thử thực tế.</a:t>
                      </a:r>
                      <a:endParaRPr sz="1200" u="none" strike="noStrike" cap="none">
                        <a:latin typeface="Be Vietnam Pro"/>
                        <a:ea typeface="Be Vietnam Pro"/>
                        <a:cs typeface="Be Vietnam Pro"/>
                      </a:endParaRPr>
                    </a:p>
                  </a:txBody>
                  <a:tcPr marL="45720" marR="45720" marT="13716" marB="13716">
                    <a:lnL w="12700" cmpd="sng">
                      <a:solidFill>
                        <a:srgbClr val="CACAC8"/>
                      </a:solidFill>
                      <a:prstDash val="solid"/>
                    </a:lnL>
                    <a:lnR w="12700" cmpd="sng">
                      <a:solidFill>
                        <a:srgbClr val="CACAC8"/>
                      </a:solidFill>
                      <a:prstDash val="solid"/>
                    </a:lnR>
                    <a:lnT w="12700" cmpd="sng">
                      <a:solidFill>
                        <a:srgbClr val="CACAC8"/>
                      </a:solidFill>
                      <a:prstDash val="solid"/>
                    </a:lnT>
                    <a:lnB w="12700" cmpd="sng">
                      <a:solidFill>
                        <a:srgbClr val="CACAC8"/>
                      </a:solidFill>
                      <a:prstDash val="solid"/>
                    </a:lnB>
                  </a:tcPr>
                </a:tc>
              </a:tr>
            </a:tbl>
          </a:graphicData>
        </a:graphic>
      </p:graphicFrame>
      <p:sp>
        <p:nvSpPr>
          <p:cNvPr id="427" name="Google Shape;427;p19"/>
          <p:cNvSpPr>
            <a:spLocks noGrp="1"/>
          </p:cNvSpPr>
          <p:nvPr/>
        </p:nvSpPr>
        <p:spPr>
          <a:xfrm>
            <a:off x="8159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28" name="Google Shape;428;p19"/>
          <p:cNvSpPr>
            <a:spLocks noGrp="1"/>
          </p:cNvSpPr>
          <p:nvPr/>
        </p:nvSpPr>
        <p:spPr>
          <a:xfrm>
            <a:off x="10223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Đánh giá theo công việc ghi nhận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29" name="Google Shape;429;p19"/>
          <p:cNvSpPr>
            <a:spLocks noGrp="1"/>
          </p:cNvSpPr>
          <p:nvPr/>
        </p:nvSpPr>
        <p:spPr>
          <a:xfrm>
            <a:off x="10223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Jira 12/12 sub-task Done; tỷ trọng 7,9% / 152 task. </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0" name="Google Shape;430;p19"/>
          <p:cNvSpPr>
            <a:spLocks noGrp="1"/>
          </p:cNvSpPr>
          <p:nvPr/>
        </p:nvSpPr>
        <p:spPr>
          <a:xfrm>
            <a:off x="6175375" y="4075658"/>
            <a:ext cx="5200650" cy="1763167"/>
          </a:xfrm>
          <a:prstGeom prst="roundRect">
            <a:avLst>
              <a:gd name="adj" fmla="val 558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31" name="Google Shape;431;p19"/>
          <p:cNvSpPr>
            <a:spLocks noGrp="1"/>
          </p:cNvSpPr>
          <p:nvPr/>
        </p:nvSpPr>
        <p:spPr>
          <a:xfrm>
            <a:off x="6381750" y="4256633"/>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Tiếp tục cải thiện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32" name="Google Shape;432;p19"/>
          <p:cNvSpPr>
            <a:spLocks noGrp="1"/>
          </p:cNvSpPr>
          <p:nvPr/>
        </p:nvSpPr>
        <p:spPr>
          <a:xfrm>
            <a:off x="6381750" y="4607123"/>
            <a:ext cx="4931537"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100" b="0" i="0" u="none" strike="noStrike" cap="none">
                <a:solidFill>
                  <a:srgbClr val="3F4A57"/>
                </a:solidFill>
                <a:latin typeface="Be Vietnam Pro"/>
                <a:ea typeface="Be Vietnam Pro"/>
                <a:cs typeface="Be Vietnam Pro"/>
              </a:rPr>
              <a:t>Rèn luyện thêm về thiết kế form nhập liệu trực quan và tối ưu hóa tốc độ tải trang trên các thiết bị cấu hình thấp.</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33" name="Google Shape;433;p19"/>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34" name="Google Shape;434;p19"/>
          <p:cNvSpPr>
            <a:spLocks noGrp="1"/>
          </p:cNvSpPr>
          <p:nvPr/>
        </p:nvSpPr>
        <p:spPr>
          <a:xfrm>
            <a:off x="9305627" y="6238280"/>
            <a:ext cx="213578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B — Đóng góp cá nhân</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35" name="Google Shape;435;p19"/>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36" name="Google Shape;436;p19"/>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42" name="Google Shape;442;p20"/>
          <p:cNvSpPr>
            <a:spLocks noGrp="1"/>
          </p:cNvSpPr>
          <p:nvPr/>
        </p:nvSpPr>
        <p:spPr>
          <a:xfrm>
            <a:off x="812800" y="238001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400"/>
              <a:buFont typeface="Be Vietnam Pro"/>
              <a:buNone/>
            </a:pPr>
            <a:r>
              <a:rPr sz="1400" b="1" i="0" u="none" strike="noStrike" cap="none">
                <a:solidFill>
                  <a:srgbClr val="F28C28"/>
                </a:solidFill>
                <a:latin typeface="Be Vietnam Pro"/>
                <a:ea typeface="Be Vietnam Pro"/>
                <a:cs typeface="Be Vietnam Pro"/>
              </a:rPr>
              <a:t>PHẦN C</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43" name="Google Shape;443;p20"/>
          <p:cNvSpPr>
            <a:spLocks noGrp="1"/>
          </p:cNvSpPr>
          <p:nvPr/>
        </p:nvSpPr>
        <p:spPr>
          <a:xfrm>
            <a:off x="812800" y="2832100"/>
            <a:ext cx="10883392" cy="69592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F6F7F4"/>
              </a:buClr>
              <a:buSzPts val="4800"/>
              <a:buFont typeface="Be Vietnam Pro"/>
              <a:buNone/>
            </a:pPr>
            <a:r>
              <a:rPr sz="4800" b="1" i="0" u="none" strike="noStrike" cap="none">
                <a:solidFill>
                  <a:srgbClr val="F6F7F4"/>
                </a:solidFill>
                <a:latin typeface="Be Vietnam Pro"/>
                <a:ea typeface="Be Vietnam Pro"/>
                <a:cs typeface="Be Vietnam Pro"/>
              </a:rPr>
              <a:t>Tổng kết</a:t>
            </a:r>
            <a:endParaRPr sz="4800" b="0" i="0" u="none" strike="noStrike" cap="none">
              <a:solidFill>
                <a:schemeClr val="dk1"/>
              </a:solidFill>
              <a:latin typeface="Calibri" panose="020F0502020204030204"/>
              <a:ea typeface="Calibri" panose="020F0502020204030204"/>
              <a:cs typeface="Calibri" panose="020F0502020204030204"/>
            </a:endParaRPr>
          </a:p>
        </p:txBody>
      </p:sp>
      <p:sp>
        <p:nvSpPr>
          <p:cNvPr id="444" name="Google Shape;444;p20"/>
          <p:cNvSpPr>
            <a:spLocks noGrp="1"/>
          </p:cNvSpPr>
          <p:nvPr/>
        </p:nvSpPr>
        <p:spPr>
          <a:xfrm>
            <a:off x="812800" y="3705820"/>
            <a:ext cx="10883392" cy="34543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800"/>
              <a:buFont typeface="Be Vietnam Pro"/>
              <a:buNone/>
            </a:pPr>
            <a:r>
              <a:rPr sz="1800" b="0" i="0" u="none" strike="noStrike" cap="none">
                <a:solidFill>
                  <a:srgbClr val="BFD0DE"/>
                </a:solidFill>
                <a:latin typeface="Be Vietnam Pro"/>
                <a:ea typeface="Be Vietnam Pro"/>
                <a:cs typeface="Be Vietnam Pro"/>
              </a:rPr>
              <a:t>Giá trị đạt được · Bài học · Hướng phát triển · Demo</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45" name="Google Shape;445;p20"/>
          <p:cNvSpPr>
            <a:spLocks noGrp="1"/>
          </p:cNvSpPr>
          <p:nvPr/>
        </p:nvSpPr>
        <p:spPr>
          <a:xfrm>
            <a:off x="812800" y="422905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BFD0DE"/>
              </a:buClr>
              <a:buSzPts val="1400"/>
              <a:buFont typeface="Be Vietnam Pro"/>
              <a:buNone/>
            </a:pPr>
            <a:r>
              <a:rPr sz="1400" b="0" i="0" u="none" strike="noStrike" cap="none">
                <a:solidFill>
                  <a:srgbClr val="BFD0DE"/>
                </a:solidFill>
                <a:latin typeface="Be Vietnam Pro"/>
                <a:ea typeface="Be Vietnam Pro"/>
                <a:cs typeface="Be Vietnam Pro"/>
              </a:rPr>
              <a:t>Nhóm 5 · Người trình bày: Nguyễn Thị Thu Thảo · Khoảng 7 phút</a:t>
            </a:r>
            <a:endParaRPr sz="1400" b="0" i="0" u="none" strike="noStrike" cap="none">
              <a:solidFill>
                <a:schemeClr val="dk1"/>
              </a:solidFill>
              <a:latin typeface="Calibri" panose="020F0502020204030204"/>
              <a:ea typeface="Calibri" panose="020F0502020204030204"/>
              <a:cs typeface="Calibri" panose="020F0502020204030204"/>
            </a:endParaRPr>
          </a:p>
        </p:txBody>
      </p:sp>
      <p:pic>
        <p:nvPicPr>
          <p:cNvPr id="446" name="Google Shape;446;p20"/>
          <p:cNvPicPr>
            <a:picLocks noChangeAspect="1"/>
          </p:cNvPicPr>
          <p:nvPr/>
        </p:nvPicPr>
        <p:blipFill rotWithShape="1">
          <a:blip r:embed="rId2"/>
          <a:srcRect/>
          <a:stretch>
            <a:fillRect/>
          </a:stretch>
        </p:blipFill>
        <p:spPr>
          <a:xfrm>
            <a:off x="4778375" y="203200"/>
            <a:ext cx="406400" cy="406400"/>
          </a:xfrm>
          <a:prstGeom prst="rect">
            <a:avLst/>
          </a:prstGeom>
          <a:ln>
            <a:noFill/>
          </a:ln>
        </p:spPr>
      </p:pic>
      <p:pic>
        <p:nvPicPr>
          <p:cNvPr id="447" name="Google Shape;447;p20"/>
          <p:cNvPicPr>
            <a:picLocks noChangeAspect="1"/>
          </p:cNvPicPr>
          <p:nvPr/>
        </p:nvPicPr>
        <p:blipFill rotWithShape="1">
          <a:blip r:embed="rId3"/>
          <a:srcRect t="-50" b="-50"/>
          <a:stretch>
            <a:fillRect/>
          </a:stretch>
        </p:blipFill>
        <p:spPr>
          <a:xfrm>
            <a:off x="5438775" y="203200"/>
            <a:ext cx="1974850" cy="406400"/>
          </a:xfrm>
          <a:prstGeom prst="rect">
            <a:avLst/>
          </a:prstGeom>
          <a:ln>
            <a:noFill/>
          </a:ln>
        </p:spPr>
      </p:pic>
      <p:sp>
        <p:nvSpPr>
          <p:cNvPr id="9139" name="Design accent 9139"/>
          <p:cNvSpPr>
            <a:spLocks noGrp="1"/>
          </p:cNvSpPr>
          <p:nvPr/>
        </p:nvSpPr>
        <p:spPr>
          <a:xfrm>
            <a:off x="809625" y="2895600"/>
            <a:ext cx="590550" cy="28575"/>
          </a:xfrm>
          <a:prstGeom prst="rect">
            <a:avLst/>
          </a:prstGeom>
          <a:solidFill>
            <a:srgbClr val="FF8A1F"/>
          </a:solidFill>
          <a:ln>
            <a:no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453" name="Google Shape;453;p21"/>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C · 01 — GIÁ TRỊ</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54" name="Google Shape;454;p21"/>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Giá trị đạt được</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55" name="Google Shape;455;p21"/>
          <p:cNvSpPr>
            <a:spLocks noGrp="1"/>
          </p:cNvSpPr>
          <p:nvPr/>
        </p:nvSpPr>
        <p:spPr>
          <a:xfrm>
            <a:off x="815975" y="1806525"/>
            <a:ext cx="3414167"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456" name="Google Shape;456;p21"/>
          <p:cNvPicPr>
            <a:picLocks noChangeAspect="1"/>
          </p:cNvPicPr>
          <p:nvPr/>
        </p:nvPicPr>
        <p:blipFill rotWithShape="1">
          <a:blip r:embed="rId1"/>
          <a:srcRect/>
          <a:stretch>
            <a:fillRect/>
          </a:stretch>
        </p:blipFill>
        <p:spPr>
          <a:xfrm>
            <a:off x="1022350" y="2012900"/>
            <a:ext cx="355600" cy="355600"/>
          </a:xfrm>
          <a:prstGeom prst="rect">
            <a:avLst/>
          </a:prstGeom>
          <a:ln>
            <a:noFill/>
          </a:ln>
        </p:spPr>
      </p:pic>
      <p:sp>
        <p:nvSpPr>
          <p:cNvPr id="457" name="Google Shape;457;p21"/>
          <p:cNvSpPr>
            <a:spLocks noGrp="1"/>
          </p:cNvSpPr>
          <p:nvPr/>
        </p:nvSpPr>
        <p:spPr>
          <a:xfrm>
            <a:off x="1022350" y="2444700"/>
            <a:ext cx="3091459" cy="57398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Cho sản phẩm / doanh nghiệp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58" name="Google Shape;458;p21"/>
          <p:cNvSpPr>
            <a:spLocks noGrp="1"/>
          </p:cNvSpPr>
          <p:nvPr/>
        </p:nvSpPr>
        <p:spPr>
          <a:xfrm>
            <a:off x="1022350" y="3069481"/>
            <a:ext cx="3091459" cy="126985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Tập trung thông tin khách hàng và liên hệ. Hình thành Customer 360, quản lý Lead, chấm điểm và phân bổ.</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59" name="Google Shape;459;p21"/>
          <p:cNvSpPr>
            <a:spLocks noGrp="1"/>
          </p:cNvSpPr>
          <p:nvPr/>
        </p:nvSpPr>
        <p:spPr>
          <a:xfrm>
            <a:off x="4388892" y="1806525"/>
            <a:ext cx="3414216"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460" name="Google Shape;460;p21"/>
          <p:cNvPicPr>
            <a:picLocks noChangeAspect="1"/>
          </p:cNvPicPr>
          <p:nvPr/>
        </p:nvPicPr>
        <p:blipFill rotWithShape="1">
          <a:blip r:embed="rId2"/>
          <a:srcRect/>
          <a:stretch>
            <a:fillRect/>
          </a:stretch>
        </p:blipFill>
        <p:spPr>
          <a:xfrm>
            <a:off x="4595267" y="2012900"/>
            <a:ext cx="355600" cy="355600"/>
          </a:xfrm>
          <a:prstGeom prst="rect">
            <a:avLst/>
          </a:prstGeom>
          <a:ln>
            <a:noFill/>
          </a:ln>
        </p:spPr>
      </p:pic>
      <p:sp>
        <p:nvSpPr>
          <p:cNvPr id="461" name="Google Shape;461;p21"/>
          <p:cNvSpPr>
            <a:spLocks noGrp="1"/>
          </p:cNvSpPr>
          <p:nvPr/>
        </p:nvSpPr>
        <p:spPr>
          <a:xfrm>
            <a:off x="4595267" y="2444700"/>
            <a:ext cx="3091510"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Cho nhóm</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62" name="Google Shape;462;p21"/>
          <p:cNvSpPr>
            <a:spLocks noGrp="1"/>
          </p:cNvSpPr>
          <p:nvPr/>
        </p:nvSpPr>
        <p:spPr>
          <a:xfrm>
            <a:off x="4595267" y="2795191"/>
            <a:ext cx="3091510" cy="126985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300" b="0" i="0" u="none" strike="noStrike" cap="none">
                <a:solidFill>
                  <a:srgbClr val="3F4A57"/>
                </a:solidFill>
                <a:latin typeface="Be Vietnam Pro"/>
                <a:ea typeface="Be Vietnam Pro"/>
                <a:cs typeface="Be Vietnam Pro"/>
              </a:rPr>
              <a:t>Hoàn thành phạm vi Sprint 1–4: 38 story, 172 SP. Có backlog chia sprint để phối hợp triển khai và kiểm tra tiến độ.</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63" name="Google Shape;463;p21"/>
          <p:cNvSpPr>
            <a:spLocks noGrp="1"/>
          </p:cNvSpPr>
          <p:nvPr/>
        </p:nvSpPr>
        <p:spPr>
          <a:xfrm>
            <a:off x="7961858" y="1806525"/>
            <a:ext cx="3414167" cy="3224609"/>
          </a:xfrm>
          <a:prstGeom prst="roundRect">
            <a:avLst>
              <a:gd name="adj" fmla="val 3052"/>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pic>
        <p:nvPicPr>
          <p:cNvPr id="464" name="Google Shape;464;p21"/>
          <p:cNvPicPr>
            <a:picLocks noChangeAspect="1"/>
          </p:cNvPicPr>
          <p:nvPr/>
        </p:nvPicPr>
        <p:blipFill rotWithShape="1">
          <a:blip r:embed="rId3"/>
          <a:srcRect/>
          <a:stretch>
            <a:fillRect/>
          </a:stretch>
        </p:blipFill>
        <p:spPr>
          <a:xfrm>
            <a:off x="8168233" y="2012900"/>
            <a:ext cx="355600" cy="355600"/>
          </a:xfrm>
          <a:prstGeom prst="rect">
            <a:avLst/>
          </a:prstGeom>
          <a:ln>
            <a:noFill/>
          </a:ln>
        </p:spPr>
      </p:pic>
      <p:sp>
        <p:nvSpPr>
          <p:cNvPr id="465" name="Google Shape;465;p21"/>
          <p:cNvSpPr>
            <a:spLocks noGrp="1"/>
          </p:cNvSpPr>
          <p:nvPr/>
        </p:nvSpPr>
        <p:spPr>
          <a:xfrm>
            <a:off x="8168233" y="2444700"/>
            <a:ext cx="3091459"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Cho cá nhân</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66" name="Google Shape;466;p21"/>
          <p:cNvSpPr>
            <a:spLocks noGrp="1"/>
          </p:cNvSpPr>
          <p:nvPr/>
        </p:nvSpPr>
        <p:spPr>
          <a:xfrm>
            <a:off x="8168233" y="2795191"/>
            <a:ext cx="3091459" cy="1269851"/>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Thực hành Java/JS, SQL, Git/Jira và QA.</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Rèn kỹ năng phối hợp FE–BE–QA.</a:t>
            </a:r>
            <a:br>
              <a:rPr sz="1200" b="0" i="0" u="none" strike="noStrike" cap="none">
                <a:solidFill>
                  <a:srgbClr val="3F4A57"/>
                </a:solidFill>
                <a:latin typeface="Be Vietnam Pro"/>
                <a:ea typeface="Be Vietnam Pro"/>
                <a:cs typeface="Be Vietnam Pro"/>
              </a:rPr>
            </a:br>
            <a:r>
              <a:rPr sz="1200" b="0" i="0" u="none" strike="noStrike" cap="none">
                <a:solidFill>
                  <a:srgbClr val="3F4A57"/>
                </a:solidFill>
                <a:latin typeface="Be Vietnam Pro"/>
                <a:ea typeface="Be Vietnam Pro"/>
                <a:cs typeface="Be Vietnam Pro"/>
              </a:rPr>
              <a:t>Có mã nguồn CRM để tiếp tục phát triển.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67" name="Google Shape;467;p21"/>
          <p:cNvSpPr>
            <a:spLocks noGrp="1"/>
          </p:cNvSpPr>
          <p:nvPr/>
        </p:nvSpPr>
        <p:spPr>
          <a:xfrm>
            <a:off x="812800" y="5288310"/>
            <a:ext cx="10566400" cy="553690"/>
          </a:xfrm>
          <a:prstGeom prst="roundRect">
            <a:avLst>
              <a:gd name="adj" fmla="val 18350"/>
            </a:avLst>
          </a:prstGeom>
          <a:solidFill>
            <a:srgbClr val="12263A"/>
          </a:solidFill>
          <a:ln>
            <a:noFill/>
          </a:ln>
        </p:spPr>
        <p:txBody>
          <a:bodyPr spcFirstLastPara="1" wrap="square" lIns="91425" tIns="91425" rIns="91425" bIns="91425" anchor="ctr">
            <a:noAutofit/>
          </a:bodyPr>
          <a:lstStyle/>
          <a:p>
            <a:pPr marL="0" lvl="0" indent="0" algn="l">
              <a:spcBef>
                <a:spcPts val="0"/>
              </a:spcBef>
              <a:spcAft>
                <a:spcPts val="0"/>
              </a:spcAft>
              <a:buNone/>
            </a:pPr>
          </a:p>
        </p:txBody>
      </p:sp>
      <p:sp>
        <p:nvSpPr>
          <p:cNvPr id="468" name="Google Shape;468;p21"/>
          <p:cNvSpPr>
            <a:spLocks noGrp="1"/>
          </p:cNvSpPr>
          <p:nvPr/>
        </p:nvSpPr>
        <p:spPr>
          <a:xfrm>
            <a:off x="1016000" y="5440710"/>
            <a:ext cx="10464800"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F28C28"/>
              </a:buClr>
              <a:buSzPts val="1400"/>
              <a:buFont typeface="Be Vietnam Pro"/>
              <a:buNone/>
            </a:pPr>
            <a:r>
              <a:rPr sz="1200" b="1" i="0" u="none" strike="noStrike" cap="none">
                <a:solidFill>
                  <a:srgbClr val="F28C28"/>
                </a:solidFill>
                <a:latin typeface="Be Vietnam Pro"/>
                <a:ea typeface="Be Vietnam Pro"/>
                <a:cs typeface="Be Vietnam Pro"/>
              </a:rPr>
              <a:t>Giá trị chung: xây dựng nền tảng CRM và luồng khách hàng – Lead, làm cơ sở mở rộng sản phẩm sau dự án.</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69" name="Google Shape;469;p21"/>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70" name="Google Shape;470;p21"/>
          <p:cNvSpPr>
            <a:spLocks noGrp="1"/>
          </p:cNvSpPr>
          <p:nvPr/>
        </p:nvSpPr>
        <p:spPr>
          <a:xfrm>
            <a:off x="9988352" y="6238280"/>
            <a:ext cx="1441648"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C — Tổng kết</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71" name="Google Shape;471;p21"/>
          <p:cNvPicPr>
            <a:picLocks noChangeAspect="1"/>
          </p:cNvPicPr>
          <p:nvPr/>
        </p:nvPicPr>
        <p:blipFill rotWithShape="1">
          <a:blip r:embed="rId4"/>
          <a:srcRect/>
          <a:stretch>
            <a:fillRect/>
          </a:stretch>
        </p:blipFill>
        <p:spPr>
          <a:xfrm>
            <a:off x="4778375" y="203200"/>
            <a:ext cx="406400" cy="406400"/>
          </a:xfrm>
          <a:prstGeom prst="rect">
            <a:avLst/>
          </a:prstGeom>
          <a:ln>
            <a:noFill/>
          </a:ln>
        </p:spPr>
      </p:pic>
      <p:pic>
        <p:nvPicPr>
          <p:cNvPr id="472" name="Google Shape;472;p21"/>
          <p:cNvPicPr>
            <a:picLocks noChangeAspect="1"/>
          </p:cNvPicPr>
          <p:nvPr/>
        </p:nvPicPr>
        <p:blipFill rotWithShape="1">
          <a:blip r:embed="rId5"/>
          <a:srcRect t="-50" b="-50"/>
          <a:stretch>
            <a:fillRect/>
          </a:stretch>
        </p:blipFill>
        <p:spPr>
          <a:xfrm>
            <a:off x="5438775" y="203200"/>
            <a:ext cx="1974850" cy="406400"/>
          </a:xfrm>
          <a:prstGeom prst="rect">
            <a:avLst/>
          </a:prstGeom>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478" name="Google Shape;478;p22"/>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C · 02 — BÀI HỌC</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79" name="Google Shape;479;p22"/>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Bài học &amp; điểm cần cải thiện</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480" name="Google Shape;480;p22"/>
          <p:cNvSpPr>
            <a:spLocks noGrp="1"/>
          </p:cNvSpPr>
          <p:nvPr/>
        </p:nvSpPr>
        <p:spPr>
          <a:xfrm>
            <a:off x="815975" y="1806525"/>
            <a:ext cx="5200650" cy="2165152"/>
          </a:xfrm>
          <a:prstGeom prst="roundRect">
            <a:avLst>
              <a:gd name="adj" fmla="val 454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81" name="Google Shape;481;p22"/>
          <p:cNvSpPr>
            <a:spLocks noGrp="1"/>
          </p:cNvSpPr>
          <p:nvPr/>
        </p:nvSpPr>
        <p:spPr>
          <a:xfrm>
            <a:off x="1022350" y="2012900"/>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Kỹ thuật</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82" name="Google Shape;482;p22"/>
          <p:cNvSpPr>
            <a:spLocks noGrp="1"/>
          </p:cNvSpPr>
          <p:nvPr/>
        </p:nvSpPr>
        <p:spPr>
          <a:xfrm>
            <a:off x="1022350" y="2363391"/>
            <a:ext cx="493153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BÀI HỌC</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83" name="Google Shape;483;p22"/>
          <p:cNvSpPr>
            <a:spLocks noGrp="1"/>
          </p:cNvSpPr>
          <p:nvPr/>
        </p:nvSpPr>
        <p:spPr>
          <a:xfrm>
            <a:off x="1022350" y="2652911"/>
            <a:ext cx="4931537" cy="5231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Kiểm tra phân quyền phía server; xử lý dữ liệu khách hàng/Lead trùng lặp.</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84" name="Google Shape;484;p22"/>
          <p:cNvSpPr>
            <a:spLocks noGrp="1"/>
          </p:cNvSpPr>
          <p:nvPr/>
        </p:nvSpPr>
        <p:spPr>
          <a:xfrm>
            <a:off x="1022350" y="3226891"/>
            <a:ext cx="493153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NẾU LÀM LẠI, NHÓM SẼ</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85" name="Google Shape;485;p22"/>
          <p:cNvSpPr>
            <a:spLocks noGrp="1"/>
          </p:cNvSpPr>
          <p:nvPr/>
        </p:nvSpPr>
        <p:spPr>
          <a:xfrm>
            <a:off x="1022350" y="3516412"/>
            <a:ext cx="4931537" cy="27429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Làm rõ AC, API contract, dữ liệu mẫu và kiểm thử bảo mật.</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86" name="Google Shape;486;p22"/>
          <p:cNvSpPr>
            <a:spLocks noGrp="1"/>
          </p:cNvSpPr>
          <p:nvPr/>
        </p:nvSpPr>
        <p:spPr>
          <a:xfrm>
            <a:off x="6175375" y="1806525"/>
            <a:ext cx="5200650" cy="2165152"/>
          </a:xfrm>
          <a:prstGeom prst="roundRect">
            <a:avLst>
              <a:gd name="adj" fmla="val 4546"/>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487" name="Google Shape;487;p22"/>
          <p:cNvSpPr>
            <a:spLocks noGrp="1"/>
          </p:cNvSpPr>
          <p:nvPr/>
        </p:nvSpPr>
        <p:spPr>
          <a:xfrm>
            <a:off x="6381750" y="2012900"/>
            <a:ext cx="4931537"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Làm việc nhóm</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88" name="Google Shape;488;p22"/>
          <p:cNvSpPr>
            <a:spLocks noGrp="1"/>
          </p:cNvSpPr>
          <p:nvPr/>
        </p:nvSpPr>
        <p:spPr>
          <a:xfrm>
            <a:off x="6381750" y="2363391"/>
            <a:ext cx="493153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BÀI HỌC</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89" name="Google Shape;489;p22"/>
          <p:cNvSpPr>
            <a:spLocks noGrp="1"/>
          </p:cNvSpPr>
          <p:nvPr/>
        </p:nvSpPr>
        <p:spPr>
          <a:xfrm>
            <a:off x="6381750" y="2652911"/>
            <a:ext cx="4931537" cy="52318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Chia sprint, quản lý phụ thuộc; FE–BE–QA tích hợp liên tục.</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90" name="Google Shape;490;p22"/>
          <p:cNvSpPr>
            <a:spLocks noGrp="1"/>
          </p:cNvSpPr>
          <p:nvPr/>
        </p:nvSpPr>
        <p:spPr>
          <a:xfrm>
            <a:off x="6381750" y="3226891"/>
            <a:ext cx="4931537"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NẾU LÀM LẠI, NHÓM SẼ</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91" name="Google Shape;491;p22"/>
          <p:cNvSpPr>
            <a:spLocks noGrp="1"/>
          </p:cNvSpPr>
          <p:nvPr/>
        </p:nvSpPr>
        <p:spPr>
          <a:xfrm>
            <a:off x="6381750" y="3516412"/>
            <a:ext cx="4931537" cy="274290"/>
          </a:xfrm>
          <a:prstGeom prst="rect">
            <a:avLst/>
          </a:prstGeom>
          <a:noFill/>
          <a:ln>
            <a:noFill/>
          </a:ln>
        </p:spPr>
        <p:txBody>
          <a:bodyPr spcFirstLastPara="1" wrap="square" lIns="0" tIns="0" rIns="0" bIns="0" anchor="t">
            <a:noAutofit/>
          </a:bodyPr>
          <a:lstStyle/>
          <a:p>
            <a:pPr marL="213360" marR="0" lvl="0" indent="-169545" algn="l">
              <a:lnSpc>
                <a:spcPct val="140000"/>
              </a:lnSpc>
              <a:spcBef>
                <a:spcPts val="0"/>
              </a:spcBef>
              <a:spcAft>
                <a:spcPts val="0"/>
              </a:spcAft>
              <a:buClr>
                <a:srgbClr val="3F4A57"/>
              </a:buClr>
              <a:buSzPts val="1400"/>
              <a:buFont typeface="Be Vietnam Pro"/>
              <a:buChar char="•"/>
            </a:pPr>
            <a:r>
              <a:rPr sz="1200" b="0" i="0" u="none" strike="noStrike" cap="none">
                <a:solidFill>
                  <a:srgbClr val="3F4A57"/>
                </a:solidFill>
                <a:latin typeface="Be Vietnam Pro"/>
                <a:ea typeface="Be Vietnam Pro"/>
                <a:cs typeface="Be Vietnam Pro"/>
              </a:rPr>
              <a:t>Đối chiếu backlog thường xuyên; review chéo theo </a:t>
            </a:r>
            <a:r>
              <a:rPr lang="en-US" sz="1200" b="0" i="0" u="none" strike="noStrike" cap="none">
                <a:solidFill>
                  <a:srgbClr val="3F4A57"/>
                </a:solidFill>
                <a:latin typeface="Be Vietnam Pro"/>
                <a:ea typeface="Be Vietnam Pro"/>
                <a:cs typeface="Be Vietnam Pro"/>
              </a:rPr>
              <a:t>các tiêu chí </a:t>
            </a:r>
            <a:r>
              <a:rPr sz="1200" b="0" i="0" u="none" strike="noStrike" cap="none">
                <a:solidFill>
                  <a:srgbClr val="3F4A57"/>
                </a:solidFill>
                <a:latin typeface="Be Vietnam Pro"/>
                <a:ea typeface="Be Vietnam Pro"/>
                <a:cs typeface="Be Vietnam Pro"/>
              </a:rPr>
              <a:t>.</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92" name="Google Shape;492;p22"/>
          <p:cNvSpPr>
            <a:spLocks noGrp="1"/>
          </p:cNvSpPr>
          <p:nvPr/>
        </p:nvSpPr>
        <p:spPr>
          <a:xfrm>
            <a:off x="812800" y="4228852"/>
            <a:ext cx="10566400" cy="1613148"/>
          </a:xfrm>
          <a:prstGeom prst="rect">
            <a:avLst/>
          </a:prstGeom>
          <a:solidFill>
            <a:srgbClr val="FDFDFB"/>
          </a:solidFill>
          <a:ln>
            <a:noFill/>
          </a:ln>
        </p:spPr>
        <p:txBody>
          <a:bodyPr spcFirstLastPara="1" wrap="square" lIns="91425" tIns="91425" rIns="91425" bIns="91425" anchor="ctr">
            <a:noAutofit/>
          </a:bodyPr>
          <a:lstStyle/>
          <a:p>
            <a:pPr marL="0" lvl="0" indent="0" algn="l">
              <a:spcBef>
                <a:spcPts val="0"/>
              </a:spcBef>
              <a:spcAft>
                <a:spcPts val="0"/>
              </a:spcAft>
              <a:buNone/>
            </a:pPr>
          </a:p>
        </p:txBody>
      </p:sp>
      <p:cxnSp>
        <p:nvCxnSpPr>
          <p:cNvPr id="493" name="Google Shape;493;p22"/>
          <p:cNvCxnSpPr/>
          <p:nvPr/>
        </p:nvCxnSpPr>
        <p:spPr>
          <a:xfrm>
            <a:off x="812800" y="4247902"/>
            <a:ext cx="10566400" cy="0"/>
          </a:xfrm>
          <a:prstGeom prst="straightConnector1">
            <a:avLst/>
          </a:prstGeom>
          <a:ln w="38100" cap="flat">
            <a:solidFill>
              <a:srgbClr val="F28C28"/>
            </a:solidFill>
            <a:prstDash val="solid"/>
            <a:round/>
            <a:headEnd type="none" w="sm" len="sm"/>
            <a:tailEnd type="none" w="sm" len="sm"/>
          </a:ln>
        </p:spPr>
      </p:cxnSp>
      <p:sp>
        <p:nvSpPr>
          <p:cNvPr id="494" name="Google Shape;494;p22"/>
          <p:cNvSpPr>
            <a:spLocks noGrp="1"/>
          </p:cNvSpPr>
          <p:nvPr/>
        </p:nvSpPr>
        <p:spPr>
          <a:xfrm>
            <a:off x="1016000" y="4444752"/>
            <a:ext cx="10464800"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Khó khăn lớn nhất &amp; cách xử lý</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495" name="Google Shape;495;p22"/>
          <p:cNvSpPr>
            <a:spLocks noGrp="1"/>
          </p:cNvSpPr>
          <p:nvPr/>
        </p:nvSpPr>
        <p:spPr>
          <a:xfrm>
            <a:off x="1016000" y="4795242"/>
            <a:ext cx="10464800"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200" b="0" i="0" u="none" strike="noStrike" cap="none">
                <a:solidFill>
                  <a:srgbClr val="3F4A57"/>
                </a:solidFill>
                <a:latin typeface="Be Vietnam Pro"/>
                <a:ea typeface="Be Vietnam Pro"/>
                <a:cs typeface="Be Vietnam Pro"/>
              </a:rPr>
              <a:t>Phụ thuộc Lead → khách hàng → danh mục → API → tích hợp và test hồi quy.</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496" name="Google Shape;496;p22"/>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497" name="Google Shape;497;p22"/>
          <p:cNvSpPr>
            <a:spLocks noGrp="1"/>
          </p:cNvSpPr>
          <p:nvPr/>
        </p:nvSpPr>
        <p:spPr>
          <a:xfrm>
            <a:off x="9988352" y="6238280"/>
            <a:ext cx="1441648"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C — Tổng kết</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498" name="Google Shape;498;p22"/>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499" name="Google Shape;499;p22"/>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6F7F4"/>
        </a:solidFill>
        <a:effectLst/>
      </p:bgPr>
    </p:bg>
    <p:spTree>
      <p:nvGrpSpPr>
        <p:cNvPr id="1" name=""/>
        <p:cNvGrpSpPr/>
        <p:nvPr/>
      </p:nvGrpSpPr>
      <p:grpSpPr/>
      <p:sp>
        <p:nvSpPr>
          <p:cNvPr id="505" name="Google Shape;505;p23"/>
          <p:cNvSpPr>
            <a:spLocks noGrp="1"/>
          </p:cNvSpPr>
          <p:nvPr/>
        </p:nvSpPr>
        <p:spPr>
          <a:xfrm>
            <a:off x="812800" y="812800"/>
            <a:ext cx="1088339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C · 03 — HƯỚNG PHÁT TRIỂN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06" name="Google Shape;506;p23"/>
          <p:cNvSpPr>
            <a:spLocks noGrp="1"/>
          </p:cNvSpPr>
          <p:nvPr/>
        </p:nvSpPr>
        <p:spPr>
          <a:xfrm>
            <a:off x="812800" y="1102320"/>
            <a:ext cx="10883392" cy="47243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3200"/>
              <a:buFont typeface="Be Vietnam Pro"/>
              <a:buNone/>
            </a:pPr>
            <a:r>
              <a:rPr sz="3200" b="1" i="0" u="none" strike="noStrike" cap="none">
                <a:solidFill>
                  <a:srgbClr val="12263A"/>
                </a:solidFill>
                <a:latin typeface="Be Vietnam Pro"/>
                <a:ea typeface="Be Vietnam Pro"/>
                <a:cs typeface="Be Vietnam Pro"/>
              </a:rPr>
              <a:t>Hướng phát triển tiếp theo</a:t>
            </a:r>
            <a:endParaRPr sz="3200" b="0" i="0" u="none" strike="noStrike" cap="none">
              <a:solidFill>
                <a:schemeClr val="dk1"/>
              </a:solidFill>
              <a:latin typeface="Calibri" panose="020F0502020204030204"/>
              <a:ea typeface="Calibri" panose="020F0502020204030204"/>
              <a:cs typeface="Calibri" panose="020F0502020204030204"/>
            </a:endParaRPr>
          </a:p>
        </p:txBody>
      </p:sp>
      <p:sp>
        <p:nvSpPr>
          <p:cNvPr id="507" name="Google Shape;507;p23"/>
          <p:cNvSpPr>
            <a:spLocks noGrp="1"/>
          </p:cNvSpPr>
          <p:nvPr/>
        </p:nvSpPr>
        <p:spPr>
          <a:xfrm>
            <a:off x="815975" y="1806525"/>
            <a:ext cx="51498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508" name="Google Shape;508;p23"/>
          <p:cNvSpPr>
            <a:spLocks noGrp="1"/>
          </p:cNvSpPr>
          <p:nvPr/>
        </p:nvSpPr>
        <p:spPr>
          <a:xfrm>
            <a:off x="1022350" y="2012900"/>
            <a:ext cx="4879213"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Roadmap sản phẩm</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09" name="Google Shape;509;p23"/>
          <p:cNvSpPr>
            <a:spLocks noGrp="1"/>
          </p:cNvSpPr>
          <p:nvPr/>
        </p:nvSpPr>
        <p:spPr>
          <a:xfrm>
            <a:off x="1022350" y="2464991"/>
            <a:ext cx="132080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NGẮN HẠN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10" name="Google Shape;510;p23"/>
          <p:cNvSpPr>
            <a:spLocks noGrp="1"/>
          </p:cNvSpPr>
          <p:nvPr/>
        </p:nvSpPr>
        <p:spPr>
          <a:xfrm>
            <a:off x="2444750" y="2439591"/>
            <a:ext cx="341414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400" b="0" i="0" u="none" strike="noStrike" cap="none">
                <a:solidFill>
                  <a:srgbClr val="3F4A57"/>
                </a:solidFill>
                <a:latin typeface="Be Vietnam Pro"/>
                <a:ea typeface="Be Vietnam Pro"/>
                <a:cs typeface="Be Vietnam Pro"/>
              </a:rPr>
              <a:t>Rà soát quyền và dữ liệu mẫu</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11" name="Google Shape;511;p23"/>
          <p:cNvSpPr>
            <a:spLocks noGrp="1"/>
          </p:cNvSpPr>
          <p:nvPr/>
        </p:nvSpPr>
        <p:spPr>
          <a:xfrm>
            <a:off x="1022350" y="2866281"/>
            <a:ext cx="132080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1–3 THÁNG</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12" name="Google Shape;512;p23"/>
          <p:cNvSpPr>
            <a:spLocks noGrp="1"/>
          </p:cNvSpPr>
          <p:nvPr/>
        </p:nvSpPr>
        <p:spPr>
          <a:xfrm>
            <a:off x="2444750" y="2840881"/>
            <a:ext cx="341414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400" b="0" i="0" u="none" strike="noStrike" cap="none">
                <a:solidFill>
                  <a:srgbClr val="3F4A57"/>
                </a:solidFill>
                <a:latin typeface="Be Vietnam Pro"/>
                <a:ea typeface="Be Vietnam Pro"/>
                <a:cs typeface="Be Vietnam Pro"/>
              </a:rPr>
              <a:t>Cơ hội, pipeline, báo giá, hợp đồng</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13" name="Google Shape;513;p23"/>
          <p:cNvSpPr>
            <a:spLocks noGrp="1"/>
          </p:cNvSpPr>
          <p:nvPr/>
        </p:nvSpPr>
        <p:spPr>
          <a:xfrm>
            <a:off x="1022350" y="3267571"/>
            <a:ext cx="1320800"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2556C4"/>
              </a:buClr>
              <a:buSzPts val="1200"/>
              <a:buFont typeface="Be Vietnam Pro"/>
              <a:buNone/>
            </a:pPr>
            <a:r>
              <a:rPr sz="1200" b="1" i="0" u="none" strike="noStrike" cap="none">
                <a:solidFill>
                  <a:srgbClr val="2556C4"/>
                </a:solidFill>
                <a:latin typeface="Be Vietnam Pro"/>
                <a:ea typeface="Be Vietnam Pro"/>
                <a:cs typeface="Be Vietnam Pro"/>
              </a:rPr>
              <a:t>DÀI HẠN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14" name="Google Shape;514;p23"/>
          <p:cNvSpPr>
            <a:spLocks noGrp="1"/>
          </p:cNvSpPr>
          <p:nvPr/>
        </p:nvSpPr>
        <p:spPr>
          <a:xfrm>
            <a:off x="2444750" y="3242171"/>
            <a:ext cx="3414141"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3F4A57"/>
              </a:buClr>
              <a:buSzPts val="1400"/>
              <a:buFont typeface="Be Vietnam Pro"/>
              <a:buNone/>
            </a:pPr>
            <a:r>
              <a:rPr sz="1400" b="0" i="0" u="none" strike="noStrike" cap="none">
                <a:solidFill>
                  <a:srgbClr val="3F4A57"/>
                </a:solidFill>
                <a:latin typeface="Be Vietnam Pro"/>
                <a:ea typeface="Be Vietnam Pro"/>
                <a:cs typeface="Be Vietnam Pro"/>
              </a:rPr>
              <a:t>Dashboard, KPI, tự động hóa</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15" name="Google Shape;515;p23"/>
          <p:cNvSpPr>
            <a:spLocks noGrp="1"/>
          </p:cNvSpPr>
          <p:nvPr/>
        </p:nvSpPr>
        <p:spPr>
          <a:xfrm>
            <a:off x="6226175" y="1806525"/>
            <a:ext cx="5149850" cy="4032300"/>
          </a:xfrm>
          <a:prstGeom prst="roundRect">
            <a:avLst>
              <a:gd name="adj" fmla="val 2441"/>
            </a:avLst>
          </a:prstGeom>
          <a:solidFill>
            <a:srgbClr val="FDFDFB"/>
          </a:solidFill>
          <a:ln w="9525" cap="flat" cmpd="sng">
            <a:solidFill>
              <a:srgbClr val="DDE1DC"/>
            </a:solidFill>
            <a:prstDash val="solid"/>
            <a:roun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p>
        </p:txBody>
      </p:sp>
      <p:sp>
        <p:nvSpPr>
          <p:cNvPr id="516" name="Google Shape;516;p23"/>
          <p:cNvSpPr>
            <a:spLocks noGrp="1"/>
          </p:cNvSpPr>
          <p:nvPr/>
        </p:nvSpPr>
        <p:spPr>
          <a:xfrm>
            <a:off x="6432550" y="2012900"/>
            <a:ext cx="4879213" cy="299690"/>
          </a:xfrm>
          <a:prstGeom prst="rect">
            <a:avLst/>
          </a:prstGeom>
          <a:noFill/>
          <a:ln>
            <a:noFill/>
          </a:ln>
        </p:spPr>
        <p:txBody>
          <a:bodyPr spcFirstLastPara="1" wrap="square" lIns="0" tIns="0" rIns="0" bIns="0" anchor="t">
            <a:noAutofit/>
          </a:bodyPr>
          <a:lstStyle/>
          <a:p>
            <a:pPr marL="0" marR="0" lvl="0" indent="0" algn="l">
              <a:lnSpc>
                <a:spcPct val="120000"/>
              </a:lnSpc>
              <a:spcBef>
                <a:spcPts val="0"/>
              </a:spcBef>
              <a:spcAft>
                <a:spcPts val="0"/>
              </a:spcAft>
              <a:buClr>
                <a:srgbClr val="12263A"/>
              </a:buClr>
              <a:buSzPts val="1800"/>
              <a:buFont typeface="Be Vietnam Pro"/>
              <a:buNone/>
            </a:pPr>
            <a:r>
              <a:rPr sz="1800" b="1" i="0" u="none" strike="noStrike" cap="none">
                <a:solidFill>
                  <a:srgbClr val="12263A"/>
                </a:solidFill>
                <a:latin typeface="Be Vietnam Pro"/>
                <a:ea typeface="Be Vietnam Pro"/>
                <a:cs typeface="Be Vietnam Pro"/>
              </a:rPr>
              <a:t>Định hướng nghề nghiệp</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17" name="Google Shape;517;p23"/>
          <p:cNvSpPr>
            <a:spLocks noGrp="1"/>
          </p:cNvSpPr>
          <p:nvPr/>
        </p:nvSpPr>
        <p:spPr>
          <a:xfrm>
            <a:off x="6432550" y="2363391"/>
            <a:ext cx="4879213" cy="1020961"/>
          </a:xfrm>
          <a:prstGeom prst="rect">
            <a:avLst/>
          </a:prstGeom>
          <a:noFill/>
          <a:ln>
            <a:noFill/>
          </a:ln>
        </p:spPr>
        <p:txBody>
          <a:bodyPr spcFirstLastPara="1" wrap="square" lIns="0" tIns="0" rIns="0" bIns="0" anchor="t">
            <a:noAutofit/>
          </a:bodyPr>
          <a:lstStyle/>
          <a:p>
            <a:pPr marL="43815" marR="0" lvl="0" indent="0" algn="l">
              <a:lnSpc>
                <a:spcPct val="140000"/>
              </a:lnSpc>
              <a:spcBef>
                <a:spcPts val="0"/>
              </a:spcBef>
              <a:spcAft>
                <a:spcPts val="0"/>
              </a:spcAft>
              <a:buClr>
                <a:srgbClr val="3F4A57"/>
              </a:buClr>
              <a:buSzPts val="1400"/>
              <a:buFont typeface="Be Vietnam Pro"/>
            </a:pPr>
            <a:r>
              <a:rPr lang="en-US" altLang="en-US" sz="1400" b="1" i="0" u="none" strike="noStrike" cap="none">
                <a:solidFill>
                  <a:schemeClr val="dk1"/>
                </a:solidFill>
                <a:latin typeface="Calibri" panose="020F0502020204030204"/>
                <a:ea typeface="Calibri" panose="020F0502020204030204"/>
                <a:cs typeface="Calibri" panose="020F0502020204030204"/>
              </a:rPr>
              <a:t>Backend Developer: </a:t>
            </a:r>
            <a:r>
              <a:rPr lang="en-US" altLang="en-US" sz="1400" b="0" i="0" u="none" strike="noStrike" cap="none">
                <a:solidFill>
                  <a:schemeClr val="dk1"/>
                </a:solidFill>
                <a:latin typeface="Calibri" panose="020F0502020204030204"/>
                <a:ea typeface="Calibri" panose="020F0502020204030204"/>
                <a:cs typeface="Calibri" panose="020F0502020204030204"/>
              </a:rPr>
              <a:t>Nâng cao Java, REST API, MySQL, bảo mật và tối </a:t>
            </a:r>
            <a:r>
              <a:rPr lang="" altLang="en-US" sz="1400" b="0" i="0" u="none" strike="noStrike" cap="none">
                <a:solidFill>
                  <a:schemeClr val="dk1"/>
                </a:solidFill>
                <a:latin typeface="Calibri" panose="020F0502020204030204"/>
                <a:ea typeface="Calibri" panose="020F0502020204030204"/>
                <a:cs typeface="Calibri" panose="020F0502020204030204"/>
              </a:rPr>
              <a:t>ư</a:t>
            </a:r>
            <a:r>
              <a:rPr lang="en-US" altLang="en-US" sz="1400" b="0" i="0" u="none" strike="noStrike" cap="none">
                <a:solidFill>
                  <a:schemeClr val="dk1"/>
                </a:solidFill>
                <a:latin typeface="Calibri" panose="020F0502020204030204"/>
                <a:ea typeface="Calibri" panose="020F0502020204030204"/>
                <a:cs typeface="Calibri" panose="020F0502020204030204"/>
              </a:rPr>
              <a:t>u hệ thống.</a:t>
            </a:r>
            <a:endParaRPr lang="en-US" altLang="en-US" sz="1400" b="0" i="0" u="none" strike="noStrike" cap="none">
              <a:solidFill>
                <a:schemeClr val="dk1"/>
              </a:solidFill>
              <a:latin typeface="Calibri" panose="020F0502020204030204"/>
              <a:ea typeface="Calibri" panose="020F0502020204030204"/>
              <a:cs typeface="Calibri" panose="020F0502020204030204"/>
            </a:endParaRPr>
          </a:p>
          <a:p>
            <a:pPr marL="43815" marR="0" lvl="0" indent="0" algn="l">
              <a:lnSpc>
                <a:spcPct val="140000"/>
              </a:lnSpc>
              <a:spcBef>
                <a:spcPts val="0"/>
              </a:spcBef>
              <a:spcAft>
                <a:spcPts val="0"/>
              </a:spcAft>
              <a:buClr>
                <a:srgbClr val="3F4A57"/>
              </a:buClr>
              <a:buSzPts val="1400"/>
              <a:buFont typeface="Be Vietnam Pro"/>
            </a:pPr>
            <a:r>
              <a:rPr lang="en-US" altLang="en-US" sz="1400" b="1" i="0" u="none" strike="noStrike" cap="none">
                <a:solidFill>
                  <a:schemeClr val="dk1"/>
                </a:solidFill>
                <a:latin typeface="Calibri" panose="020F0502020204030204"/>
                <a:ea typeface="Calibri" panose="020F0502020204030204"/>
                <a:cs typeface="Calibri" panose="020F0502020204030204"/>
              </a:rPr>
              <a:t>Frontend Developer: </a:t>
            </a:r>
            <a:r>
              <a:rPr lang="en-US" altLang="en-US" sz="1400" b="0" i="0" u="none" strike="noStrike" cap="none">
                <a:solidFill>
                  <a:schemeClr val="dk1"/>
                </a:solidFill>
                <a:latin typeface="Calibri" panose="020F0502020204030204"/>
                <a:ea typeface="Calibri" panose="020F0502020204030204"/>
                <a:cs typeface="Calibri" panose="020F0502020204030204"/>
              </a:rPr>
              <a:t>Phát triển JavaScript, UI/UX, tích hợp API và thiết kế giao diện responsive.</a:t>
            </a:r>
            <a:endParaRPr lang="en-US" altLang="en-US" sz="1400" b="0" i="0" u="none" strike="noStrike" cap="none">
              <a:solidFill>
                <a:schemeClr val="dk1"/>
              </a:solidFill>
              <a:latin typeface="Calibri" panose="020F0502020204030204"/>
              <a:ea typeface="Calibri" panose="020F0502020204030204"/>
              <a:cs typeface="Calibri" panose="020F0502020204030204"/>
            </a:endParaRPr>
          </a:p>
          <a:p>
            <a:pPr marL="43815" marR="0" lvl="0" indent="0" algn="l">
              <a:lnSpc>
                <a:spcPct val="140000"/>
              </a:lnSpc>
              <a:spcBef>
                <a:spcPts val="0"/>
              </a:spcBef>
              <a:spcAft>
                <a:spcPts val="0"/>
              </a:spcAft>
              <a:buClr>
                <a:srgbClr val="3F4A57"/>
              </a:buClr>
              <a:buSzPts val="1400"/>
              <a:buFont typeface="Be Vietnam Pro"/>
            </a:pPr>
            <a:r>
              <a:rPr lang="en-US" altLang="en-US" sz="1400" b="1" i="0" u="none" strike="noStrike" cap="none">
                <a:solidFill>
                  <a:schemeClr val="dk1"/>
                </a:solidFill>
                <a:latin typeface="Calibri" panose="020F0502020204030204"/>
                <a:ea typeface="Calibri" panose="020F0502020204030204"/>
                <a:cs typeface="Calibri" panose="020F0502020204030204"/>
              </a:rPr>
              <a:t>QA / Scrum:</a:t>
            </a:r>
            <a:r>
              <a:rPr lang="en-US" altLang="en-US" sz="1400" b="0" i="0" u="none" strike="noStrike" cap="none">
                <a:solidFill>
                  <a:schemeClr val="dk1"/>
                </a:solidFill>
                <a:latin typeface="Calibri" panose="020F0502020204030204"/>
                <a:ea typeface="Calibri" panose="020F0502020204030204"/>
                <a:cs typeface="Calibri" panose="020F0502020204030204"/>
              </a:rPr>
              <a:t> Nâng cao kiểm thử tự </a:t>
            </a:r>
            <a:r>
              <a:rPr lang="" altLang="en-US" sz="1400" b="0" i="0" u="none" strike="noStrike" cap="none">
                <a:solidFill>
                  <a:schemeClr val="dk1"/>
                </a:solidFill>
                <a:latin typeface="Calibri" panose="020F0502020204030204"/>
                <a:ea typeface="Calibri" panose="020F0502020204030204"/>
                <a:cs typeface="Calibri" panose="020F0502020204030204"/>
              </a:rPr>
              <a:t>đ</a:t>
            </a:r>
            <a:r>
              <a:rPr lang="en-US" altLang="en-US" sz="1400" b="0" i="0" u="none" strike="noStrike" cap="none">
                <a:solidFill>
                  <a:schemeClr val="dk1"/>
                </a:solidFill>
                <a:latin typeface="Calibri" panose="020F0502020204030204"/>
                <a:ea typeface="Calibri" panose="020F0502020204030204"/>
                <a:cs typeface="Calibri" panose="020F0502020204030204"/>
              </a:rPr>
              <a:t>ộng, quản l</a:t>
            </a:r>
            <a:r>
              <a:rPr lang="" altLang="en-US" sz="1400" b="0" i="0" u="none" strike="noStrike" cap="none">
                <a:solidFill>
                  <a:schemeClr val="dk1"/>
                </a:solidFill>
                <a:latin typeface="Calibri" panose="020F0502020204030204"/>
                <a:ea typeface="Calibri" panose="020F0502020204030204"/>
                <a:cs typeface="Calibri" panose="020F0502020204030204"/>
              </a:rPr>
              <a:t>ý </a:t>
            </a:r>
            <a:r>
              <a:rPr lang="en-US" altLang="en-US" sz="1400" b="0" i="0" u="none" strike="noStrike" cap="none">
                <a:solidFill>
                  <a:schemeClr val="dk1"/>
                </a:solidFill>
                <a:latin typeface="Calibri" panose="020F0502020204030204"/>
                <a:ea typeface="Calibri" panose="020F0502020204030204"/>
                <a:cs typeface="Calibri" panose="020F0502020204030204"/>
              </a:rPr>
              <a:t>chất l</a:t>
            </a:r>
            <a:r>
              <a:rPr lang="" altLang="en-US" sz="1400" b="0" i="0" u="none" strike="noStrike" cap="none">
                <a:solidFill>
                  <a:schemeClr val="dk1"/>
                </a:solidFill>
                <a:latin typeface="Calibri" panose="020F0502020204030204"/>
                <a:ea typeface="Calibri" panose="020F0502020204030204"/>
                <a:cs typeface="Calibri" panose="020F0502020204030204"/>
              </a:rPr>
              <a:t>ư</a:t>
            </a:r>
            <a:r>
              <a:rPr lang="en-US" altLang="en-US" sz="1400" b="0" i="0" u="none" strike="noStrike" cap="none">
                <a:solidFill>
                  <a:schemeClr val="dk1"/>
                </a:solidFill>
                <a:latin typeface="Calibri" panose="020F0502020204030204"/>
                <a:ea typeface="Calibri" panose="020F0502020204030204"/>
                <a:cs typeface="Calibri" panose="020F0502020204030204"/>
              </a:rPr>
              <a:t>ợng và quy trình Agile/Scrum.</a:t>
            </a:r>
            <a:endParaRPr lang="en-US" altLang="en-US" sz="1400" b="0" i="0" u="none" strike="noStrike" cap="none">
              <a:solidFill>
                <a:schemeClr val="dk1"/>
              </a:solidFill>
              <a:latin typeface="Calibri" panose="020F0502020204030204"/>
              <a:ea typeface="Calibri" panose="020F0502020204030204"/>
              <a:cs typeface="Calibri" panose="020F0502020204030204"/>
            </a:endParaRPr>
          </a:p>
          <a:p>
            <a:pPr marL="43815" marR="0" lvl="0" indent="0" algn="l">
              <a:lnSpc>
                <a:spcPct val="140000"/>
              </a:lnSpc>
              <a:spcBef>
                <a:spcPts val="0"/>
              </a:spcBef>
              <a:spcAft>
                <a:spcPts val="0"/>
              </a:spcAft>
              <a:buClr>
                <a:srgbClr val="3F4A57"/>
              </a:buClr>
              <a:buSzPts val="1400"/>
              <a:buFont typeface="Be Vietnam Pro"/>
            </a:pPr>
            <a:r>
              <a:rPr lang="en-US" altLang="en-US" sz="1400" b="1" i="0" u="none" strike="noStrike" cap="none">
                <a:solidFill>
                  <a:schemeClr val="dk1"/>
                </a:solidFill>
                <a:latin typeface="Calibri" panose="020F0502020204030204"/>
                <a:ea typeface="Calibri" panose="020F0502020204030204"/>
                <a:cs typeface="Calibri" panose="020F0502020204030204"/>
              </a:rPr>
              <a:t>Mục tiêu chung: </a:t>
            </a:r>
            <a:r>
              <a:rPr lang="en-US" altLang="en-US" sz="1400" b="0" i="0" u="none" strike="noStrike" cap="none">
                <a:solidFill>
                  <a:schemeClr val="dk1"/>
                </a:solidFill>
                <a:latin typeface="Calibri" panose="020F0502020204030204"/>
                <a:ea typeface="Calibri" panose="020F0502020204030204"/>
                <a:cs typeface="Calibri" panose="020F0502020204030204"/>
              </a:rPr>
              <a:t>Hoàn thiện kỹ n</a:t>
            </a:r>
            <a:r>
              <a:rPr lang="" altLang="en-US" sz="1400" b="0" i="0" u="none" strike="noStrike" cap="none">
                <a:solidFill>
                  <a:schemeClr val="dk1"/>
                </a:solidFill>
                <a:latin typeface="Calibri" panose="020F0502020204030204"/>
                <a:ea typeface="Calibri" panose="020F0502020204030204"/>
                <a:cs typeface="Calibri" panose="020F0502020204030204"/>
              </a:rPr>
              <a:t>ă</a:t>
            </a:r>
            <a:r>
              <a:rPr lang="en-US" altLang="en-US" sz="1400" b="0" i="0" u="none" strike="noStrike" cap="none">
                <a:solidFill>
                  <a:schemeClr val="dk1"/>
                </a:solidFill>
                <a:latin typeface="Calibri" panose="020F0502020204030204"/>
                <a:ea typeface="Calibri" panose="020F0502020204030204"/>
                <a:cs typeface="Calibri" panose="020F0502020204030204"/>
              </a:rPr>
              <a:t>ng làm việc nhóm, xây dựng portfolio GitHub và h</a:t>
            </a:r>
            <a:r>
              <a:rPr lang="" altLang="en-US" sz="1400" b="0" i="0" u="none" strike="noStrike" cap="none">
                <a:solidFill>
                  <a:schemeClr val="dk1"/>
                </a:solidFill>
                <a:latin typeface="Calibri" panose="020F0502020204030204"/>
                <a:ea typeface="Calibri" panose="020F0502020204030204"/>
                <a:cs typeface="Calibri" panose="020F0502020204030204"/>
              </a:rPr>
              <a:t>ư</a:t>
            </a:r>
            <a:r>
              <a:rPr lang="en-US" altLang="en-US" sz="1400" b="0" i="0" u="none" strike="noStrike" cap="none">
                <a:solidFill>
                  <a:schemeClr val="dk1"/>
                </a:solidFill>
                <a:latin typeface="Calibri" panose="020F0502020204030204"/>
                <a:ea typeface="Calibri" panose="020F0502020204030204"/>
                <a:cs typeface="Calibri" panose="020F0502020204030204"/>
              </a:rPr>
              <a:t>ớng tới vị trí Fresher Developer/QA.</a:t>
            </a:r>
            <a:endParaRPr lang="en-US" altLang="en-US" sz="1400" b="0" i="0" u="none" strike="noStrike" cap="none">
              <a:solidFill>
                <a:schemeClr val="dk1"/>
              </a:solidFill>
              <a:latin typeface="Calibri" panose="020F0502020204030204"/>
              <a:ea typeface="Calibri" panose="020F0502020204030204"/>
              <a:cs typeface="Calibri" panose="020F0502020204030204"/>
            </a:endParaRPr>
          </a:p>
        </p:txBody>
      </p:sp>
      <p:sp>
        <p:nvSpPr>
          <p:cNvPr id="518" name="Google Shape;518;p23"/>
          <p:cNvSpPr>
            <a:spLocks noGrp="1"/>
          </p:cNvSpPr>
          <p:nvPr/>
        </p:nvSpPr>
        <p:spPr>
          <a:xfrm>
            <a:off x="812800" y="6238280"/>
            <a:ext cx="3008732"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Báo cáo thực tập nhóm 5</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19" name="Google Shape;519;p23"/>
          <p:cNvSpPr>
            <a:spLocks noGrp="1"/>
          </p:cNvSpPr>
          <p:nvPr/>
        </p:nvSpPr>
        <p:spPr>
          <a:xfrm>
            <a:off x="9988352" y="6238280"/>
            <a:ext cx="1441648"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5A6573"/>
              </a:buClr>
              <a:buSzPts val="1200"/>
              <a:buFont typeface="Be Vietnam Pro"/>
              <a:buNone/>
            </a:pPr>
            <a:r>
              <a:rPr sz="1200" b="0" i="0" u="none" strike="noStrike" cap="none">
                <a:solidFill>
                  <a:srgbClr val="5A6573"/>
                </a:solidFill>
                <a:latin typeface="Be Vietnam Pro"/>
                <a:ea typeface="Be Vietnam Pro"/>
                <a:cs typeface="Be Vietnam Pro"/>
              </a:rPr>
              <a:t>Phần C — Tổng kết</a:t>
            </a:r>
            <a:endParaRPr sz="1200" b="0" i="0" u="none" strike="noStrike" cap="none">
              <a:solidFill>
                <a:schemeClr val="dk1"/>
              </a:solidFill>
              <a:latin typeface="Calibri" panose="020F0502020204030204"/>
              <a:ea typeface="Calibri" panose="020F0502020204030204"/>
              <a:cs typeface="Calibri" panose="020F0502020204030204"/>
            </a:endParaRPr>
          </a:p>
        </p:txBody>
      </p:sp>
      <p:pic>
        <p:nvPicPr>
          <p:cNvPr id="520" name="Google Shape;520;p23"/>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521" name="Google Shape;521;p23"/>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8C28"/>
        </a:solidFill>
        <a:effectLst/>
      </p:bgPr>
    </p:bg>
    <p:spTree>
      <p:nvGrpSpPr>
        <p:cNvPr id="1" name=""/>
        <p:cNvGrpSpPr/>
        <p:nvPr/>
      </p:nvGrpSpPr>
      <p:grpSpPr/>
      <p:sp>
        <p:nvSpPr>
          <p:cNvPr id="527" name="Google Shape;527;p24"/>
          <p:cNvSpPr>
            <a:spLocks noGrp="1"/>
          </p:cNvSpPr>
          <p:nvPr/>
        </p:nvSpPr>
        <p:spPr>
          <a:xfrm>
            <a:off x="812800" y="812800"/>
            <a:ext cx="10883392"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400" b="1" i="0" u="none" strike="noStrike" cap="none">
                <a:solidFill>
                  <a:srgbClr val="12263A"/>
                </a:solidFill>
                <a:latin typeface="Be Vietnam Pro"/>
                <a:ea typeface="Be Vietnam Pro"/>
                <a:cs typeface="Be Vietnam Pro"/>
              </a:rPr>
              <a:t>PHẦN C · KẾT THÚC</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28" name="Google Shape;528;p24"/>
          <p:cNvSpPr>
            <a:spLocks noGrp="1"/>
          </p:cNvSpPr>
          <p:nvPr/>
        </p:nvSpPr>
        <p:spPr>
          <a:xfrm>
            <a:off x="812800" y="1214090"/>
            <a:ext cx="10883392" cy="695920"/>
          </a:xfrm>
          <a:prstGeom prst="rect">
            <a:avLst/>
          </a:prstGeom>
          <a:noFill/>
          <a:ln>
            <a:noFill/>
          </a:ln>
        </p:spPr>
        <p:txBody>
          <a:bodyPr spcFirstLastPara="1" wrap="square" lIns="0" tIns="0" rIns="0" bIns="0" anchor="t">
            <a:noAutofit/>
          </a:bodyPr>
          <a:lstStyle/>
          <a:p>
            <a:pPr marL="0" marR="0" lvl="0" indent="0" algn="l">
              <a:lnSpc>
                <a:spcPct val="110000"/>
              </a:lnSpc>
              <a:spcBef>
                <a:spcPts val="0"/>
              </a:spcBef>
              <a:spcAft>
                <a:spcPts val="0"/>
              </a:spcAft>
              <a:buClr>
                <a:srgbClr val="12263A"/>
              </a:buClr>
              <a:buSzPts val="4800"/>
              <a:buFont typeface="Be Vietnam Pro"/>
              <a:buNone/>
            </a:pPr>
            <a:r>
              <a:rPr sz="4800" b="1" i="0" u="none" strike="noStrike" cap="none">
                <a:solidFill>
                  <a:srgbClr val="12263A"/>
                </a:solidFill>
                <a:latin typeface="Be Vietnam Pro"/>
                <a:ea typeface="Be Vietnam Pro"/>
                <a:cs typeface="Be Vietnam Pro"/>
              </a:rPr>
              <a:t>Demo trực tiếp &amp; Hỏi đáp</a:t>
            </a:r>
            <a:endParaRPr sz="4800" b="0" i="0" u="none" strike="noStrike" cap="none">
              <a:solidFill>
                <a:schemeClr val="dk1"/>
              </a:solidFill>
              <a:latin typeface="Calibri" panose="020F0502020204030204"/>
              <a:ea typeface="Calibri" panose="020F0502020204030204"/>
              <a:cs typeface="Calibri" panose="020F0502020204030204"/>
            </a:endParaRPr>
          </a:p>
        </p:txBody>
      </p:sp>
      <p:sp>
        <p:nvSpPr>
          <p:cNvPr id="529" name="Google Shape;529;p24"/>
          <p:cNvSpPr>
            <a:spLocks noGrp="1"/>
          </p:cNvSpPr>
          <p:nvPr/>
        </p:nvSpPr>
        <p:spPr>
          <a:xfrm>
            <a:off x="812800" y="2037011"/>
            <a:ext cx="10883392" cy="34543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800"/>
              <a:buFont typeface="Be Vietnam Pro"/>
              <a:buNone/>
            </a:pPr>
            <a:r>
              <a:rPr sz="1800" b="0" i="0" u="none" strike="noStrike" cap="none">
                <a:solidFill>
                  <a:srgbClr val="12263A"/>
                </a:solidFill>
                <a:latin typeface="Be Vietnam Pro"/>
                <a:ea typeface="Be Vietnam Pro"/>
                <a:cs typeface="Be Vietnam Pro"/>
              </a:rPr>
              <a:t>Cảm ơn mentor Dư Thanh Hoàng, CodeGym Việt Nam và hội đồng đã lắng nghe.</a:t>
            </a:r>
            <a:endParaRPr sz="1800" b="0" i="0" u="none" strike="noStrike" cap="none">
              <a:solidFill>
                <a:schemeClr val="dk1"/>
              </a:solidFill>
              <a:latin typeface="Calibri" panose="020F0502020204030204"/>
              <a:ea typeface="Calibri" panose="020F0502020204030204"/>
              <a:cs typeface="Calibri" panose="020F0502020204030204"/>
            </a:endParaRPr>
          </a:p>
        </p:txBody>
      </p:sp>
      <p:sp>
        <p:nvSpPr>
          <p:cNvPr id="530" name="Google Shape;530;p24"/>
          <p:cNvSpPr>
            <a:spLocks noGrp="1"/>
          </p:cNvSpPr>
          <p:nvPr/>
        </p:nvSpPr>
        <p:spPr>
          <a:xfrm>
            <a:off x="812800" y="5532189"/>
            <a:ext cx="3418484"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Be Vietnam Pro"/>
              <a:buNone/>
            </a:pPr>
            <a:r>
              <a:rPr sz="1200" b="1" i="0" u="none" strike="noStrike" cap="none">
                <a:solidFill>
                  <a:srgbClr val="12263A"/>
                </a:solidFill>
                <a:latin typeface="Be Vietnam Pro"/>
                <a:ea typeface="Be Vietnam Pro"/>
                <a:cs typeface="Be Vietnam Pro"/>
              </a:rPr>
              <a:t>SẢN PHẨM</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31" name="Google Shape;531;p24"/>
          <p:cNvSpPr>
            <a:spLocks noGrp="1"/>
          </p:cNvSpPr>
          <p:nvPr/>
        </p:nvSpPr>
        <p:spPr>
          <a:xfrm>
            <a:off x="812800" y="5796310"/>
            <a:ext cx="3418484"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300" b="0" i="0" u="none" strike="noStrike" cap="none">
                <a:solidFill>
                  <a:srgbClr val="12263A"/>
                </a:solidFill>
                <a:latin typeface="Be Vietnam Pro"/>
                <a:ea typeface="Be Vietnam Pro"/>
                <a:cs typeface="Be Vietnam Pro"/>
              </a:rPr>
              <a:t>NovaCRM · Demo trực tiếp S1–4</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32" name="Google Shape;532;p24"/>
          <p:cNvSpPr>
            <a:spLocks noGrp="1"/>
          </p:cNvSpPr>
          <p:nvPr/>
        </p:nvSpPr>
        <p:spPr>
          <a:xfrm>
            <a:off x="4436517" y="5532189"/>
            <a:ext cx="3418484"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Be Vietnam Pro"/>
              <a:buNone/>
            </a:pPr>
            <a:r>
              <a:rPr sz="1200" b="1" i="0" u="none" strike="noStrike" cap="none">
                <a:solidFill>
                  <a:srgbClr val="12263A"/>
                </a:solidFill>
                <a:latin typeface="Be Vietnam Pro"/>
                <a:ea typeface="Be Vietnam Pro"/>
                <a:cs typeface="Be Vietnam Pro"/>
              </a:rPr>
              <a:t>MÃ NGUỒN</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33" name="Google Shape;533;p24"/>
          <p:cNvSpPr>
            <a:spLocks noGrp="1"/>
          </p:cNvSpPr>
          <p:nvPr/>
        </p:nvSpPr>
        <p:spPr>
          <a:xfrm>
            <a:off x="4436517" y="5796310"/>
            <a:ext cx="3418484"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100" b="0" i="0" u="none" strike="noStrike" cap="none">
                <a:solidFill>
                  <a:srgbClr val="12263A"/>
                </a:solidFill>
                <a:latin typeface="Be Vietnam Pro"/>
                <a:ea typeface="Be Vietnam Pro"/>
                <a:cs typeface="Be Vietnam Pro"/>
              </a:rPr>
              <a:t>github.com/thaontt475-wq/customer-relationship-manager-ictu-n5</a:t>
            </a:r>
            <a:endParaRPr sz="1400" b="0" i="0" u="none" strike="noStrike" cap="none">
              <a:solidFill>
                <a:schemeClr val="dk1"/>
              </a:solidFill>
              <a:latin typeface="Calibri" panose="020F0502020204030204"/>
              <a:ea typeface="Calibri" panose="020F0502020204030204"/>
              <a:cs typeface="Calibri" panose="020F0502020204030204"/>
            </a:endParaRPr>
          </a:p>
        </p:txBody>
      </p:sp>
      <p:sp>
        <p:nvSpPr>
          <p:cNvPr id="534" name="Google Shape;534;p24"/>
          <p:cNvSpPr>
            <a:spLocks noGrp="1"/>
          </p:cNvSpPr>
          <p:nvPr/>
        </p:nvSpPr>
        <p:spPr>
          <a:xfrm>
            <a:off x="8060234" y="5532189"/>
            <a:ext cx="3418535" cy="23872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200"/>
              <a:buFont typeface="Be Vietnam Pro"/>
              <a:buNone/>
            </a:pPr>
            <a:r>
              <a:rPr sz="1200" b="1" i="0" u="none" strike="noStrike" cap="none">
                <a:solidFill>
                  <a:srgbClr val="12263A"/>
                </a:solidFill>
                <a:latin typeface="Be Vietnam Pro"/>
                <a:ea typeface="Be Vietnam Pro"/>
                <a:cs typeface="Be Vietnam Pro"/>
              </a:rPr>
              <a:t>JIRA</a:t>
            </a:r>
            <a:endParaRPr sz="1200" b="0" i="0" u="none" strike="noStrike" cap="none">
              <a:solidFill>
                <a:schemeClr val="dk1"/>
              </a:solidFill>
              <a:latin typeface="Calibri" panose="020F0502020204030204"/>
              <a:ea typeface="Calibri" panose="020F0502020204030204"/>
              <a:cs typeface="Calibri" panose="020F0502020204030204"/>
            </a:endParaRPr>
          </a:p>
        </p:txBody>
      </p:sp>
      <p:sp>
        <p:nvSpPr>
          <p:cNvPr id="535" name="Google Shape;535;p24"/>
          <p:cNvSpPr>
            <a:spLocks noGrp="1"/>
          </p:cNvSpPr>
          <p:nvPr/>
        </p:nvSpPr>
        <p:spPr>
          <a:xfrm>
            <a:off x="8060234" y="5796310"/>
            <a:ext cx="3418535" cy="274290"/>
          </a:xfrm>
          <a:prstGeom prst="rect">
            <a:avLst/>
          </a:prstGeom>
          <a:noFill/>
          <a:ln>
            <a:noFill/>
          </a:ln>
        </p:spPr>
        <p:txBody>
          <a:bodyPr spcFirstLastPara="1" wrap="square" lIns="0" tIns="0" rIns="0" bIns="0" anchor="t">
            <a:noAutofit/>
          </a:bodyPr>
          <a:lstStyle/>
          <a:p>
            <a:pPr marL="0" marR="0" lvl="0" indent="0" algn="l">
              <a:lnSpc>
                <a:spcPct val="140000"/>
              </a:lnSpc>
              <a:spcBef>
                <a:spcPts val="0"/>
              </a:spcBef>
              <a:spcAft>
                <a:spcPts val="0"/>
              </a:spcAft>
              <a:buClr>
                <a:srgbClr val="12263A"/>
              </a:buClr>
              <a:buSzPts val="1400"/>
              <a:buFont typeface="Be Vietnam Pro"/>
              <a:buNone/>
            </a:pPr>
            <a:r>
              <a:rPr sz="1100" b="0" i="0" u="none" strike="noStrike" cap="none">
                <a:solidFill>
                  <a:srgbClr val="12263A"/>
                </a:solidFill>
                <a:latin typeface="Be Vietnam Pro"/>
                <a:ea typeface="Be Vietnam Pro"/>
                <a:cs typeface="Be Vietnam Pro"/>
              </a:rPr>
              <a:t>thaontt475.atlassian.net/jira/software/projects/CRM</a:t>
            </a:r>
            <a:endParaRPr sz="1400" b="0" i="0" u="none" strike="noStrike" cap="none">
              <a:solidFill>
                <a:schemeClr val="dk1"/>
              </a:solidFill>
              <a:latin typeface="Calibri" panose="020F0502020204030204"/>
              <a:ea typeface="Calibri" panose="020F0502020204030204"/>
              <a:cs typeface="Calibri" panose="020F0502020204030204"/>
            </a:endParaRPr>
          </a:p>
        </p:txBody>
      </p:sp>
      <p:pic>
        <p:nvPicPr>
          <p:cNvPr id="536" name="Google Shape;536;p24"/>
          <p:cNvPicPr>
            <a:picLocks noChangeAspect="1"/>
          </p:cNvPicPr>
          <p:nvPr/>
        </p:nvPicPr>
        <p:blipFill rotWithShape="1">
          <a:blip r:embed="rId1"/>
          <a:srcRect/>
          <a:stretch>
            <a:fillRect/>
          </a:stretch>
        </p:blipFill>
        <p:spPr>
          <a:xfrm>
            <a:off x="4778375" y="203200"/>
            <a:ext cx="406400" cy="406400"/>
          </a:xfrm>
          <a:prstGeom prst="rect">
            <a:avLst/>
          </a:prstGeom>
          <a:ln>
            <a:noFill/>
          </a:ln>
        </p:spPr>
      </p:pic>
      <p:pic>
        <p:nvPicPr>
          <p:cNvPr id="537" name="Google Shape;537;p24"/>
          <p:cNvPicPr>
            <a:picLocks noChangeAspect="1"/>
          </p:cNvPicPr>
          <p:nvPr/>
        </p:nvPicPr>
        <p:blipFill rotWithShape="1">
          <a:blip r:embed="rId2"/>
          <a:srcRect t="-50" b="-50"/>
          <a:stretch>
            <a:fillRect/>
          </a:stretch>
        </p:blipFill>
        <p:spPr>
          <a:xfrm>
            <a:off x="5438775" y="203200"/>
            <a:ext cx="1974850" cy="406400"/>
          </a:xfrm>
          <a:prstGeom prst="rect">
            <a:avLst/>
          </a:prstGeom>
          <a:ln>
            <a:noFill/>
          </a:ln>
        </p:spPr>
      </p:pic>
    </p:spTree>
  </p:cSld>
  <p:clrMapOvr>
    <a:masterClrMapping/>
  </p:clrMapOvr>
</p:sld>
</file>

<file path=ppt/slides/slide3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C2C0984-A907-4469-BD64-16377ED01182}"/>
              </a:ext>
            </a:extLst>
          </p:cNvPr>
          <p:cNvPicPr>
            <a:picLocks xmlns:a="http://schemas.openxmlformats.org/drawingml/2006/main" noChangeAspect="1"/>
          </p:cNvPicPr>
          <p:nvPr/>
        </p:nvPicPr>
        <p:blipFill>
          <a:blip xmlns:r="http://schemas.openxmlformats.org/officeDocument/2006/relationships" xmlns:a="http://schemas.openxmlformats.org/drawingml/2006/main" r:embed="R63dce55523fe41e9"/>
          <a:stretch xmlns:a="http://schemas.openxmlformats.org/drawingml/2006/main"/>
        </p:blipFill>
        <p:spPr>
          <a:xfrm xmlns:a="http://schemas.openxmlformats.org/drawingml/2006/main">
            <a:off x="4778312" y="203168"/>
            <a:ext cx="406432" cy="406432"/>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4ABFA2F-794C-43C3-BA2B-441E8D083B3E}"/>
              </a:ext>
            </a:extLst>
          </p:cNvPr>
          <p:cNvPicPr>
            <a:picLocks xmlns:a="http://schemas.openxmlformats.org/drawingml/2006/main" noChangeAspect="1"/>
          </p:cNvPicPr>
          <p:nvPr/>
        </p:nvPicPr>
        <p:blipFill>
          <a:blip xmlns:r="http://schemas.openxmlformats.org/officeDocument/2006/relationships" xmlns:a="http://schemas.openxmlformats.org/drawingml/2006/main" r:embed="Rba3fd950539a4389"/>
          <a:stretch xmlns:a="http://schemas.openxmlformats.org/drawingml/2006/main"/>
        </p:blipFill>
        <p:spPr>
          <a:xfrm xmlns:a="http://schemas.openxmlformats.org/drawingml/2006/main">
            <a:off x="5438775" y="203393"/>
            <a:ext cx="1974818" cy="40598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621A20E-D805-439D-8253-60401FE18BDE}"/>
              </a:ext>
            </a:extLst>
          </p:cNvPr>
          <p:cNvSpPr>
            <a:spLocks xmlns:a="http://schemas.openxmlformats.org/drawingml/2006/main" noGrp="1"/>
          </p:cNvSpPr>
          <p:nvPr/>
        </p:nvSpPr>
        <p:spPr>
          <a:xfrm xmlns:a="http://schemas.openxmlformats.org/drawingml/2006/main">
            <a:off x="812768" y="812768"/>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56C4"/>
                </a:solidFill>
              </a:defRPr>
            </a:defPPr>
            <a:lvl1pPr>
              <a:defRPr sz="1200" b="1">
                <a:solidFill>
                  <a:srgbClr val="2556C4"/>
                </a:solidFill>
              </a:defRPr>
            </a:lvl1pPr>
            <a:lvl2pPr>
              <a:defRPr sz="1200" b="1">
                <a:solidFill>
                  <a:srgbClr val="2556C4"/>
                </a:solidFill>
              </a:defRPr>
            </a:lvl2pPr>
            <a:lvl3pPr>
              <a:defRPr sz="1200" b="1">
                <a:solidFill>
                  <a:srgbClr val="2556C4"/>
                </a:solidFill>
              </a:defRPr>
            </a:lvl3pPr>
            <a:lvl4pPr>
              <a:defRPr sz="1200" b="1">
                <a:solidFill>
                  <a:srgbClr val="2556C4"/>
                </a:solidFill>
              </a:defRPr>
            </a:lvl4pPr>
            <a:lvl5pPr>
              <a:defRPr sz="1200" b="1">
                <a:solidFill>
                  <a:srgbClr val="2556C4"/>
                </a:solidFill>
              </a:defRPr>
            </a:lvl5pPr>
            <a:lvl6pPr>
              <a:defRPr sz="1200" b="1">
                <a:solidFill>
                  <a:srgbClr val="2556C4"/>
                </a:solidFill>
              </a:defRPr>
            </a:lvl6pPr>
            <a:lvl7pPr>
              <a:defRPr sz="1200" b="1">
                <a:solidFill>
                  <a:srgbClr val="2556C4"/>
                </a:solidFill>
              </a:defRPr>
            </a:lvl7pPr>
            <a:lvl8pPr>
              <a:defRPr sz="1200" b="1">
                <a:solidFill>
                  <a:srgbClr val="2556C4"/>
                </a:solidFill>
              </a:defRPr>
            </a:lvl8pPr>
            <a:lvl9pPr>
              <a:defRPr sz="1200" b="1">
                <a:solidFill>
                  <a:srgbClr val="2556C4"/>
                </a:solidFill>
              </a:defRPr>
            </a:lvl9pPr>
          </a:lstStyle>
          <a:p xmlns:a="http://schemas.openxmlformats.org/drawingml/2006/main">
            <a:pPr>
              <a:defRPr sz="1200" b="1">
                <a:solidFill>
                  <a:srgbClr val="2556C4"/>
                </a:solidFill>
              </a:defRPr>
            </a:pPr>
            <a:r>
              <a:rPr sz="1200" b="1">
                <a:solidFill>
                  <a:srgbClr val="2556C4"/>
                </a:solidFill>
              </a:rPr>
              <a:t>A · 10a — MINH CHỨNG BỔ SUNG</a:t>
            </a:r>
          </a:p>
        </p:txBody>
      </p:sp>
      <p:sp>
        <p:nvSpPr>
          <p:cNvPr id="4" name="">
            <a:extLst xmlns:a="http://schemas.openxmlformats.org/drawingml/2006/main">
              <a:ext uri="{FF2B5EF4-FFF2-40B4-BE49-F238E27FC236}">
                <a16:creationId xmlns:a16="http://schemas.microsoft.com/office/drawing/2014/main" id="{BE505BC9-86C7-4D5B-ACB4-EF7E68DA7BB8}"/>
              </a:ext>
            </a:extLst>
          </p:cNvPr>
          <p:cNvSpPr>
            <a:spLocks xmlns:a="http://schemas.openxmlformats.org/drawingml/2006/main" noGrp="1"/>
          </p:cNvSpPr>
          <p:nvPr/>
        </p:nvSpPr>
        <p:spPr>
          <a:xfrm xmlns:a="http://schemas.openxmlformats.org/drawingml/2006/main">
            <a:off x="812768" y="1114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2263A"/>
                </a:solidFill>
              </a:defRPr>
            </a:defPPr>
            <a:lvl1pPr>
              <a:defRPr sz="3200" b="1">
                <a:solidFill>
                  <a:srgbClr val="12263A"/>
                </a:solidFill>
              </a:defRPr>
            </a:lvl1pPr>
            <a:lvl2pPr>
              <a:defRPr sz="3200" b="1">
                <a:solidFill>
                  <a:srgbClr val="12263A"/>
                </a:solidFill>
              </a:defRPr>
            </a:lvl2pPr>
            <a:lvl3pPr>
              <a:defRPr sz="3200" b="1">
                <a:solidFill>
                  <a:srgbClr val="12263A"/>
                </a:solidFill>
              </a:defRPr>
            </a:lvl3pPr>
            <a:lvl4pPr>
              <a:defRPr sz="3200" b="1">
                <a:solidFill>
                  <a:srgbClr val="12263A"/>
                </a:solidFill>
              </a:defRPr>
            </a:lvl4pPr>
            <a:lvl5pPr>
              <a:defRPr sz="3200" b="1">
                <a:solidFill>
                  <a:srgbClr val="12263A"/>
                </a:solidFill>
              </a:defRPr>
            </a:lvl5pPr>
            <a:lvl6pPr>
              <a:defRPr sz="3200" b="1">
                <a:solidFill>
                  <a:srgbClr val="12263A"/>
                </a:solidFill>
              </a:defRPr>
            </a:lvl6pPr>
            <a:lvl7pPr>
              <a:defRPr sz="3200" b="1">
                <a:solidFill>
                  <a:srgbClr val="12263A"/>
                </a:solidFill>
              </a:defRPr>
            </a:lvl7pPr>
            <a:lvl8pPr>
              <a:defRPr sz="3200" b="1">
                <a:solidFill>
                  <a:srgbClr val="12263A"/>
                </a:solidFill>
              </a:defRPr>
            </a:lvl8pPr>
            <a:lvl9pPr>
              <a:defRPr sz="3200" b="1">
                <a:solidFill>
                  <a:srgbClr val="12263A"/>
                </a:solidFill>
              </a:defRPr>
            </a:lvl9pPr>
          </a:lstStyle>
          <a:p xmlns:a="http://schemas.openxmlformats.org/drawingml/2006/main">
            <a:pPr>
              <a:defRPr sz="3200" b="1">
                <a:solidFill>
                  <a:srgbClr val="12263A"/>
                </a:solidFill>
              </a:defRPr>
            </a:pPr>
            <a:r>
              <a:rPr sz="3200" b="1">
                <a:solidFill>
                  <a:srgbClr val="12263A"/>
                </a:solidFill>
              </a:rPr>
              <a:t>Triển khai QA và kiểm thử thực tế</a:t>
            </a:r>
          </a:p>
        </p:txBody>
      </p:sp>
      <p:sp>
        <p:nvSpPr>
          <p:cNvPr id="5" name="">
            <a:extLst xmlns:a="http://schemas.openxmlformats.org/drawingml/2006/main">
              <a:ext uri="{FF2B5EF4-FFF2-40B4-BE49-F238E27FC236}">
                <a16:creationId xmlns:a16="http://schemas.microsoft.com/office/drawing/2014/main" id="{82551698-042E-4FE0-BC5D-0D1005386534}"/>
              </a:ext>
            </a:extLst>
          </p:cNvPr>
          <p:cNvSpPr>
            <a:spLocks xmlns:a="http://schemas.openxmlformats.org/drawingml/2006/main" noGrp="1"/>
          </p:cNvSpPr>
          <p:nvPr/>
        </p:nvSpPr>
        <p:spPr>
          <a:xfrm xmlns:a="http://schemas.openxmlformats.org/drawingml/2006/main">
            <a:off x="812768"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Nhóm 5 · NovaCRM</a:t>
            </a:r>
          </a:p>
        </p:txBody>
      </p:sp>
      <p:sp>
        <p:nvSpPr>
          <p:cNvPr id="6" name="">
            <a:extLst xmlns:a="http://schemas.openxmlformats.org/drawingml/2006/main">
              <a:ext uri="{FF2B5EF4-FFF2-40B4-BE49-F238E27FC236}">
                <a16:creationId xmlns:a16="http://schemas.microsoft.com/office/drawing/2014/main" id="{55191746-BF2E-4B82-8673-AE70E1362B5E}"/>
              </a:ext>
            </a:extLst>
          </p:cNvPr>
          <p:cNvSpPr>
            <a:spLocks xmlns:a="http://schemas.openxmlformats.org/drawingml/2006/main" noGrp="1"/>
          </p:cNvSpPr>
          <p:nvPr/>
        </p:nvSpPr>
        <p:spPr>
          <a:xfrm xmlns:a="http://schemas.openxmlformats.org/drawingml/2006/main">
            <a:off x="8096250" y="62388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Đo tại QA local · 23/10/2026</a:t>
            </a:r>
          </a:p>
        </p:txBody>
      </p:sp>
      <p:graphicFrame>
        <p:nvGraphicFramePr>
          <p:cNvPr id="7" name="">
            <a:extLst xmlns:a="http://schemas.openxmlformats.org/drawingml/2006/main">
              <a:ext uri="{FF2B5EF4-FFF2-40B4-BE49-F238E27FC236}">
                <a16:creationId xmlns:a16="http://schemas.microsoft.com/office/drawing/2014/main" id="{641195EA-D696-458F-AD34-0F4F167F0DA9}"/>
              </a:ext>
            </a:extLst>
          </p:cNvPr>
          <p:cNvGraphicFramePr/>
          <p:nvPr/>
        </p:nvGraphicFramePr>
        <p:xfrm>
          <a:off xmlns:a="http://schemas.openxmlformats.org/drawingml/2006/main" x="809625" y="1952625"/>
          <a:ext xmlns:a="http://schemas.openxmlformats.org/drawingml/2006/main" cx="10563225" cy="3048000"/>
        </p:xfrm>
        <a:graphic xmlns:a="http://schemas.openxmlformats.org/drawingml/2006/main">
          <a:graphicData uri="http://schemas.openxmlformats.org/drawingml/2006/table">
            <a:tbl>
              <a:tblPr/>
              <a:tblGrid>
                <a:gridCol w="2476500"/>
                <a:gridCol w="3905250"/>
                <a:gridCol w="4181475"/>
              </a:tblGrid>
              <a:tr h="508000">
                <a:tc>
                  <a:txBody>
                    <a:bodyPr/>
                    <a:lstStyle/>
                    <a:p>
                      <a:r>
                        <a:rPr sz="1275" b="1">
                          <a:solidFill>
                            <a:srgbClr val="FFFFFF"/>
                          </a:solidFill>
                        </a:rPr>
                        <a:t>Hạng mục</a:t>
                      </a:r>
                    </a:p>
                  </a:txBody>
                  <a:tcPr marL="85725" marR="85725" marT="66675" marB="66675">
                    <a:lnL w="4763">
                      <a:solidFill>
                        <a:srgbClr val="CACAC8"/>
                      </a:solidFill>
                      <a:prstDash val="solid"/>
                    </a:lnL>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Kết quả xác minh</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Minh chứng</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r>
              <a:tr h="508000">
                <a:tc>
                  <a:txBody>
                    <a:bodyPr/>
                    <a:lstStyle/>
                    <a:p>
                      <a:r>
                        <a:rPr sz="1275">
                          <a:solidFill>
                            <a:srgbClr val="12263A"/>
                          </a:solidFill>
                        </a:rPr>
                        <a:t>Backend Maven</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355/355 PASS, 0 lỗi, 0 skip</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clean verify và package WAR</a:t>
                      </a:r>
                    </a:p>
                  </a:txBody>
                  <a:tcPr marL="85725" marR="85725" marT="66675" marB="66675">
                    <a:lnR w="4763">
                      <a:solidFill>
                        <a:srgbClr val="CACAC8"/>
                      </a:solidFill>
                      <a:prstDash val="solid"/>
                    </a:lnR>
                    <a:lnB w="4763">
                      <a:solidFill>
                        <a:srgbClr val="CACAC8"/>
                      </a:solidFill>
                      <a:prstDash val="solid"/>
                    </a:lnB>
                    <a:solidFill>
                      <a:srgbClr val="FDFDFB"/>
                    </a:solidFill>
                  </a:tcPr>
                </a:tc>
              </a:tr>
              <a:tr h="508000">
                <a:tc>
                  <a:txBody>
                    <a:bodyPr/>
                    <a:lstStyle/>
                    <a:p>
                      <a:r>
                        <a:rPr sz="1275">
                          <a:solidFill>
                            <a:srgbClr val="12263A"/>
                          </a:solidFill>
                        </a:rPr>
                        <a:t>Frontend unit</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9/9 PASS, 0 FAIL, 0 skip</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Node test, gồm modal và trạng thái Lead</a:t>
                      </a:r>
                    </a:p>
                  </a:txBody>
                  <a:tcPr marL="85725" marR="85725" marT="66675" marB="66675">
                    <a:lnR w="4763">
                      <a:solidFill>
                        <a:srgbClr val="CACAC8"/>
                      </a:solidFill>
                      <a:prstDash val="solid"/>
                    </a:lnR>
                    <a:lnB w="4763">
                      <a:solidFill>
                        <a:srgbClr val="CACAC8"/>
                      </a:solidFill>
                      <a:prstDash val="solid"/>
                    </a:lnB>
                    <a:solidFill>
                      <a:srgbClr val="FDFDFB"/>
                    </a:solidFill>
                  </a:tcPr>
                </a:tc>
              </a:tr>
              <a:tr h="508000">
                <a:tc>
                  <a:txBody>
                    <a:bodyPr/>
                    <a:lstStyle/>
                    <a:p>
                      <a:r>
                        <a:rPr sz="1275">
                          <a:solidFill>
                            <a:srgbClr val="12263A"/>
                          </a:solidFill>
                        </a:rPr>
                        <a:t>HTTP smoke</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14/14 PASS</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Health, 401, CORS, 413, 429</a:t>
                      </a:r>
                    </a:p>
                  </a:txBody>
                  <a:tcPr marL="85725" marR="85725" marT="66675" marB="66675">
                    <a:lnR w="4763">
                      <a:solidFill>
                        <a:srgbClr val="CACAC8"/>
                      </a:solidFill>
                      <a:prstDash val="solid"/>
                    </a:lnR>
                    <a:lnB w="4763">
                      <a:solidFill>
                        <a:srgbClr val="CACAC8"/>
                      </a:solidFill>
                      <a:prstDash val="solid"/>
                    </a:lnB>
                    <a:solidFill>
                      <a:srgbClr val="FDFDFB"/>
                    </a:solidFill>
                  </a:tcPr>
                </a:tc>
              </a:tr>
              <a:tr h="508000">
                <a:tc>
                  <a:txBody>
                    <a:bodyPr/>
                    <a:lstStyle/>
                    <a:p>
                      <a:r>
                        <a:rPr sz="1275">
                          <a:solidFill>
                            <a:srgbClr val="12263A"/>
                          </a:solidFill>
                        </a:rPr>
                        <a:t>HTTP nghiệp vụ / quyền</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10/10 PASS</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Login, nguồn, danh sách, 400, 401, 403</a:t>
                      </a:r>
                    </a:p>
                  </a:txBody>
                  <a:tcPr marL="85725" marR="85725" marT="66675" marB="66675">
                    <a:lnR w="4763">
                      <a:solidFill>
                        <a:srgbClr val="CACAC8"/>
                      </a:solidFill>
                      <a:prstDash val="solid"/>
                    </a:lnR>
                    <a:lnB w="4763">
                      <a:solidFill>
                        <a:srgbClr val="CACAC8"/>
                      </a:solidFill>
                      <a:prstDash val="solid"/>
                    </a:lnB>
                    <a:solidFill>
                      <a:srgbClr val="FDFDFB"/>
                    </a:solidFill>
                  </a:tcPr>
                </a:tc>
              </a:tr>
              <a:tr h="508000">
                <a:tc>
                  <a:txBody>
                    <a:bodyPr/>
                    <a:lstStyle/>
                    <a:p>
                      <a:r>
                        <a:rPr sz="1275">
                          <a:solidFill>
                            <a:srgbClr val="12263A"/>
                          </a:solidFill>
                        </a:rPr>
                        <a:t>Tomcat QA</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Health HTTP 200, success: true</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WAR build và deploy có hash khớp</a:t>
                      </a:r>
                    </a:p>
                  </a:txBody>
                  <a:tcPr marL="85725" marR="85725" marT="66675" marB="66675">
                    <a:lnR w="4763">
                      <a:solidFill>
                        <a:srgbClr val="CACAC8"/>
                      </a:solidFill>
                      <a:prstDash val="solid"/>
                    </a:lnR>
                    <a:lnB w="4763">
                      <a:solidFill>
                        <a:srgbClr val="CACAC8"/>
                      </a:solidFill>
                      <a:prstDash val="solid"/>
                    </a:lnB>
                    <a:solidFill>
                      <a:srgbClr val="FDFDFB"/>
                    </a:solidFill>
                  </a:tcPr>
                </a:tc>
              </a:tr>
            </a:tbl>
          </a:graphicData>
        </a:graphic>
      </p:graphicFrame>
      <p:sp>
        <p:nvSpPr>
          <p:cNvPr id="8" name="">
            <a:extLst xmlns:a="http://schemas.openxmlformats.org/drawingml/2006/main">
              <a:ext uri="{FF2B5EF4-FFF2-40B4-BE49-F238E27FC236}">
                <a16:creationId xmlns:a16="http://schemas.microsoft.com/office/drawing/2014/main" id="{260F02FB-B030-461A-92B1-7A187AA31F8F}"/>
              </a:ext>
            </a:extLst>
          </p:cNvPr>
          <p:cNvSpPr>
            <a:spLocks xmlns:a="http://schemas.openxmlformats.org/drawingml/2006/main" noGrp="1"/>
          </p:cNvSpPr>
          <p:nvPr/>
        </p:nvSpPr>
        <p:spPr>
          <a:xfrm xmlns:a="http://schemas.openxmlformats.org/drawingml/2006/main">
            <a:off x="809625" y="52197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12263A"/>
                </a:solidFill>
              </a:defRPr>
            </a:defPPr>
            <a:lvl1pPr>
              <a:defRPr sz="1350" b="0">
                <a:solidFill>
                  <a:srgbClr val="12263A"/>
                </a:solidFill>
              </a:defRPr>
            </a:lvl1pPr>
            <a:lvl2pPr>
              <a:defRPr sz="1350" b="0">
                <a:solidFill>
                  <a:srgbClr val="12263A"/>
                </a:solidFill>
              </a:defRPr>
            </a:lvl2pPr>
            <a:lvl3pPr>
              <a:defRPr sz="1350" b="0">
                <a:solidFill>
                  <a:srgbClr val="12263A"/>
                </a:solidFill>
              </a:defRPr>
            </a:lvl3pPr>
            <a:lvl4pPr>
              <a:defRPr sz="1350" b="0">
                <a:solidFill>
                  <a:srgbClr val="12263A"/>
                </a:solidFill>
              </a:defRPr>
            </a:lvl4pPr>
            <a:lvl5pPr>
              <a:defRPr sz="1350" b="0">
                <a:solidFill>
                  <a:srgbClr val="12263A"/>
                </a:solidFill>
              </a:defRPr>
            </a:lvl5pPr>
            <a:lvl6pPr>
              <a:defRPr sz="1350" b="0">
                <a:solidFill>
                  <a:srgbClr val="12263A"/>
                </a:solidFill>
              </a:defRPr>
            </a:lvl6pPr>
            <a:lvl7pPr>
              <a:defRPr sz="1350" b="0">
                <a:solidFill>
                  <a:srgbClr val="12263A"/>
                </a:solidFill>
              </a:defRPr>
            </a:lvl7pPr>
            <a:lvl8pPr>
              <a:defRPr sz="1350" b="0">
                <a:solidFill>
                  <a:srgbClr val="12263A"/>
                </a:solidFill>
              </a:defRPr>
            </a:lvl8pPr>
            <a:lvl9pPr>
              <a:defRPr sz="1350" b="0">
                <a:solidFill>
                  <a:srgbClr val="12263A"/>
                </a:solidFill>
              </a:defRPr>
            </a:lvl9pPr>
          </a:lstStyle>
          <a:p xmlns:a="http://schemas.openxmlformats.org/drawingml/2006/main">
            <a:pPr>
              <a:defRPr sz="1350" b="0">
                <a:solidFill>
                  <a:srgbClr val="12263A"/>
                </a:solidFill>
              </a:defRPr>
            </a:pPr>
            <a:r>
              <a:rPr sz="1350" b="0">
                <a:solidFill>
                  <a:srgbClr val="12263A"/>
                </a:solidFill>
              </a:rPr>
              <a:t>Môi trường: Java 21, MySQL 8.4.9, Tomcat 10.1.60. Chỉ dùng database QA riêng.</a:t>
            </a:r>
          </a:p>
        </p:txBody>
      </p:sp>
      <p:sp>
        <p:nvSpPr>
          <p:cNvPr id="9" name="">
            <a:extLst xmlns:a="http://schemas.openxmlformats.org/drawingml/2006/main">
              <a:ext uri="{FF2B5EF4-FFF2-40B4-BE49-F238E27FC236}">
                <a16:creationId xmlns:a16="http://schemas.microsoft.com/office/drawing/2014/main" id="{2E1D7917-ABD4-4140-A1EE-D6F36B4E1358}"/>
              </a:ext>
            </a:extLst>
          </p:cNvPr>
          <p:cNvSpPr>
            <a:spLocks xmlns:a="http://schemas.openxmlformats.org/drawingml/2006/main" noGrp="1"/>
          </p:cNvSpPr>
          <p:nvPr/>
        </p:nvSpPr>
        <p:spPr>
          <a:xfrm xmlns:a="http://schemas.openxmlformats.org/drawingml/2006/main">
            <a:off x="809625" y="56292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A6573"/>
                </a:solidFill>
              </a:defRPr>
            </a:defPPr>
            <a:lvl1pPr>
              <a:defRPr sz="1275" b="0">
                <a:solidFill>
                  <a:srgbClr val="5A6573"/>
                </a:solidFill>
              </a:defRPr>
            </a:lvl1pPr>
            <a:lvl2pPr>
              <a:defRPr sz="1275" b="0">
                <a:solidFill>
                  <a:srgbClr val="5A6573"/>
                </a:solidFill>
              </a:defRPr>
            </a:lvl2pPr>
            <a:lvl3pPr>
              <a:defRPr sz="1275" b="0">
                <a:solidFill>
                  <a:srgbClr val="5A6573"/>
                </a:solidFill>
              </a:defRPr>
            </a:lvl3pPr>
            <a:lvl4pPr>
              <a:defRPr sz="1275" b="0">
                <a:solidFill>
                  <a:srgbClr val="5A6573"/>
                </a:solidFill>
              </a:defRPr>
            </a:lvl4pPr>
            <a:lvl5pPr>
              <a:defRPr sz="1275" b="0">
                <a:solidFill>
                  <a:srgbClr val="5A6573"/>
                </a:solidFill>
              </a:defRPr>
            </a:lvl5pPr>
            <a:lvl6pPr>
              <a:defRPr sz="1275" b="0">
                <a:solidFill>
                  <a:srgbClr val="5A6573"/>
                </a:solidFill>
              </a:defRPr>
            </a:lvl6pPr>
            <a:lvl7pPr>
              <a:defRPr sz="1275" b="0">
                <a:solidFill>
                  <a:srgbClr val="5A6573"/>
                </a:solidFill>
              </a:defRPr>
            </a:lvl7pPr>
            <a:lvl8pPr>
              <a:defRPr sz="1275" b="0">
                <a:solidFill>
                  <a:srgbClr val="5A6573"/>
                </a:solidFill>
              </a:defRPr>
            </a:lvl8pPr>
            <a:lvl9pPr>
              <a:defRPr sz="1275" b="0">
                <a:solidFill>
                  <a:srgbClr val="5A6573"/>
                </a:solidFill>
              </a:defRPr>
            </a:lvl9pPr>
          </a:lstStyle>
          <a:p xmlns:a="http://schemas.openxmlformats.org/drawingml/2006/main">
            <a:pPr>
              <a:defRPr sz="1275" b="0">
                <a:solidFill>
                  <a:srgbClr val="5A6573"/>
                </a:solidFill>
              </a:defRPr>
            </a:pPr>
            <a:r>
              <a:rPr sz="1275" b="0">
                <a:solidFill>
                  <a:srgbClr val="5A6573"/>
                </a:solidFill>
              </a:rPr>
              <a:t>355 test là lần chạy mới ngày 23/10, tách biệt số 354 và E2E của PR #163 ở slide trước.</a:t>
            </a:r>
          </a:p>
        </p:txBody>
      </p:sp>
    </p:spTree>
    <p:extLst>
      <p:ext uri="{BB962C8B-B14F-4D97-AF65-F5344CB8AC3E}">
        <p14:creationId xmlns:p14="http://schemas.microsoft.com/office/powerpoint/2010/main" val="929408050"/>
      </p:ext>
    </p:extLst>
  </p:cSld>
</p:sld>
</file>

<file path=ppt/slides/slide3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DBE9E77-3D16-4DAC-B1E1-186F9A76F761}"/>
              </a:ext>
            </a:extLst>
          </p:cNvPr>
          <p:cNvPicPr>
            <a:picLocks xmlns:a="http://schemas.openxmlformats.org/drawingml/2006/main" noChangeAspect="1"/>
          </p:cNvPicPr>
          <p:nvPr/>
        </p:nvPicPr>
        <p:blipFill>
          <a:blip xmlns:r="http://schemas.openxmlformats.org/officeDocument/2006/relationships" xmlns:a="http://schemas.openxmlformats.org/drawingml/2006/main" r:embed="Rf5f3d8830bd04a77"/>
          <a:stretch xmlns:a="http://schemas.openxmlformats.org/drawingml/2006/main"/>
        </p:blipFill>
        <p:spPr>
          <a:xfrm xmlns:a="http://schemas.openxmlformats.org/drawingml/2006/main">
            <a:off x="4778312" y="203168"/>
            <a:ext cx="406432" cy="406432"/>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902778E-357E-4656-A299-604D541C20A3}"/>
              </a:ext>
            </a:extLst>
          </p:cNvPr>
          <p:cNvPicPr>
            <a:picLocks xmlns:a="http://schemas.openxmlformats.org/drawingml/2006/main" noChangeAspect="1"/>
          </p:cNvPicPr>
          <p:nvPr/>
        </p:nvPicPr>
        <p:blipFill>
          <a:blip xmlns:r="http://schemas.openxmlformats.org/officeDocument/2006/relationships" xmlns:a="http://schemas.openxmlformats.org/drawingml/2006/main" r:embed="Rcd1f06af41eb499c"/>
          <a:stretch xmlns:a="http://schemas.openxmlformats.org/drawingml/2006/main"/>
        </p:blipFill>
        <p:spPr>
          <a:xfrm xmlns:a="http://schemas.openxmlformats.org/drawingml/2006/main">
            <a:off x="5438775" y="203393"/>
            <a:ext cx="1974818" cy="40598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43E240-545D-460B-8EE0-1C1E50DC83A2}"/>
              </a:ext>
            </a:extLst>
          </p:cNvPr>
          <p:cNvSpPr>
            <a:spLocks xmlns:a="http://schemas.openxmlformats.org/drawingml/2006/main" noGrp="1"/>
          </p:cNvSpPr>
          <p:nvPr/>
        </p:nvSpPr>
        <p:spPr>
          <a:xfrm xmlns:a="http://schemas.openxmlformats.org/drawingml/2006/main">
            <a:off x="812768" y="812768"/>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56C4"/>
                </a:solidFill>
              </a:defRPr>
            </a:defPPr>
            <a:lvl1pPr>
              <a:defRPr sz="1200" b="1">
                <a:solidFill>
                  <a:srgbClr val="2556C4"/>
                </a:solidFill>
              </a:defRPr>
            </a:lvl1pPr>
            <a:lvl2pPr>
              <a:defRPr sz="1200" b="1">
                <a:solidFill>
                  <a:srgbClr val="2556C4"/>
                </a:solidFill>
              </a:defRPr>
            </a:lvl2pPr>
            <a:lvl3pPr>
              <a:defRPr sz="1200" b="1">
                <a:solidFill>
                  <a:srgbClr val="2556C4"/>
                </a:solidFill>
              </a:defRPr>
            </a:lvl3pPr>
            <a:lvl4pPr>
              <a:defRPr sz="1200" b="1">
                <a:solidFill>
                  <a:srgbClr val="2556C4"/>
                </a:solidFill>
              </a:defRPr>
            </a:lvl4pPr>
            <a:lvl5pPr>
              <a:defRPr sz="1200" b="1">
                <a:solidFill>
                  <a:srgbClr val="2556C4"/>
                </a:solidFill>
              </a:defRPr>
            </a:lvl5pPr>
            <a:lvl6pPr>
              <a:defRPr sz="1200" b="1">
                <a:solidFill>
                  <a:srgbClr val="2556C4"/>
                </a:solidFill>
              </a:defRPr>
            </a:lvl6pPr>
            <a:lvl7pPr>
              <a:defRPr sz="1200" b="1">
                <a:solidFill>
                  <a:srgbClr val="2556C4"/>
                </a:solidFill>
              </a:defRPr>
            </a:lvl7pPr>
            <a:lvl8pPr>
              <a:defRPr sz="1200" b="1">
                <a:solidFill>
                  <a:srgbClr val="2556C4"/>
                </a:solidFill>
              </a:defRPr>
            </a:lvl8pPr>
            <a:lvl9pPr>
              <a:defRPr sz="1200" b="1">
                <a:solidFill>
                  <a:srgbClr val="2556C4"/>
                </a:solidFill>
              </a:defRPr>
            </a:lvl9pPr>
          </a:lstStyle>
          <a:p xmlns:a="http://schemas.openxmlformats.org/drawingml/2006/main">
            <a:pPr>
              <a:defRPr sz="1200" b="1">
                <a:solidFill>
                  <a:srgbClr val="2556C4"/>
                </a:solidFill>
              </a:defRPr>
            </a:pPr>
            <a:r>
              <a:rPr sz="1200" b="1">
                <a:solidFill>
                  <a:srgbClr val="2556C4"/>
                </a:solidFill>
              </a:rPr>
              <a:t>A · 10b — MINH CHỨNG BỔ SUNG</a:t>
            </a:r>
          </a:p>
        </p:txBody>
      </p:sp>
      <p:sp>
        <p:nvSpPr>
          <p:cNvPr id="4" name="">
            <a:extLst xmlns:a="http://schemas.openxmlformats.org/drawingml/2006/main">
              <a:ext uri="{FF2B5EF4-FFF2-40B4-BE49-F238E27FC236}">
                <a16:creationId xmlns:a16="http://schemas.microsoft.com/office/drawing/2014/main" id="{E45B24DE-38BC-4E90-8412-259E4A2C61EA}"/>
              </a:ext>
            </a:extLst>
          </p:cNvPr>
          <p:cNvSpPr>
            <a:spLocks xmlns:a="http://schemas.openxmlformats.org/drawingml/2006/main" noGrp="1"/>
          </p:cNvSpPr>
          <p:nvPr/>
        </p:nvSpPr>
        <p:spPr>
          <a:xfrm xmlns:a="http://schemas.openxmlformats.org/drawingml/2006/main">
            <a:off x="812768" y="1114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2263A"/>
                </a:solidFill>
              </a:defRPr>
            </a:defPPr>
            <a:lvl1pPr>
              <a:defRPr sz="3200" b="1">
                <a:solidFill>
                  <a:srgbClr val="12263A"/>
                </a:solidFill>
              </a:defRPr>
            </a:lvl1pPr>
            <a:lvl2pPr>
              <a:defRPr sz="3200" b="1">
                <a:solidFill>
                  <a:srgbClr val="12263A"/>
                </a:solidFill>
              </a:defRPr>
            </a:lvl2pPr>
            <a:lvl3pPr>
              <a:defRPr sz="3200" b="1">
                <a:solidFill>
                  <a:srgbClr val="12263A"/>
                </a:solidFill>
              </a:defRPr>
            </a:lvl3pPr>
            <a:lvl4pPr>
              <a:defRPr sz="3200" b="1">
                <a:solidFill>
                  <a:srgbClr val="12263A"/>
                </a:solidFill>
              </a:defRPr>
            </a:lvl4pPr>
            <a:lvl5pPr>
              <a:defRPr sz="3200" b="1">
                <a:solidFill>
                  <a:srgbClr val="12263A"/>
                </a:solidFill>
              </a:defRPr>
            </a:lvl5pPr>
            <a:lvl6pPr>
              <a:defRPr sz="3200" b="1">
                <a:solidFill>
                  <a:srgbClr val="12263A"/>
                </a:solidFill>
              </a:defRPr>
            </a:lvl6pPr>
            <a:lvl7pPr>
              <a:defRPr sz="3200" b="1">
                <a:solidFill>
                  <a:srgbClr val="12263A"/>
                </a:solidFill>
              </a:defRPr>
            </a:lvl7pPr>
            <a:lvl8pPr>
              <a:defRPr sz="3200" b="1">
                <a:solidFill>
                  <a:srgbClr val="12263A"/>
                </a:solidFill>
              </a:defRPr>
            </a:lvl8pPr>
            <a:lvl9pPr>
              <a:defRPr sz="3200" b="1">
                <a:solidFill>
                  <a:srgbClr val="12263A"/>
                </a:solidFill>
              </a:defRPr>
            </a:lvl9pPr>
          </a:lstStyle>
          <a:p xmlns:a="http://schemas.openxmlformats.org/drawingml/2006/main">
            <a:pPr>
              <a:defRPr sz="3200" b="1">
                <a:solidFill>
                  <a:srgbClr val="12263A"/>
                </a:solidFill>
              </a:defRPr>
            </a:pPr>
            <a:r>
              <a:rPr sz="3200" b="1">
                <a:solidFill>
                  <a:srgbClr val="12263A"/>
                </a:solidFill>
              </a:rPr>
              <a:t>Minh chứng luồng tạo Lead trên QA</a:t>
            </a:r>
          </a:p>
        </p:txBody>
      </p:sp>
      <p:sp>
        <p:nvSpPr>
          <p:cNvPr id="5" name="">
            <a:extLst xmlns:a="http://schemas.openxmlformats.org/drawingml/2006/main">
              <a:ext uri="{FF2B5EF4-FFF2-40B4-BE49-F238E27FC236}">
                <a16:creationId xmlns:a16="http://schemas.microsoft.com/office/drawing/2014/main" id="{A9124161-4405-440E-989D-0290718C60B0}"/>
              </a:ext>
            </a:extLst>
          </p:cNvPr>
          <p:cNvSpPr>
            <a:spLocks xmlns:a="http://schemas.openxmlformats.org/drawingml/2006/main" noGrp="1"/>
          </p:cNvSpPr>
          <p:nvPr/>
        </p:nvSpPr>
        <p:spPr>
          <a:xfrm xmlns:a="http://schemas.openxmlformats.org/drawingml/2006/main">
            <a:off x="812768"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Nhóm 5 · NovaCRM</a:t>
            </a:r>
          </a:p>
        </p:txBody>
      </p:sp>
      <p:sp>
        <p:nvSpPr>
          <p:cNvPr id="6" name="">
            <a:extLst xmlns:a="http://schemas.openxmlformats.org/drawingml/2006/main">
              <a:ext uri="{FF2B5EF4-FFF2-40B4-BE49-F238E27FC236}">
                <a16:creationId xmlns:a16="http://schemas.microsoft.com/office/drawing/2014/main" id="{088B760A-657D-48FF-8D5A-7187ED9048B8}"/>
              </a:ext>
            </a:extLst>
          </p:cNvPr>
          <p:cNvSpPr>
            <a:spLocks xmlns:a="http://schemas.openxmlformats.org/drawingml/2006/main" noGrp="1"/>
          </p:cNvSpPr>
          <p:nvPr/>
        </p:nvSpPr>
        <p:spPr>
          <a:xfrm xmlns:a="http://schemas.openxmlformats.org/drawingml/2006/main">
            <a:off x="8096250" y="62388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Đo tại QA local · 23/10/2026</a:t>
            </a:r>
          </a:p>
        </p:txBody>
      </p:sp>
      <p:pic>
        <p:nvPicPr>
          <p:cNvPr id="7" name="">
            <a:extLst xmlns:a="http://schemas.openxmlformats.org/drawingml/2006/main">
              <a:ext uri="{FF2B5EF4-FFF2-40B4-BE49-F238E27FC236}">
                <a16:creationId xmlns:a16="http://schemas.microsoft.com/office/drawing/2014/main" id="{72BAEA52-3DB9-4C16-806B-436B44FED99F}"/>
              </a:ext>
            </a:extLst>
          </p:cNvPr>
          <p:cNvPicPr>
            <a:picLocks xmlns:a="http://schemas.openxmlformats.org/drawingml/2006/main" noChangeAspect="1"/>
          </p:cNvPicPr>
          <p:nvPr/>
        </p:nvPicPr>
        <p:blipFill>
          <a:blip xmlns:r="http://schemas.openxmlformats.org/officeDocument/2006/relationships" xmlns:a="http://schemas.openxmlformats.org/drawingml/2006/main" r:embed="R9a0cee91e37643ae"/>
          <a:stretch xmlns:a="http://schemas.openxmlformats.org/drawingml/2006/main"/>
        </p:blipFill>
        <p:spPr>
          <a:xfrm xmlns:a="http://schemas.openxmlformats.org/drawingml/2006/main">
            <a:off x="853877" y="1924050"/>
            <a:ext cx="3673870" cy="4095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19BEE6-19E0-416A-8D0B-95ECFDE185D9}"/>
              </a:ext>
            </a:extLst>
          </p:cNvPr>
          <p:cNvSpPr>
            <a:spLocks xmlns:a="http://schemas.openxmlformats.org/drawingml/2006/main" noGrp="1"/>
          </p:cNvSpPr>
          <p:nvPr/>
        </p:nvSpPr>
        <p:spPr>
          <a:xfrm xmlns:a="http://schemas.openxmlformats.org/drawingml/2006/main">
            <a:off x="4953000" y="1990725"/>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2263A"/>
                </a:solidFill>
              </a:defRPr>
            </a:defPPr>
            <a:lvl1pPr>
              <a:defRPr sz="1875" b="1">
                <a:solidFill>
                  <a:srgbClr val="12263A"/>
                </a:solidFill>
              </a:defRPr>
            </a:lvl1pPr>
            <a:lvl2pPr>
              <a:defRPr sz="1875" b="1">
                <a:solidFill>
                  <a:srgbClr val="12263A"/>
                </a:solidFill>
              </a:defRPr>
            </a:lvl2pPr>
            <a:lvl3pPr>
              <a:defRPr sz="1875" b="1">
                <a:solidFill>
                  <a:srgbClr val="12263A"/>
                </a:solidFill>
              </a:defRPr>
            </a:lvl3pPr>
            <a:lvl4pPr>
              <a:defRPr sz="1875" b="1">
                <a:solidFill>
                  <a:srgbClr val="12263A"/>
                </a:solidFill>
              </a:defRPr>
            </a:lvl4pPr>
            <a:lvl5pPr>
              <a:defRPr sz="1875" b="1">
                <a:solidFill>
                  <a:srgbClr val="12263A"/>
                </a:solidFill>
              </a:defRPr>
            </a:lvl5pPr>
            <a:lvl6pPr>
              <a:defRPr sz="1875" b="1">
                <a:solidFill>
                  <a:srgbClr val="12263A"/>
                </a:solidFill>
              </a:defRPr>
            </a:lvl6pPr>
            <a:lvl7pPr>
              <a:defRPr sz="1875" b="1">
                <a:solidFill>
                  <a:srgbClr val="12263A"/>
                </a:solidFill>
              </a:defRPr>
            </a:lvl7pPr>
            <a:lvl8pPr>
              <a:defRPr sz="1875" b="1">
                <a:solidFill>
                  <a:srgbClr val="12263A"/>
                </a:solidFill>
              </a:defRPr>
            </a:lvl8pPr>
            <a:lvl9pPr>
              <a:defRPr sz="1875" b="1">
                <a:solidFill>
                  <a:srgbClr val="12263A"/>
                </a:solidFill>
              </a:defRPr>
            </a:lvl9pPr>
          </a:lstStyle>
          <a:p xmlns:a="http://schemas.openxmlformats.org/drawingml/2006/main">
            <a:pPr>
              <a:defRPr sz="1875" b="1">
                <a:solidFill>
                  <a:srgbClr val="12263A"/>
                </a:solidFill>
              </a:defRPr>
            </a:pPr>
            <a:r>
              <a:rPr sz="1875" b="1">
                <a:solidFill>
                  <a:srgbClr val="12263A"/>
                </a:solidFill>
              </a:rPr>
              <a:t>Lead #807 lưu và tìm lại được</a:t>
            </a:r>
          </a:p>
        </p:txBody>
      </p:sp>
      <p:sp>
        <p:nvSpPr>
          <p:cNvPr id="9" name="">
            <a:extLst xmlns:a="http://schemas.openxmlformats.org/drawingml/2006/main">
              <a:ext uri="{FF2B5EF4-FFF2-40B4-BE49-F238E27FC236}">
                <a16:creationId xmlns:a16="http://schemas.microsoft.com/office/drawing/2014/main" id="{3592C569-5A72-44C2-AE2E-47CA44F45074}"/>
              </a:ext>
            </a:extLst>
          </p:cNvPr>
          <p:cNvSpPr>
            <a:spLocks xmlns:a="http://schemas.openxmlformats.org/drawingml/2006/main" noGrp="1"/>
          </p:cNvSpPr>
          <p:nvPr/>
        </p:nvSpPr>
        <p:spPr>
          <a:xfrm xmlns:a="http://schemas.openxmlformats.org/drawingml/2006/main">
            <a:off x="4953000" y="252412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2263A"/>
                </a:solidFill>
              </a:defRPr>
            </a:defPPr>
            <a:lvl1pPr>
              <a:defRPr sz="1725" b="0">
                <a:solidFill>
                  <a:srgbClr val="12263A"/>
                </a:solidFill>
              </a:defRPr>
            </a:lvl1pPr>
            <a:lvl2pPr>
              <a:defRPr sz="1725" b="0">
                <a:solidFill>
                  <a:srgbClr val="12263A"/>
                </a:solidFill>
              </a:defRPr>
            </a:lvl2pPr>
            <a:lvl3pPr>
              <a:defRPr sz="1725" b="0">
                <a:solidFill>
                  <a:srgbClr val="12263A"/>
                </a:solidFill>
              </a:defRPr>
            </a:lvl3pPr>
            <a:lvl4pPr>
              <a:defRPr sz="1725" b="0">
                <a:solidFill>
                  <a:srgbClr val="12263A"/>
                </a:solidFill>
              </a:defRPr>
            </a:lvl4pPr>
            <a:lvl5pPr>
              <a:defRPr sz="1725" b="0">
                <a:solidFill>
                  <a:srgbClr val="12263A"/>
                </a:solidFill>
              </a:defRPr>
            </a:lvl5pPr>
            <a:lvl6pPr>
              <a:defRPr sz="1725" b="0">
                <a:solidFill>
                  <a:srgbClr val="12263A"/>
                </a:solidFill>
              </a:defRPr>
            </a:lvl6pPr>
            <a:lvl7pPr>
              <a:defRPr sz="1725" b="0">
                <a:solidFill>
                  <a:srgbClr val="12263A"/>
                </a:solidFill>
              </a:defRPr>
            </a:lvl7pPr>
            <a:lvl8pPr>
              <a:defRPr sz="1725" b="0">
                <a:solidFill>
                  <a:srgbClr val="12263A"/>
                </a:solidFill>
              </a:defRPr>
            </a:lvl8pPr>
            <a:lvl9pPr>
              <a:defRPr sz="1725" b="0">
                <a:solidFill>
                  <a:srgbClr val="12263A"/>
                </a:solidFill>
              </a:defRPr>
            </a:lvl9pPr>
          </a:lstStyle>
          <a:p xmlns:a="http://schemas.openxmlformats.org/drawingml/2006/main">
            <a:pPr>
              <a:defRPr sz="1725" b="0">
                <a:solidFill>
                  <a:srgbClr val="12263A"/>
                </a:solidFill>
              </a:defRPr>
            </a:pPr>
            <a:r>
              <a:rPr sz="1725" b="0">
                <a:solidFill>
                  <a:srgbClr val="12263A"/>
                </a:solidFill>
              </a:rPr>
              <a:t>Tài khoản QA đăng nhập, tải 6 nguồn từ API, tạo Lead và nhận HTTP 201.</a:t>
            </a:r>
          </a:p>
        </p:txBody>
      </p:sp>
      <p:sp>
        <p:nvSpPr>
          <p:cNvPr id="10" name="">
            <a:extLst xmlns:a="http://schemas.openxmlformats.org/drawingml/2006/main">
              <a:ext uri="{FF2B5EF4-FFF2-40B4-BE49-F238E27FC236}">
                <a16:creationId xmlns:a16="http://schemas.microsoft.com/office/drawing/2014/main" id="{FA4EAAEC-F821-47F4-96A9-B65B79D66E00}"/>
              </a:ext>
            </a:extLst>
          </p:cNvPr>
          <p:cNvSpPr>
            <a:spLocks xmlns:a="http://schemas.openxmlformats.org/drawingml/2006/main" noGrp="1"/>
          </p:cNvSpPr>
          <p:nvPr/>
        </p:nvSpPr>
        <p:spPr>
          <a:xfrm xmlns:a="http://schemas.openxmlformats.org/drawingml/2006/main">
            <a:off x="4953000" y="3305175"/>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2263A"/>
                </a:solidFill>
              </a:defRPr>
            </a:defPPr>
            <a:lvl1pPr>
              <a:defRPr sz="1725" b="0">
                <a:solidFill>
                  <a:srgbClr val="12263A"/>
                </a:solidFill>
              </a:defRPr>
            </a:lvl1pPr>
            <a:lvl2pPr>
              <a:defRPr sz="1725" b="0">
                <a:solidFill>
                  <a:srgbClr val="12263A"/>
                </a:solidFill>
              </a:defRPr>
            </a:lvl2pPr>
            <a:lvl3pPr>
              <a:defRPr sz="1725" b="0">
                <a:solidFill>
                  <a:srgbClr val="12263A"/>
                </a:solidFill>
              </a:defRPr>
            </a:lvl3pPr>
            <a:lvl4pPr>
              <a:defRPr sz="1725" b="0">
                <a:solidFill>
                  <a:srgbClr val="12263A"/>
                </a:solidFill>
              </a:defRPr>
            </a:lvl4pPr>
            <a:lvl5pPr>
              <a:defRPr sz="1725" b="0">
                <a:solidFill>
                  <a:srgbClr val="12263A"/>
                </a:solidFill>
              </a:defRPr>
            </a:lvl5pPr>
            <a:lvl6pPr>
              <a:defRPr sz="1725" b="0">
                <a:solidFill>
                  <a:srgbClr val="12263A"/>
                </a:solidFill>
              </a:defRPr>
            </a:lvl6pPr>
            <a:lvl7pPr>
              <a:defRPr sz="1725" b="0">
                <a:solidFill>
                  <a:srgbClr val="12263A"/>
                </a:solidFill>
              </a:defRPr>
            </a:lvl7pPr>
            <a:lvl8pPr>
              <a:defRPr sz="1725" b="0">
                <a:solidFill>
                  <a:srgbClr val="12263A"/>
                </a:solidFill>
              </a:defRPr>
            </a:lvl8pPr>
            <a:lvl9pPr>
              <a:defRPr sz="1725" b="0">
                <a:solidFill>
                  <a:srgbClr val="12263A"/>
                </a:solidFill>
              </a:defRPr>
            </a:lvl9pPr>
          </a:lstStyle>
          <a:p xmlns:a="http://schemas.openxmlformats.org/drawingml/2006/main">
            <a:pPr>
              <a:defRPr sz="1725" b="0">
                <a:solidFill>
                  <a:srgbClr val="12263A"/>
                </a:solidFill>
              </a:defRPr>
            </a:pPr>
            <a:r>
              <a:rPr sz="1725" b="0">
                <a:solidFill>
                  <a:srgbClr val="12263A"/>
                </a:solidFill>
              </a:rPr>
              <a:t>MySQL xác nhận tên, email, điện thoại, sourceId và notes. Giao diện hiển thị “Chờ phân bổ”.</a:t>
            </a:r>
          </a:p>
        </p:txBody>
      </p:sp>
      <p:sp>
        <p:nvSpPr>
          <p:cNvPr id="11" name="">
            <a:extLst xmlns:a="http://schemas.openxmlformats.org/drawingml/2006/main">
              <a:ext uri="{FF2B5EF4-FFF2-40B4-BE49-F238E27FC236}">
                <a16:creationId xmlns:a16="http://schemas.microsoft.com/office/drawing/2014/main" id="{1C7C2EE8-0C89-4068-AD6A-C9B39F5950D1}"/>
              </a:ext>
            </a:extLst>
          </p:cNvPr>
          <p:cNvSpPr>
            <a:spLocks xmlns:a="http://schemas.openxmlformats.org/drawingml/2006/main" noGrp="1"/>
          </p:cNvSpPr>
          <p:nvPr/>
        </p:nvSpPr>
        <p:spPr>
          <a:xfrm xmlns:a="http://schemas.openxmlformats.org/drawingml/2006/main">
            <a:off x="4953000" y="4248150"/>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2263A"/>
                </a:solidFill>
              </a:defRPr>
            </a:defPPr>
            <a:lvl1pPr>
              <a:defRPr sz="1725" b="0">
                <a:solidFill>
                  <a:srgbClr val="12263A"/>
                </a:solidFill>
              </a:defRPr>
            </a:lvl1pPr>
            <a:lvl2pPr>
              <a:defRPr sz="1725" b="0">
                <a:solidFill>
                  <a:srgbClr val="12263A"/>
                </a:solidFill>
              </a:defRPr>
            </a:lvl2pPr>
            <a:lvl3pPr>
              <a:defRPr sz="1725" b="0">
                <a:solidFill>
                  <a:srgbClr val="12263A"/>
                </a:solidFill>
              </a:defRPr>
            </a:lvl3pPr>
            <a:lvl4pPr>
              <a:defRPr sz="1725" b="0">
                <a:solidFill>
                  <a:srgbClr val="12263A"/>
                </a:solidFill>
              </a:defRPr>
            </a:lvl4pPr>
            <a:lvl5pPr>
              <a:defRPr sz="1725" b="0">
                <a:solidFill>
                  <a:srgbClr val="12263A"/>
                </a:solidFill>
              </a:defRPr>
            </a:lvl5pPr>
            <a:lvl6pPr>
              <a:defRPr sz="1725" b="0">
                <a:solidFill>
                  <a:srgbClr val="12263A"/>
                </a:solidFill>
              </a:defRPr>
            </a:lvl6pPr>
            <a:lvl7pPr>
              <a:defRPr sz="1725" b="0">
                <a:solidFill>
                  <a:srgbClr val="12263A"/>
                </a:solidFill>
              </a:defRPr>
            </a:lvl7pPr>
            <a:lvl8pPr>
              <a:defRPr sz="1725" b="0">
                <a:solidFill>
                  <a:srgbClr val="12263A"/>
                </a:solidFill>
              </a:defRPr>
            </a:lvl8pPr>
            <a:lvl9pPr>
              <a:defRPr sz="1725" b="0">
                <a:solidFill>
                  <a:srgbClr val="12263A"/>
                </a:solidFill>
              </a:defRPr>
            </a:lvl9pPr>
          </a:lstStyle>
          <a:p xmlns:a="http://schemas.openxmlformats.org/drawingml/2006/main">
            <a:pPr>
              <a:defRPr sz="1725" b="0">
                <a:solidFill>
                  <a:srgbClr val="12263A"/>
                </a:solidFill>
              </a:defRPr>
            </a:pPr>
            <a:r>
              <a:rPr sz="1725" b="0">
                <a:solidFill>
                  <a:srgbClr val="12263A"/>
                </a:solidFill>
              </a:rPr>
              <a:t>JSON sai trả 400. Không có session trả 401. Tài khoản thiếu quyền trả 403.</a:t>
            </a:r>
          </a:p>
        </p:txBody>
      </p:sp>
      <p:sp>
        <p:nvSpPr>
          <p:cNvPr id="12" name="">
            <a:extLst xmlns:a="http://schemas.openxmlformats.org/drawingml/2006/main">
              <a:ext uri="{FF2B5EF4-FFF2-40B4-BE49-F238E27FC236}">
                <a16:creationId xmlns:a16="http://schemas.microsoft.com/office/drawing/2014/main" id="{0D9218BF-ED94-4703-AEA9-690E0873547F}"/>
              </a:ext>
            </a:extLst>
          </p:cNvPr>
          <p:cNvSpPr>
            <a:spLocks xmlns:a="http://schemas.openxmlformats.org/drawingml/2006/main" noGrp="1"/>
          </p:cNvSpPr>
          <p:nvPr/>
        </p:nvSpPr>
        <p:spPr>
          <a:xfrm xmlns:a="http://schemas.openxmlformats.org/drawingml/2006/main">
            <a:off x="4953000" y="5172075"/>
            <a:ext cx="638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A6573"/>
                </a:solidFill>
              </a:defRPr>
            </a:defPPr>
            <a:lvl1pPr>
              <a:defRPr sz="1275" b="0">
                <a:solidFill>
                  <a:srgbClr val="5A6573"/>
                </a:solidFill>
              </a:defRPr>
            </a:lvl1pPr>
            <a:lvl2pPr>
              <a:defRPr sz="1275" b="0">
                <a:solidFill>
                  <a:srgbClr val="5A6573"/>
                </a:solidFill>
              </a:defRPr>
            </a:lvl2pPr>
            <a:lvl3pPr>
              <a:defRPr sz="1275" b="0">
                <a:solidFill>
                  <a:srgbClr val="5A6573"/>
                </a:solidFill>
              </a:defRPr>
            </a:lvl3pPr>
            <a:lvl4pPr>
              <a:defRPr sz="1275" b="0">
                <a:solidFill>
                  <a:srgbClr val="5A6573"/>
                </a:solidFill>
              </a:defRPr>
            </a:lvl4pPr>
            <a:lvl5pPr>
              <a:defRPr sz="1275" b="0">
                <a:solidFill>
                  <a:srgbClr val="5A6573"/>
                </a:solidFill>
              </a:defRPr>
            </a:lvl5pPr>
            <a:lvl6pPr>
              <a:defRPr sz="1275" b="0">
                <a:solidFill>
                  <a:srgbClr val="5A6573"/>
                </a:solidFill>
              </a:defRPr>
            </a:lvl6pPr>
            <a:lvl7pPr>
              <a:defRPr sz="1275" b="0">
                <a:solidFill>
                  <a:srgbClr val="5A6573"/>
                </a:solidFill>
              </a:defRPr>
            </a:lvl7pPr>
            <a:lvl8pPr>
              <a:defRPr sz="1275" b="0">
                <a:solidFill>
                  <a:srgbClr val="5A6573"/>
                </a:solidFill>
              </a:defRPr>
            </a:lvl8pPr>
            <a:lvl9pPr>
              <a:defRPr sz="1275" b="0">
                <a:solidFill>
                  <a:srgbClr val="5A6573"/>
                </a:solidFill>
              </a:defRPr>
            </a:lvl9pPr>
          </a:lstStyle>
          <a:p xmlns:a="http://schemas.openxmlformats.org/drawingml/2006/main">
            <a:pPr>
              <a:defRPr sz="1275" b="0">
                <a:solidFill>
                  <a:srgbClr val="5A6573"/>
                </a:solidFill>
              </a:defRPr>
            </a:pPr>
            <a:r>
              <a:rPr sz="1275" b="0">
                <a:solidFill>
                  <a:srgbClr val="5A6573"/>
                </a:solidFill>
              </a:rPr>
              <a:t>Ảnh chụp trình duyệt thật, không chỉnh nội dung. Dữ liệu trong ảnh chỉ phục vụ QA.</a:t>
            </a:r>
          </a:p>
        </p:txBody>
      </p:sp>
    </p:spTree>
    <p:extLst>
      <p:ext uri="{BB962C8B-B14F-4D97-AF65-F5344CB8AC3E}">
        <p14:creationId xmlns:p14="http://schemas.microsoft.com/office/powerpoint/2010/main" val="845891141"/>
      </p:ext>
    </p:extLst>
  </p:cSld>
</p:sld>
</file>

<file path=ppt/slides/slide4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114B3C0-EDB9-442E-9A28-5E2469024FEF}"/>
              </a:ext>
            </a:extLst>
          </p:cNvPr>
          <p:cNvPicPr>
            <a:picLocks xmlns:a="http://schemas.openxmlformats.org/drawingml/2006/main" noChangeAspect="1"/>
          </p:cNvPicPr>
          <p:nvPr/>
        </p:nvPicPr>
        <p:blipFill>
          <a:blip xmlns:r="http://schemas.openxmlformats.org/officeDocument/2006/relationships" xmlns:a="http://schemas.openxmlformats.org/drawingml/2006/main" r:embed="R38a3d6e0e1de4dc2"/>
          <a:stretch xmlns:a="http://schemas.openxmlformats.org/drawingml/2006/main"/>
        </p:blipFill>
        <p:spPr>
          <a:xfrm xmlns:a="http://schemas.openxmlformats.org/drawingml/2006/main">
            <a:off x="4778312" y="203168"/>
            <a:ext cx="406432" cy="406432"/>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53F3F03E-F614-46D7-8140-784EB96BB149}"/>
              </a:ext>
            </a:extLst>
          </p:cNvPr>
          <p:cNvPicPr>
            <a:picLocks xmlns:a="http://schemas.openxmlformats.org/drawingml/2006/main" noChangeAspect="1"/>
          </p:cNvPicPr>
          <p:nvPr/>
        </p:nvPicPr>
        <p:blipFill>
          <a:blip xmlns:r="http://schemas.openxmlformats.org/officeDocument/2006/relationships" xmlns:a="http://schemas.openxmlformats.org/drawingml/2006/main" r:embed="R302cbcf8ddda4088"/>
          <a:stretch xmlns:a="http://schemas.openxmlformats.org/drawingml/2006/main"/>
        </p:blipFill>
        <p:spPr>
          <a:xfrm xmlns:a="http://schemas.openxmlformats.org/drawingml/2006/main">
            <a:off x="5438775" y="203393"/>
            <a:ext cx="1974818" cy="40598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9A21CF-E0EA-4AF7-8D0E-E760A7CA4EAA}"/>
              </a:ext>
            </a:extLst>
          </p:cNvPr>
          <p:cNvSpPr>
            <a:spLocks xmlns:a="http://schemas.openxmlformats.org/drawingml/2006/main" noGrp="1"/>
          </p:cNvSpPr>
          <p:nvPr/>
        </p:nvSpPr>
        <p:spPr>
          <a:xfrm xmlns:a="http://schemas.openxmlformats.org/drawingml/2006/main">
            <a:off x="812768" y="812768"/>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56C4"/>
                </a:solidFill>
              </a:defRPr>
            </a:defPPr>
            <a:lvl1pPr>
              <a:defRPr sz="1200" b="1">
                <a:solidFill>
                  <a:srgbClr val="2556C4"/>
                </a:solidFill>
              </a:defRPr>
            </a:lvl1pPr>
            <a:lvl2pPr>
              <a:defRPr sz="1200" b="1">
                <a:solidFill>
                  <a:srgbClr val="2556C4"/>
                </a:solidFill>
              </a:defRPr>
            </a:lvl2pPr>
            <a:lvl3pPr>
              <a:defRPr sz="1200" b="1">
                <a:solidFill>
                  <a:srgbClr val="2556C4"/>
                </a:solidFill>
              </a:defRPr>
            </a:lvl3pPr>
            <a:lvl4pPr>
              <a:defRPr sz="1200" b="1">
                <a:solidFill>
                  <a:srgbClr val="2556C4"/>
                </a:solidFill>
              </a:defRPr>
            </a:lvl4pPr>
            <a:lvl5pPr>
              <a:defRPr sz="1200" b="1">
                <a:solidFill>
                  <a:srgbClr val="2556C4"/>
                </a:solidFill>
              </a:defRPr>
            </a:lvl5pPr>
            <a:lvl6pPr>
              <a:defRPr sz="1200" b="1">
                <a:solidFill>
                  <a:srgbClr val="2556C4"/>
                </a:solidFill>
              </a:defRPr>
            </a:lvl6pPr>
            <a:lvl7pPr>
              <a:defRPr sz="1200" b="1">
                <a:solidFill>
                  <a:srgbClr val="2556C4"/>
                </a:solidFill>
              </a:defRPr>
            </a:lvl7pPr>
            <a:lvl8pPr>
              <a:defRPr sz="1200" b="1">
                <a:solidFill>
                  <a:srgbClr val="2556C4"/>
                </a:solidFill>
              </a:defRPr>
            </a:lvl8pPr>
            <a:lvl9pPr>
              <a:defRPr sz="1200" b="1">
                <a:solidFill>
                  <a:srgbClr val="2556C4"/>
                </a:solidFill>
              </a:defRPr>
            </a:lvl9pPr>
          </a:lstStyle>
          <a:p xmlns:a="http://schemas.openxmlformats.org/drawingml/2006/main">
            <a:pPr>
              <a:defRPr sz="1200" b="1">
                <a:solidFill>
                  <a:srgbClr val="2556C4"/>
                </a:solidFill>
              </a:defRPr>
            </a:pPr>
            <a:r>
              <a:rPr sz="1200" b="1">
                <a:solidFill>
                  <a:srgbClr val="2556C4"/>
                </a:solidFill>
              </a:rPr>
              <a:t>A · 10c — MINH CHỨNG BỔ SUNG</a:t>
            </a:r>
          </a:p>
        </p:txBody>
      </p:sp>
      <p:sp>
        <p:nvSpPr>
          <p:cNvPr id="4" name="">
            <a:extLst xmlns:a="http://schemas.openxmlformats.org/drawingml/2006/main">
              <a:ext uri="{FF2B5EF4-FFF2-40B4-BE49-F238E27FC236}">
                <a16:creationId xmlns:a16="http://schemas.microsoft.com/office/drawing/2014/main" id="{F3A12FF5-9F2D-46A7-8782-BE317E413BD1}"/>
              </a:ext>
            </a:extLst>
          </p:cNvPr>
          <p:cNvSpPr>
            <a:spLocks xmlns:a="http://schemas.openxmlformats.org/drawingml/2006/main" noGrp="1"/>
          </p:cNvSpPr>
          <p:nvPr/>
        </p:nvSpPr>
        <p:spPr>
          <a:xfrm xmlns:a="http://schemas.openxmlformats.org/drawingml/2006/main">
            <a:off x="812768" y="1114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2263A"/>
                </a:solidFill>
              </a:defRPr>
            </a:defPPr>
            <a:lvl1pPr>
              <a:defRPr sz="3200" b="1">
                <a:solidFill>
                  <a:srgbClr val="12263A"/>
                </a:solidFill>
              </a:defRPr>
            </a:lvl1pPr>
            <a:lvl2pPr>
              <a:defRPr sz="3200" b="1">
                <a:solidFill>
                  <a:srgbClr val="12263A"/>
                </a:solidFill>
              </a:defRPr>
            </a:lvl2pPr>
            <a:lvl3pPr>
              <a:defRPr sz="3200" b="1">
                <a:solidFill>
                  <a:srgbClr val="12263A"/>
                </a:solidFill>
              </a:defRPr>
            </a:lvl3pPr>
            <a:lvl4pPr>
              <a:defRPr sz="3200" b="1">
                <a:solidFill>
                  <a:srgbClr val="12263A"/>
                </a:solidFill>
              </a:defRPr>
            </a:lvl4pPr>
            <a:lvl5pPr>
              <a:defRPr sz="3200" b="1">
                <a:solidFill>
                  <a:srgbClr val="12263A"/>
                </a:solidFill>
              </a:defRPr>
            </a:lvl5pPr>
            <a:lvl6pPr>
              <a:defRPr sz="3200" b="1">
                <a:solidFill>
                  <a:srgbClr val="12263A"/>
                </a:solidFill>
              </a:defRPr>
            </a:lvl6pPr>
            <a:lvl7pPr>
              <a:defRPr sz="3200" b="1">
                <a:solidFill>
                  <a:srgbClr val="12263A"/>
                </a:solidFill>
              </a:defRPr>
            </a:lvl7pPr>
            <a:lvl8pPr>
              <a:defRPr sz="3200" b="1">
                <a:solidFill>
                  <a:srgbClr val="12263A"/>
                </a:solidFill>
              </a:defRPr>
            </a:lvl8pPr>
            <a:lvl9pPr>
              <a:defRPr sz="3200" b="1">
                <a:solidFill>
                  <a:srgbClr val="12263A"/>
                </a:solidFill>
              </a:defRPr>
            </a:lvl9pPr>
          </a:lstStyle>
          <a:p xmlns:a="http://schemas.openxmlformats.org/drawingml/2006/main">
            <a:pPr>
              <a:defRPr sz="3200" b="1">
                <a:solidFill>
                  <a:srgbClr val="12263A"/>
                </a:solidFill>
              </a:defRPr>
            </a:pPr>
            <a:r>
              <a:rPr sz="3200" b="1">
                <a:solidFill>
                  <a:srgbClr val="12263A"/>
                </a:solidFill>
              </a:rPr>
              <a:t>Hiệu năng API health với k6</a:t>
            </a:r>
          </a:p>
        </p:txBody>
      </p:sp>
      <p:sp>
        <p:nvSpPr>
          <p:cNvPr id="5" name="">
            <a:extLst xmlns:a="http://schemas.openxmlformats.org/drawingml/2006/main">
              <a:ext uri="{FF2B5EF4-FFF2-40B4-BE49-F238E27FC236}">
                <a16:creationId xmlns:a16="http://schemas.microsoft.com/office/drawing/2014/main" id="{0E09B71C-E481-4A40-A247-D2859694329B}"/>
              </a:ext>
            </a:extLst>
          </p:cNvPr>
          <p:cNvSpPr>
            <a:spLocks xmlns:a="http://schemas.openxmlformats.org/drawingml/2006/main" noGrp="1"/>
          </p:cNvSpPr>
          <p:nvPr/>
        </p:nvSpPr>
        <p:spPr>
          <a:xfrm xmlns:a="http://schemas.openxmlformats.org/drawingml/2006/main">
            <a:off x="812768"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Nhóm 5 · NovaCRM</a:t>
            </a:r>
          </a:p>
        </p:txBody>
      </p:sp>
      <p:sp>
        <p:nvSpPr>
          <p:cNvPr id="6" name="">
            <a:extLst xmlns:a="http://schemas.openxmlformats.org/drawingml/2006/main">
              <a:ext uri="{FF2B5EF4-FFF2-40B4-BE49-F238E27FC236}">
                <a16:creationId xmlns:a16="http://schemas.microsoft.com/office/drawing/2014/main" id="{E3B965D3-A128-4AF5-9652-9359B4FDD420}"/>
              </a:ext>
            </a:extLst>
          </p:cNvPr>
          <p:cNvSpPr>
            <a:spLocks xmlns:a="http://schemas.openxmlformats.org/drawingml/2006/main" noGrp="1"/>
          </p:cNvSpPr>
          <p:nvPr/>
        </p:nvSpPr>
        <p:spPr>
          <a:xfrm xmlns:a="http://schemas.openxmlformats.org/drawingml/2006/main">
            <a:off x="8096250" y="62388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Đo tại QA local · 23/10/2026</a:t>
            </a:r>
          </a:p>
        </p:txBody>
      </p:sp>
      <p:graphicFrame>
        <p:nvGraphicFramePr>
          <p:cNvPr id="7" name="">
            <a:extLst xmlns:a="http://schemas.openxmlformats.org/drawingml/2006/main">
              <a:ext uri="{FF2B5EF4-FFF2-40B4-BE49-F238E27FC236}">
                <a16:creationId xmlns:a16="http://schemas.microsoft.com/office/drawing/2014/main" id="{DED57F14-E17A-400C-9AFF-01C87C3901C1}"/>
              </a:ext>
            </a:extLst>
          </p:cNvPr>
          <p:cNvGraphicFramePr/>
          <p:nvPr/>
        </p:nvGraphicFramePr>
        <p:xfrm>
          <a:off xmlns:a="http://schemas.openxmlformats.org/drawingml/2006/main" x="809625" y="1952625"/>
          <a:ext xmlns:a="http://schemas.openxmlformats.org/drawingml/2006/main" cx="10563225" cy="2857500"/>
        </p:xfrm>
        <a:graphic xmlns:a="http://schemas.openxmlformats.org/drawingml/2006/main">
          <a:graphicData uri="http://schemas.openxmlformats.org/drawingml/2006/table">
            <a:tbl>
              <a:tblPr/>
              <a:tblGrid>
                <a:gridCol w="952500"/>
                <a:gridCol w="1571625"/>
                <a:gridCol w="1666875"/>
                <a:gridCol w="1905000"/>
                <a:gridCol w="1809750"/>
                <a:gridCol w="2657475"/>
              </a:tblGrid>
              <a:tr h="476250">
                <a:tc>
                  <a:txBody>
                    <a:bodyPr/>
                    <a:lstStyle/>
                    <a:p>
                      <a:r>
                        <a:rPr sz="1275" b="1">
                          <a:solidFill>
                            <a:srgbClr val="FFFFFF"/>
                          </a:solidFill>
                        </a:rPr>
                        <a:t>VU</a:t>
                      </a:r>
                    </a:p>
                  </a:txBody>
                  <a:tcPr marL="85725" marR="85725" marT="66675" marB="66675">
                    <a:lnL w="4763">
                      <a:solidFill>
                        <a:srgbClr val="CACAC8"/>
                      </a:solidFill>
                      <a:prstDash val="solid"/>
                    </a:lnL>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HTTP</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Lỗi (%)</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p95 (ms)</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Req/giây</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Kết quả</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r>
              <a:tr h="476250">
                <a:tc>
                  <a:txBody>
                    <a:bodyPr/>
                    <a:lstStyle/>
                    <a:p>
                      <a:r>
                        <a:rPr sz="1275">
                          <a:solidFill>
                            <a:srgbClr val="12263A"/>
                          </a:solidFill>
                        </a:rPr>
                        <a:t>1</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9,91</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0,99</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5</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5,38</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4,98</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10</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600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4,01</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9,97</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25</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1500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3,70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24,94</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50</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7,86</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49,63</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bl>
          </a:graphicData>
        </a:graphic>
      </p:graphicFrame>
      <p:sp>
        <p:nvSpPr>
          <p:cNvPr id="8" name="">
            <a:extLst xmlns:a="http://schemas.openxmlformats.org/drawingml/2006/main">
              <a:ext uri="{FF2B5EF4-FFF2-40B4-BE49-F238E27FC236}">
                <a16:creationId xmlns:a16="http://schemas.microsoft.com/office/drawing/2014/main" id="{4ACC73E8-1D4D-4F16-84D8-B5615B1BAF8C}"/>
              </a:ext>
            </a:extLst>
          </p:cNvPr>
          <p:cNvSpPr>
            <a:spLocks xmlns:a="http://schemas.openxmlformats.org/drawingml/2006/main" noGrp="1"/>
          </p:cNvSpPr>
          <p:nvPr/>
        </p:nvSpPr>
        <p:spPr>
          <a:xfrm xmlns:a="http://schemas.openxmlformats.org/drawingml/2006/main">
            <a:off x="809625" y="50482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12263A"/>
                </a:solidFill>
              </a:defRPr>
            </a:defPPr>
            <a:lvl1pPr>
              <a:defRPr sz="1575" b="1">
                <a:solidFill>
                  <a:srgbClr val="12263A"/>
                </a:solidFill>
              </a:defRPr>
            </a:lvl1pPr>
            <a:lvl2pPr>
              <a:defRPr sz="1575" b="1">
                <a:solidFill>
                  <a:srgbClr val="12263A"/>
                </a:solidFill>
              </a:defRPr>
            </a:lvl2pPr>
            <a:lvl3pPr>
              <a:defRPr sz="1575" b="1">
                <a:solidFill>
                  <a:srgbClr val="12263A"/>
                </a:solidFill>
              </a:defRPr>
            </a:lvl3pPr>
            <a:lvl4pPr>
              <a:defRPr sz="1575" b="1">
                <a:solidFill>
                  <a:srgbClr val="12263A"/>
                </a:solidFill>
              </a:defRPr>
            </a:lvl4pPr>
            <a:lvl5pPr>
              <a:defRPr sz="1575" b="1">
                <a:solidFill>
                  <a:srgbClr val="12263A"/>
                </a:solidFill>
              </a:defRPr>
            </a:lvl5pPr>
            <a:lvl6pPr>
              <a:defRPr sz="1575" b="1">
                <a:solidFill>
                  <a:srgbClr val="12263A"/>
                </a:solidFill>
              </a:defRPr>
            </a:lvl6pPr>
            <a:lvl7pPr>
              <a:defRPr sz="1575" b="1">
                <a:solidFill>
                  <a:srgbClr val="12263A"/>
                </a:solidFill>
              </a:defRPr>
            </a:lvl7pPr>
            <a:lvl8pPr>
              <a:defRPr sz="1575" b="1">
                <a:solidFill>
                  <a:srgbClr val="12263A"/>
                </a:solidFill>
              </a:defRPr>
            </a:lvl8pPr>
            <a:lvl9pPr>
              <a:defRPr sz="1575" b="1">
                <a:solidFill>
                  <a:srgbClr val="12263A"/>
                </a:solidFill>
              </a:defRPr>
            </a:lvl9pPr>
          </a:lstStyle>
          <a:p xmlns:a="http://schemas.openxmlformats.org/drawingml/2006/main">
            <a:pPr>
              <a:defRPr sz="1575" b="1">
                <a:solidFill>
                  <a:srgbClr val="12263A"/>
                </a:solidFill>
              </a:defRPr>
            </a:pPr>
            <a:r>
              <a:rPr sz="1575" b="1">
                <a:solidFill>
                  <a:srgbClr val="12263A"/>
                </a:solidFill>
              </a:rPr>
              <a:t>GET /api/leads/health: 5.430 HTTP, 0 lỗi qua 5 mức tải.</a:t>
            </a:r>
          </a:p>
        </p:txBody>
      </p:sp>
      <p:sp>
        <p:nvSpPr>
          <p:cNvPr id="9" name="">
            <a:extLst xmlns:a="http://schemas.openxmlformats.org/drawingml/2006/main">
              <a:ext uri="{FF2B5EF4-FFF2-40B4-BE49-F238E27FC236}">
                <a16:creationId xmlns:a16="http://schemas.microsoft.com/office/drawing/2014/main" id="{BD779256-E7A9-4003-8D77-0ABDD008D0EE}"/>
              </a:ext>
            </a:extLst>
          </p:cNvPr>
          <p:cNvSpPr>
            <a:spLocks xmlns:a="http://schemas.openxmlformats.org/drawingml/2006/main" noGrp="1"/>
          </p:cNvSpPr>
          <p:nvPr/>
        </p:nvSpPr>
        <p:spPr>
          <a:xfrm xmlns:a="http://schemas.openxmlformats.org/drawingml/2006/main">
            <a:off x="809625" y="54673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A6573"/>
                </a:solidFill>
              </a:defRPr>
            </a:defPPr>
            <a:lvl1pPr>
              <a:defRPr sz="1275" b="0">
                <a:solidFill>
                  <a:srgbClr val="5A6573"/>
                </a:solidFill>
              </a:defRPr>
            </a:lvl1pPr>
            <a:lvl2pPr>
              <a:defRPr sz="1275" b="0">
                <a:solidFill>
                  <a:srgbClr val="5A6573"/>
                </a:solidFill>
              </a:defRPr>
            </a:lvl2pPr>
            <a:lvl3pPr>
              <a:defRPr sz="1275" b="0">
                <a:solidFill>
                  <a:srgbClr val="5A6573"/>
                </a:solidFill>
              </a:defRPr>
            </a:lvl3pPr>
            <a:lvl4pPr>
              <a:defRPr sz="1275" b="0">
                <a:solidFill>
                  <a:srgbClr val="5A6573"/>
                </a:solidFill>
              </a:defRPr>
            </a:lvl4pPr>
            <a:lvl5pPr>
              <a:defRPr sz="1275" b="0">
                <a:solidFill>
                  <a:srgbClr val="5A6573"/>
                </a:solidFill>
              </a:defRPr>
            </a:lvl5pPr>
            <a:lvl6pPr>
              <a:defRPr sz="1275" b="0">
                <a:solidFill>
                  <a:srgbClr val="5A6573"/>
                </a:solidFill>
              </a:defRPr>
            </a:lvl6pPr>
            <a:lvl7pPr>
              <a:defRPr sz="1275" b="0">
                <a:solidFill>
                  <a:srgbClr val="5A6573"/>
                </a:solidFill>
              </a:defRPr>
            </a:lvl7pPr>
            <a:lvl8pPr>
              <a:defRPr sz="1275" b="0">
                <a:solidFill>
                  <a:srgbClr val="5A6573"/>
                </a:solidFill>
              </a:defRPr>
            </a:lvl8pPr>
            <a:lvl9pPr>
              <a:defRPr sz="1275" b="0">
                <a:solidFill>
                  <a:srgbClr val="5A6573"/>
                </a:solidFill>
              </a:defRPr>
            </a:lvl9pPr>
          </a:lstStyle>
          <a:p xmlns:a="http://schemas.openxmlformats.org/drawingml/2006/main">
            <a:pPr>
              <a:defRPr sz="1275" b="0">
                <a:solidFill>
                  <a:srgbClr val="5A6573"/>
                </a:solidFill>
              </a:defRPr>
            </a:pPr>
            <a:r>
              <a:rPr sz="1275" b="0">
                <a:solidFill>
                  <a:srgbClr val="5A6573"/>
                </a:solidFill>
              </a:rPr>
              <a:t>1 VU chạy 30 giây. Các mức 5/10/25/50 VU chạy 60 giây, mỗi VU nghỉ 1 giây.</a:t>
            </a:r>
          </a:p>
        </p:txBody>
      </p:sp>
      <p:sp>
        <p:nvSpPr>
          <p:cNvPr id="10" name="">
            <a:extLst xmlns:a="http://schemas.openxmlformats.org/drawingml/2006/main">
              <a:ext uri="{FF2B5EF4-FFF2-40B4-BE49-F238E27FC236}">
                <a16:creationId xmlns:a16="http://schemas.microsoft.com/office/drawing/2014/main" id="{DDD6393A-E221-4B47-A54C-2FB9E3D350BE}"/>
              </a:ext>
            </a:extLst>
          </p:cNvPr>
          <p:cNvSpPr>
            <a:spLocks xmlns:a="http://schemas.openxmlformats.org/drawingml/2006/main" noGrp="1"/>
          </p:cNvSpPr>
          <p:nvPr/>
        </p:nvSpPr>
        <p:spPr>
          <a:xfrm xmlns:a="http://schemas.openxmlformats.org/drawingml/2006/main">
            <a:off x="809625" y="58388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573"/>
                </a:solidFill>
              </a:defRPr>
            </a:defPPr>
            <a:lvl1pPr>
              <a:defRPr sz="1200" b="0">
                <a:solidFill>
                  <a:srgbClr val="5A6573"/>
                </a:solidFill>
              </a:defRPr>
            </a:lvl1pPr>
            <a:lvl2pPr>
              <a:defRPr sz="1200" b="0">
                <a:solidFill>
                  <a:srgbClr val="5A6573"/>
                </a:solidFill>
              </a:defRPr>
            </a:lvl2pPr>
            <a:lvl3pPr>
              <a:defRPr sz="1200" b="0">
                <a:solidFill>
                  <a:srgbClr val="5A6573"/>
                </a:solidFill>
              </a:defRPr>
            </a:lvl3pPr>
            <a:lvl4pPr>
              <a:defRPr sz="1200" b="0">
                <a:solidFill>
                  <a:srgbClr val="5A6573"/>
                </a:solidFill>
              </a:defRPr>
            </a:lvl4pPr>
            <a:lvl5pPr>
              <a:defRPr sz="1200" b="0">
                <a:solidFill>
                  <a:srgbClr val="5A6573"/>
                </a:solidFill>
              </a:defRPr>
            </a:lvl5pPr>
            <a:lvl6pPr>
              <a:defRPr sz="1200" b="0">
                <a:solidFill>
                  <a:srgbClr val="5A6573"/>
                </a:solidFill>
              </a:defRPr>
            </a:lvl6pPr>
            <a:lvl7pPr>
              <a:defRPr sz="1200" b="0">
                <a:solidFill>
                  <a:srgbClr val="5A6573"/>
                </a:solidFill>
              </a:defRPr>
            </a:lvl7pPr>
            <a:lvl8pPr>
              <a:defRPr sz="1200" b="0">
                <a:solidFill>
                  <a:srgbClr val="5A6573"/>
                </a:solidFill>
              </a:defRPr>
            </a:lvl8pPr>
            <a:lvl9pPr>
              <a:defRPr sz="1200" b="0">
                <a:solidFill>
                  <a:srgbClr val="5A6573"/>
                </a:solidFill>
              </a:defRPr>
            </a:lvl9pPr>
          </a:lstStyle>
          <a:p xmlns:a="http://schemas.openxmlformats.org/drawingml/2006/main">
            <a:pPr>
              <a:defRPr sz="1200" b="0">
                <a:solidFill>
                  <a:srgbClr val="5A6573"/>
                </a:solidFill>
              </a:defRPr>
            </a:pPr>
            <a:r>
              <a:rPr sz="1200" b="0">
                <a:solidFill>
                  <a:srgbClr val="5A6573"/>
                </a:solidFill>
              </a:rPr>
              <a:t>Health không truy vấn MySQL. Kết quả này không chứng minh tải nghiệp vụ hoặc số người dùng thật.</a:t>
            </a:r>
          </a:p>
        </p:txBody>
      </p:sp>
    </p:spTree>
    <p:extLst>
      <p:ext uri="{BB962C8B-B14F-4D97-AF65-F5344CB8AC3E}">
        <p14:creationId xmlns:p14="http://schemas.microsoft.com/office/powerpoint/2010/main" val="160473113"/>
      </p:ext>
    </p:extLst>
  </p:cSld>
</p:sld>
</file>

<file path=ppt/slides/slide4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76B4330-CE38-4A5F-9B0C-C036E3CFB9BD}"/>
              </a:ext>
            </a:extLst>
          </p:cNvPr>
          <p:cNvPicPr>
            <a:picLocks xmlns:a="http://schemas.openxmlformats.org/drawingml/2006/main" noChangeAspect="1"/>
          </p:cNvPicPr>
          <p:nvPr/>
        </p:nvPicPr>
        <p:blipFill>
          <a:blip xmlns:r="http://schemas.openxmlformats.org/officeDocument/2006/relationships" xmlns:a="http://schemas.openxmlformats.org/drawingml/2006/main" r:embed="R3cd82f776eab4b1e"/>
          <a:stretch xmlns:a="http://schemas.openxmlformats.org/drawingml/2006/main"/>
        </p:blipFill>
        <p:spPr>
          <a:xfrm xmlns:a="http://schemas.openxmlformats.org/drawingml/2006/main">
            <a:off x="4778312" y="203168"/>
            <a:ext cx="406432" cy="406432"/>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3CAE25E-A471-4730-87BD-2FE61031405C}"/>
              </a:ext>
            </a:extLst>
          </p:cNvPr>
          <p:cNvPicPr>
            <a:picLocks xmlns:a="http://schemas.openxmlformats.org/drawingml/2006/main" noChangeAspect="1"/>
          </p:cNvPicPr>
          <p:nvPr/>
        </p:nvPicPr>
        <p:blipFill>
          <a:blip xmlns:r="http://schemas.openxmlformats.org/officeDocument/2006/relationships" xmlns:a="http://schemas.openxmlformats.org/drawingml/2006/main" r:embed="Ra24980b3641046eb"/>
          <a:stretch xmlns:a="http://schemas.openxmlformats.org/drawingml/2006/main"/>
        </p:blipFill>
        <p:spPr>
          <a:xfrm xmlns:a="http://schemas.openxmlformats.org/drawingml/2006/main">
            <a:off x="5438775" y="203393"/>
            <a:ext cx="1974818" cy="40598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4D8AA9-1E4A-49E9-97E4-9BD321348194}"/>
              </a:ext>
            </a:extLst>
          </p:cNvPr>
          <p:cNvSpPr>
            <a:spLocks xmlns:a="http://schemas.openxmlformats.org/drawingml/2006/main" noGrp="1"/>
          </p:cNvSpPr>
          <p:nvPr/>
        </p:nvSpPr>
        <p:spPr>
          <a:xfrm xmlns:a="http://schemas.openxmlformats.org/drawingml/2006/main">
            <a:off x="812768" y="812768"/>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2556C4"/>
                </a:solidFill>
              </a:defRPr>
            </a:defPPr>
            <a:lvl1pPr>
              <a:defRPr sz="1200" b="1">
                <a:solidFill>
                  <a:srgbClr val="2556C4"/>
                </a:solidFill>
              </a:defRPr>
            </a:lvl1pPr>
            <a:lvl2pPr>
              <a:defRPr sz="1200" b="1">
                <a:solidFill>
                  <a:srgbClr val="2556C4"/>
                </a:solidFill>
              </a:defRPr>
            </a:lvl2pPr>
            <a:lvl3pPr>
              <a:defRPr sz="1200" b="1">
                <a:solidFill>
                  <a:srgbClr val="2556C4"/>
                </a:solidFill>
              </a:defRPr>
            </a:lvl3pPr>
            <a:lvl4pPr>
              <a:defRPr sz="1200" b="1">
                <a:solidFill>
                  <a:srgbClr val="2556C4"/>
                </a:solidFill>
              </a:defRPr>
            </a:lvl4pPr>
            <a:lvl5pPr>
              <a:defRPr sz="1200" b="1">
                <a:solidFill>
                  <a:srgbClr val="2556C4"/>
                </a:solidFill>
              </a:defRPr>
            </a:lvl5pPr>
            <a:lvl6pPr>
              <a:defRPr sz="1200" b="1">
                <a:solidFill>
                  <a:srgbClr val="2556C4"/>
                </a:solidFill>
              </a:defRPr>
            </a:lvl6pPr>
            <a:lvl7pPr>
              <a:defRPr sz="1200" b="1">
                <a:solidFill>
                  <a:srgbClr val="2556C4"/>
                </a:solidFill>
              </a:defRPr>
            </a:lvl7pPr>
            <a:lvl8pPr>
              <a:defRPr sz="1200" b="1">
                <a:solidFill>
                  <a:srgbClr val="2556C4"/>
                </a:solidFill>
              </a:defRPr>
            </a:lvl8pPr>
            <a:lvl9pPr>
              <a:defRPr sz="1200" b="1">
                <a:solidFill>
                  <a:srgbClr val="2556C4"/>
                </a:solidFill>
              </a:defRPr>
            </a:lvl9pPr>
          </a:lstStyle>
          <a:p xmlns:a="http://schemas.openxmlformats.org/drawingml/2006/main">
            <a:pPr>
              <a:defRPr sz="1200" b="1">
                <a:solidFill>
                  <a:srgbClr val="2556C4"/>
                </a:solidFill>
              </a:defRPr>
            </a:pPr>
            <a:r>
              <a:rPr sz="1200" b="1">
                <a:solidFill>
                  <a:srgbClr val="2556C4"/>
                </a:solidFill>
              </a:rPr>
              <a:t>A · 10d — MINH CHỨNG BỔ SUNG</a:t>
            </a:r>
          </a:p>
        </p:txBody>
      </p:sp>
      <p:sp>
        <p:nvSpPr>
          <p:cNvPr id="4" name="">
            <a:extLst xmlns:a="http://schemas.openxmlformats.org/drawingml/2006/main">
              <a:ext uri="{FF2B5EF4-FFF2-40B4-BE49-F238E27FC236}">
                <a16:creationId xmlns:a16="http://schemas.microsoft.com/office/drawing/2014/main" id="{81630451-C3B6-49D7-A2CD-A5A6C4C12BAA}"/>
              </a:ext>
            </a:extLst>
          </p:cNvPr>
          <p:cNvSpPr>
            <a:spLocks xmlns:a="http://schemas.openxmlformats.org/drawingml/2006/main" noGrp="1"/>
          </p:cNvSpPr>
          <p:nvPr/>
        </p:nvSpPr>
        <p:spPr>
          <a:xfrm xmlns:a="http://schemas.openxmlformats.org/drawingml/2006/main">
            <a:off x="812768" y="1114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00" b="1">
                <a:solidFill>
                  <a:srgbClr val="12263A"/>
                </a:solidFill>
              </a:defRPr>
            </a:defPPr>
            <a:lvl1pPr>
              <a:defRPr sz="3200" b="1">
                <a:solidFill>
                  <a:srgbClr val="12263A"/>
                </a:solidFill>
              </a:defRPr>
            </a:lvl1pPr>
            <a:lvl2pPr>
              <a:defRPr sz="3200" b="1">
                <a:solidFill>
                  <a:srgbClr val="12263A"/>
                </a:solidFill>
              </a:defRPr>
            </a:lvl2pPr>
            <a:lvl3pPr>
              <a:defRPr sz="3200" b="1">
                <a:solidFill>
                  <a:srgbClr val="12263A"/>
                </a:solidFill>
              </a:defRPr>
            </a:lvl3pPr>
            <a:lvl4pPr>
              <a:defRPr sz="3200" b="1">
                <a:solidFill>
                  <a:srgbClr val="12263A"/>
                </a:solidFill>
              </a:defRPr>
            </a:lvl4pPr>
            <a:lvl5pPr>
              <a:defRPr sz="3200" b="1">
                <a:solidFill>
                  <a:srgbClr val="12263A"/>
                </a:solidFill>
              </a:defRPr>
            </a:lvl5pPr>
            <a:lvl6pPr>
              <a:defRPr sz="3200" b="1">
                <a:solidFill>
                  <a:srgbClr val="12263A"/>
                </a:solidFill>
              </a:defRPr>
            </a:lvl6pPr>
            <a:lvl7pPr>
              <a:defRPr sz="3200" b="1">
                <a:solidFill>
                  <a:srgbClr val="12263A"/>
                </a:solidFill>
              </a:defRPr>
            </a:lvl7pPr>
            <a:lvl8pPr>
              <a:defRPr sz="3200" b="1">
                <a:solidFill>
                  <a:srgbClr val="12263A"/>
                </a:solidFill>
              </a:defRPr>
            </a:lvl8pPr>
            <a:lvl9pPr>
              <a:defRPr sz="3200" b="1">
                <a:solidFill>
                  <a:srgbClr val="12263A"/>
                </a:solidFill>
              </a:defRPr>
            </a:lvl9pPr>
          </a:lstStyle>
          <a:p xmlns:a="http://schemas.openxmlformats.org/drawingml/2006/main">
            <a:pPr>
              <a:defRPr sz="3200" b="1">
                <a:solidFill>
                  <a:srgbClr val="12263A"/>
                </a:solidFill>
              </a:defRPr>
            </a:pPr>
            <a:r>
              <a:rPr sz="3200" b="1">
                <a:solidFill>
                  <a:srgbClr val="12263A"/>
                </a:solidFill>
              </a:rPr>
              <a:t>Hiệu năng đọc Lead có xác thực</a:t>
            </a:r>
          </a:p>
        </p:txBody>
      </p:sp>
      <p:sp>
        <p:nvSpPr>
          <p:cNvPr id="5" name="">
            <a:extLst xmlns:a="http://schemas.openxmlformats.org/drawingml/2006/main">
              <a:ext uri="{FF2B5EF4-FFF2-40B4-BE49-F238E27FC236}">
                <a16:creationId xmlns:a16="http://schemas.microsoft.com/office/drawing/2014/main" id="{C72E6A8A-B37F-4236-8147-A85CB196D033}"/>
              </a:ext>
            </a:extLst>
          </p:cNvPr>
          <p:cNvSpPr>
            <a:spLocks xmlns:a="http://schemas.openxmlformats.org/drawingml/2006/main" noGrp="1"/>
          </p:cNvSpPr>
          <p:nvPr/>
        </p:nvSpPr>
        <p:spPr>
          <a:xfrm xmlns:a="http://schemas.openxmlformats.org/drawingml/2006/main">
            <a:off x="812768" y="62388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Nhóm 5 · NovaCRM</a:t>
            </a:r>
          </a:p>
        </p:txBody>
      </p:sp>
      <p:sp>
        <p:nvSpPr>
          <p:cNvPr id="6" name="">
            <a:extLst xmlns:a="http://schemas.openxmlformats.org/drawingml/2006/main">
              <a:ext uri="{FF2B5EF4-FFF2-40B4-BE49-F238E27FC236}">
                <a16:creationId xmlns:a16="http://schemas.microsoft.com/office/drawing/2014/main" id="{5E3BF8A9-A57E-4E88-A7F2-888A8BD25E34}"/>
              </a:ext>
            </a:extLst>
          </p:cNvPr>
          <p:cNvSpPr>
            <a:spLocks xmlns:a="http://schemas.openxmlformats.org/drawingml/2006/main" noGrp="1"/>
          </p:cNvSpPr>
          <p:nvPr/>
        </p:nvSpPr>
        <p:spPr>
          <a:xfrm xmlns:a="http://schemas.openxmlformats.org/drawingml/2006/main">
            <a:off x="8096250" y="623887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A6573"/>
                </a:solidFill>
              </a:defRPr>
            </a:defPPr>
            <a:lvl1pPr>
              <a:defRPr sz="1050" b="0">
                <a:solidFill>
                  <a:srgbClr val="5A6573"/>
                </a:solidFill>
              </a:defRPr>
            </a:lvl1pPr>
            <a:lvl2pPr>
              <a:defRPr sz="1050" b="0">
                <a:solidFill>
                  <a:srgbClr val="5A6573"/>
                </a:solidFill>
              </a:defRPr>
            </a:lvl2pPr>
            <a:lvl3pPr>
              <a:defRPr sz="1050" b="0">
                <a:solidFill>
                  <a:srgbClr val="5A6573"/>
                </a:solidFill>
              </a:defRPr>
            </a:lvl3pPr>
            <a:lvl4pPr>
              <a:defRPr sz="1050" b="0">
                <a:solidFill>
                  <a:srgbClr val="5A6573"/>
                </a:solidFill>
              </a:defRPr>
            </a:lvl4pPr>
            <a:lvl5pPr>
              <a:defRPr sz="1050" b="0">
                <a:solidFill>
                  <a:srgbClr val="5A6573"/>
                </a:solidFill>
              </a:defRPr>
            </a:lvl5pPr>
            <a:lvl6pPr>
              <a:defRPr sz="1050" b="0">
                <a:solidFill>
                  <a:srgbClr val="5A6573"/>
                </a:solidFill>
              </a:defRPr>
            </a:lvl6pPr>
            <a:lvl7pPr>
              <a:defRPr sz="1050" b="0">
                <a:solidFill>
                  <a:srgbClr val="5A6573"/>
                </a:solidFill>
              </a:defRPr>
            </a:lvl7pPr>
            <a:lvl8pPr>
              <a:defRPr sz="1050" b="0">
                <a:solidFill>
                  <a:srgbClr val="5A6573"/>
                </a:solidFill>
              </a:defRPr>
            </a:lvl8pPr>
            <a:lvl9pPr>
              <a:defRPr sz="1050" b="0">
                <a:solidFill>
                  <a:srgbClr val="5A6573"/>
                </a:solidFill>
              </a:defRPr>
            </a:lvl9pPr>
          </a:lstStyle>
          <a:p xmlns:a="http://schemas.openxmlformats.org/drawingml/2006/main">
            <a:pPr>
              <a:defRPr sz="1050" b="0">
                <a:solidFill>
                  <a:srgbClr val="5A6573"/>
                </a:solidFill>
              </a:defRPr>
            </a:pPr>
            <a:r>
              <a:rPr sz="1050" b="0">
                <a:solidFill>
                  <a:srgbClr val="5A6573"/>
                </a:solidFill>
              </a:rPr>
              <a:t>Đo tại QA local · 23/10/2026</a:t>
            </a:r>
          </a:p>
        </p:txBody>
      </p:sp>
      <p:graphicFrame>
        <p:nvGraphicFramePr>
          <p:cNvPr id="7" name="">
            <a:extLst xmlns:a="http://schemas.openxmlformats.org/drawingml/2006/main">
              <a:ext uri="{FF2B5EF4-FFF2-40B4-BE49-F238E27FC236}">
                <a16:creationId xmlns:a16="http://schemas.microsoft.com/office/drawing/2014/main" id="{800AFC3B-16B8-45AD-81E0-257F77422628}"/>
              </a:ext>
            </a:extLst>
          </p:cNvPr>
          <p:cNvGraphicFramePr/>
          <p:nvPr/>
        </p:nvGraphicFramePr>
        <p:xfrm>
          <a:off xmlns:a="http://schemas.openxmlformats.org/drawingml/2006/main" x="809625" y="1952625"/>
          <a:ext xmlns:a="http://schemas.openxmlformats.org/drawingml/2006/main" cx="10563225" cy="2857500"/>
        </p:xfrm>
        <a:graphic xmlns:a="http://schemas.openxmlformats.org/drawingml/2006/main">
          <a:graphicData uri="http://schemas.openxmlformats.org/drawingml/2006/table">
            <a:tbl>
              <a:tblPr/>
              <a:tblGrid>
                <a:gridCol w="952500"/>
                <a:gridCol w="1571625"/>
                <a:gridCol w="1666875"/>
                <a:gridCol w="1905000"/>
                <a:gridCol w="1809750"/>
                <a:gridCol w="2657475"/>
              </a:tblGrid>
              <a:tr h="476250">
                <a:tc>
                  <a:txBody>
                    <a:bodyPr/>
                    <a:lstStyle/>
                    <a:p>
                      <a:r>
                        <a:rPr sz="1275" b="1">
                          <a:solidFill>
                            <a:srgbClr val="FFFFFF"/>
                          </a:solidFill>
                        </a:rPr>
                        <a:t>VU</a:t>
                      </a:r>
                    </a:p>
                  </a:txBody>
                  <a:tcPr marL="85725" marR="85725" marT="66675" marB="66675">
                    <a:lnL w="4763">
                      <a:solidFill>
                        <a:srgbClr val="CACAC8"/>
                      </a:solidFill>
                      <a:prstDash val="solid"/>
                    </a:lnL>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HTTP</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Lỗi (%)</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p95 (ms)</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Req/giây</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c>
                  <a:txBody>
                    <a:bodyPr/>
                    <a:lstStyle/>
                    <a:p>
                      <a:r>
                        <a:rPr sz="1275" b="1">
                          <a:solidFill>
                            <a:srgbClr val="FFFFFF"/>
                          </a:solidFill>
                        </a:rPr>
                        <a:t>Kết quả</a:t>
                      </a:r>
                    </a:p>
                  </a:txBody>
                  <a:tcPr marL="85725" marR="85725" marT="66675" marB="66675">
                    <a:lnR w="4763">
                      <a:solidFill>
                        <a:srgbClr val="CACAC8"/>
                      </a:solidFill>
                      <a:prstDash val="solid"/>
                    </a:lnR>
                    <a:lnT w="4763">
                      <a:solidFill>
                        <a:srgbClr val="CACAC8"/>
                      </a:solidFill>
                      <a:prstDash val="solid"/>
                    </a:lnT>
                    <a:lnB w="4763">
                      <a:solidFill>
                        <a:srgbClr val="CACAC8"/>
                      </a:solidFill>
                      <a:prstDash val="solid"/>
                    </a:lnB>
                    <a:solidFill>
                      <a:srgbClr val="12263A"/>
                    </a:solidFill>
                  </a:tcPr>
                </a:tc>
              </a:tr>
              <a:tr h="476250">
                <a:tc>
                  <a:txBody>
                    <a:bodyPr/>
                    <a:lstStyle/>
                    <a:p>
                      <a:r>
                        <a:rPr sz="1275">
                          <a:solidFill>
                            <a:srgbClr val="12263A"/>
                          </a:solidFill>
                        </a:rPr>
                        <a:t>1</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30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220,47</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0,97</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5</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292</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57,85</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4,78</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10</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591</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59,44</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9,65</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a:solidFill>
                            <a:srgbClr val="12263A"/>
                          </a:solidFill>
                        </a:rPr>
                        <a:t>25</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1450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0,00</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81,28</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23,65</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a:solidFill>
                            <a:srgbClr val="12263A"/>
                          </a:solidFill>
                        </a:rPr>
                        <a:t>PASS</a:t>
                      </a:r>
                    </a:p>
                  </a:txBody>
                  <a:tcPr marL="85725" marR="85725" marT="66675" marB="66675">
                    <a:lnR w="4763">
                      <a:solidFill>
                        <a:srgbClr val="CACAC8"/>
                      </a:solidFill>
                      <a:prstDash val="solid"/>
                    </a:lnR>
                    <a:lnB w="4763">
                      <a:solidFill>
                        <a:srgbClr val="CACAC8"/>
                      </a:solidFill>
                      <a:prstDash val="solid"/>
                    </a:lnB>
                    <a:solidFill>
                      <a:srgbClr val="FDFDFB"/>
                    </a:solidFill>
                  </a:tcPr>
                </a:tc>
              </a:tr>
              <a:tr h="476250">
                <a:tc>
                  <a:txBody>
                    <a:bodyPr/>
                    <a:lstStyle/>
                    <a:p>
                      <a:r>
                        <a:rPr sz="1275" b="1">
                          <a:solidFill>
                            <a:srgbClr val="A12222"/>
                          </a:solidFill>
                        </a:rPr>
                        <a:t>50</a:t>
                      </a:r>
                    </a:p>
                  </a:txBody>
                  <a:tcPr marL="85725" marR="85725" marT="66675" marB="66675">
                    <a:lnL w="4763">
                      <a:solidFill>
                        <a:srgbClr val="CACAC8"/>
                      </a:solidFill>
                      <a:prstDash val="solid"/>
                    </a:lnL>
                    <a:lnR w="4763">
                      <a:solidFill>
                        <a:srgbClr val="CACAC8"/>
                      </a:solidFill>
                      <a:prstDash val="solid"/>
                    </a:lnR>
                    <a:lnB w="4763">
                      <a:solidFill>
                        <a:srgbClr val="CACAC8"/>
                      </a:solidFill>
                      <a:prstDash val="solid"/>
                    </a:lnB>
                    <a:solidFill>
                      <a:srgbClr val="FDFDFB"/>
                    </a:solidFill>
                  </a:tcPr>
                </a:tc>
                <a:tc>
                  <a:txBody>
                    <a:bodyPr/>
                    <a:lstStyle/>
                    <a:p>
                      <a:r>
                        <a:rPr sz="1275" b="1">
                          <a:solidFill>
                            <a:srgbClr val="A12222"/>
                          </a:solidFill>
                        </a:rPr>
                        <a:t>1517</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b="1">
                          <a:solidFill>
                            <a:srgbClr val="A12222"/>
                          </a:solidFill>
                        </a:rPr>
                        <a:t>3,43</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b="1">
                          <a:solidFill>
                            <a:srgbClr val="A12222"/>
                          </a:solidFill>
                        </a:rPr>
                        <a:t>140,45</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b="1">
                          <a:solidFill>
                            <a:srgbClr val="A12222"/>
                          </a:solidFill>
                        </a:rPr>
                        <a:t>47,41</a:t>
                      </a:r>
                    </a:p>
                  </a:txBody>
                  <a:tcPr marL="85725" marR="85725" marT="66675" marB="66675">
                    <a:lnR w="4763">
                      <a:solidFill>
                        <a:srgbClr val="CACAC8"/>
                      </a:solidFill>
                      <a:prstDash val="solid"/>
                    </a:lnR>
                    <a:lnB w="4763">
                      <a:solidFill>
                        <a:srgbClr val="CACAC8"/>
                      </a:solidFill>
                      <a:prstDash val="solid"/>
                    </a:lnB>
                    <a:solidFill>
                      <a:srgbClr val="FDFDFB"/>
                    </a:solidFill>
                  </a:tcPr>
                </a:tc>
                <a:tc>
                  <a:txBody>
                    <a:bodyPr/>
                    <a:lstStyle/>
                    <a:p>
                      <a:r>
                        <a:rPr sz="1275" b="1">
                          <a:solidFill>
                            <a:srgbClr val="A12222"/>
                          </a:solidFill>
                        </a:rPr>
                        <a:t>FAIL, dừng sớm</a:t>
                      </a:r>
                    </a:p>
                  </a:txBody>
                  <a:tcPr marL="85725" marR="85725" marT="66675" marB="66675">
                    <a:lnR w="4763">
                      <a:solidFill>
                        <a:srgbClr val="CACAC8"/>
                      </a:solidFill>
                      <a:prstDash val="solid"/>
                    </a:lnR>
                    <a:lnB w="4763">
                      <a:solidFill>
                        <a:srgbClr val="CACAC8"/>
                      </a:solidFill>
                      <a:prstDash val="solid"/>
                    </a:lnB>
                    <a:solidFill>
                      <a:srgbClr val="FDFDFB"/>
                    </a:solidFill>
                  </a:tcPr>
                </a:tc>
              </a:tr>
            </a:tbl>
          </a:graphicData>
        </a:graphic>
      </p:graphicFrame>
      <p:sp>
        <p:nvSpPr>
          <p:cNvPr id="8" name="">
            <a:extLst xmlns:a="http://schemas.openxmlformats.org/drawingml/2006/main">
              <a:ext uri="{FF2B5EF4-FFF2-40B4-BE49-F238E27FC236}">
                <a16:creationId xmlns:a16="http://schemas.microsoft.com/office/drawing/2014/main" id="{14486A51-DBAB-4CF3-8A38-CC4251E86F92}"/>
              </a:ext>
            </a:extLst>
          </p:cNvPr>
          <p:cNvSpPr>
            <a:spLocks xmlns:a="http://schemas.openxmlformats.org/drawingml/2006/main" noGrp="1"/>
          </p:cNvSpPr>
          <p:nvPr/>
        </p:nvSpPr>
        <p:spPr>
          <a:xfrm xmlns:a="http://schemas.openxmlformats.org/drawingml/2006/main">
            <a:off x="809625" y="50482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1">
                <a:solidFill>
                  <a:srgbClr val="A12222"/>
                </a:solidFill>
              </a:defRPr>
            </a:defPPr>
            <a:lvl1pPr>
              <a:defRPr sz="1575" b="1">
                <a:solidFill>
                  <a:srgbClr val="A12222"/>
                </a:solidFill>
              </a:defRPr>
            </a:lvl1pPr>
            <a:lvl2pPr>
              <a:defRPr sz="1575" b="1">
                <a:solidFill>
                  <a:srgbClr val="A12222"/>
                </a:solidFill>
              </a:defRPr>
            </a:lvl2pPr>
            <a:lvl3pPr>
              <a:defRPr sz="1575" b="1">
                <a:solidFill>
                  <a:srgbClr val="A12222"/>
                </a:solidFill>
              </a:defRPr>
            </a:lvl3pPr>
            <a:lvl4pPr>
              <a:defRPr sz="1575" b="1">
                <a:solidFill>
                  <a:srgbClr val="A12222"/>
                </a:solidFill>
              </a:defRPr>
            </a:lvl4pPr>
            <a:lvl5pPr>
              <a:defRPr sz="1575" b="1">
                <a:solidFill>
                  <a:srgbClr val="A12222"/>
                </a:solidFill>
              </a:defRPr>
            </a:lvl5pPr>
            <a:lvl6pPr>
              <a:defRPr sz="1575" b="1">
                <a:solidFill>
                  <a:srgbClr val="A12222"/>
                </a:solidFill>
              </a:defRPr>
            </a:lvl6pPr>
            <a:lvl7pPr>
              <a:defRPr sz="1575" b="1">
                <a:solidFill>
                  <a:srgbClr val="A12222"/>
                </a:solidFill>
              </a:defRPr>
            </a:lvl7pPr>
            <a:lvl8pPr>
              <a:defRPr sz="1575" b="1">
                <a:solidFill>
                  <a:srgbClr val="A12222"/>
                </a:solidFill>
              </a:defRPr>
            </a:lvl8pPr>
            <a:lvl9pPr>
              <a:defRPr sz="1575" b="1">
                <a:solidFill>
                  <a:srgbClr val="A12222"/>
                </a:solidFill>
              </a:defRPr>
            </a:lvl9pPr>
          </a:lstStyle>
          <a:p xmlns:a="http://schemas.openxmlformats.org/drawingml/2006/main">
            <a:pPr>
              <a:defRPr sz="1575" b="1">
                <a:solidFill>
                  <a:srgbClr val="A12222"/>
                </a:solidFill>
              </a:defRPr>
            </a:pPr>
            <a:r>
              <a:rPr sz="1575" b="1">
                <a:solidFill>
                  <a:srgbClr val="A12222"/>
                </a:solidFill>
              </a:rPr>
              <a:t>50 VU tự dừng khoảng 32 giây: 52/1.517 HTTP lỗi (3,43%).</a:t>
            </a:r>
          </a:p>
        </p:txBody>
      </p:sp>
      <p:sp>
        <p:nvSpPr>
          <p:cNvPr id="9" name="">
            <a:extLst xmlns:a="http://schemas.openxmlformats.org/drawingml/2006/main">
              <a:ext uri="{FF2B5EF4-FFF2-40B4-BE49-F238E27FC236}">
                <a16:creationId xmlns:a16="http://schemas.microsoft.com/office/drawing/2014/main" id="{A3A19DA2-481A-4EEF-A943-7B4491FBB5CE}"/>
              </a:ext>
            </a:extLst>
          </p:cNvPr>
          <p:cNvSpPr>
            <a:spLocks xmlns:a="http://schemas.openxmlformats.org/drawingml/2006/main" noGrp="1"/>
          </p:cNvSpPr>
          <p:nvPr/>
        </p:nvSpPr>
        <p:spPr>
          <a:xfrm xmlns:a="http://schemas.openxmlformats.org/drawingml/2006/main">
            <a:off x="809625" y="54673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A6573"/>
                </a:solidFill>
              </a:defRPr>
            </a:defPPr>
            <a:lvl1pPr>
              <a:defRPr sz="1275" b="0">
                <a:solidFill>
                  <a:srgbClr val="5A6573"/>
                </a:solidFill>
              </a:defRPr>
            </a:lvl1pPr>
            <a:lvl2pPr>
              <a:defRPr sz="1275" b="0">
                <a:solidFill>
                  <a:srgbClr val="5A6573"/>
                </a:solidFill>
              </a:defRPr>
            </a:lvl2pPr>
            <a:lvl3pPr>
              <a:defRPr sz="1275" b="0">
                <a:solidFill>
                  <a:srgbClr val="5A6573"/>
                </a:solidFill>
              </a:defRPr>
            </a:lvl3pPr>
            <a:lvl4pPr>
              <a:defRPr sz="1275" b="0">
                <a:solidFill>
                  <a:srgbClr val="5A6573"/>
                </a:solidFill>
              </a:defRPr>
            </a:lvl4pPr>
            <a:lvl5pPr>
              <a:defRPr sz="1275" b="0">
                <a:solidFill>
                  <a:srgbClr val="5A6573"/>
                </a:solidFill>
              </a:defRPr>
            </a:lvl5pPr>
            <a:lvl6pPr>
              <a:defRPr sz="1275" b="0">
                <a:solidFill>
                  <a:srgbClr val="5A6573"/>
                </a:solidFill>
              </a:defRPr>
            </a:lvl6pPr>
            <a:lvl7pPr>
              <a:defRPr sz="1275" b="0">
                <a:solidFill>
                  <a:srgbClr val="5A6573"/>
                </a:solidFill>
              </a:defRPr>
            </a:lvl7pPr>
            <a:lvl8pPr>
              <a:defRPr sz="1275" b="0">
                <a:solidFill>
                  <a:srgbClr val="5A6573"/>
                </a:solidFill>
              </a:defRPr>
            </a:lvl8pPr>
            <a:lvl9pPr>
              <a:defRPr sz="1275" b="0">
                <a:solidFill>
                  <a:srgbClr val="5A6573"/>
                </a:solidFill>
              </a:defRPr>
            </a:lvl9pPr>
          </a:lstStyle>
          <a:p xmlns:a="http://schemas.openxmlformats.org/drawingml/2006/main">
            <a:pPr>
              <a:defRPr sz="1275" b="0">
                <a:solidFill>
                  <a:srgbClr val="5A6573"/>
                </a:solidFill>
              </a:defRPr>
            </a:pPr>
            <a:r>
              <a:rPr sz="1275" b="0">
                <a:solidFill>
                  <a:srgbClr val="5A6573"/>
                </a:solidFill>
              </a:rPr>
              <a:t>Log JDBC ghi lỗi mở socket: BindException, Address already in use: connect.</a:t>
            </a:r>
          </a:p>
        </p:txBody>
      </p:sp>
      <p:sp>
        <p:nvSpPr>
          <p:cNvPr id="10" name="">
            <a:extLst xmlns:a="http://schemas.openxmlformats.org/drawingml/2006/main">
              <a:ext uri="{FF2B5EF4-FFF2-40B4-BE49-F238E27FC236}">
                <a16:creationId xmlns:a16="http://schemas.microsoft.com/office/drawing/2014/main" id="{882185FF-96B9-443C-AEBB-6C6A822DB275}"/>
              </a:ext>
            </a:extLst>
          </p:cNvPr>
          <p:cNvSpPr>
            <a:spLocks xmlns:a="http://schemas.openxmlformats.org/drawingml/2006/main" noGrp="1"/>
          </p:cNvSpPr>
          <p:nvPr/>
        </p:nvSpPr>
        <p:spPr>
          <a:xfrm xmlns:a="http://schemas.openxmlformats.org/drawingml/2006/main">
            <a:off x="809625" y="58388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A6573"/>
                </a:solidFill>
              </a:defRPr>
            </a:defPPr>
            <a:lvl1pPr>
              <a:defRPr sz="1200" b="0">
                <a:solidFill>
                  <a:srgbClr val="5A6573"/>
                </a:solidFill>
              </a:defRPr>
            </a:lvl1pPr>
            <a:lvl2pPr>
              <a:defRPr sz="1200" b="0">
                <a:solidFill>
                  <a:srgbClr val="5A6573"/>
                </a:solidFill>
              </a:defRPr>
            </a:lvl2pPr>
            <a:lvl3pPr>
              <a:defRPr sz="1200" b="0">
                <a:solidFill>
                  <a:srgbClr val="5A6573"/>
                </a:solidFill>
              </a:defRPr>
            </a:lvl3pPr>
            <a:lvl4pPr>
              <a:defRPr sz="1200" b="0">
                <a:solidFill>
                  <a:srgbClr val="5A6573"/>
                </a:solidFill>
              </a:defRPr>
            </a:lvl4pPr>
            <a:lvl5pPr>
              <a:defRPr sz="1200" b="0">
                <a:solidFill>
                  <a:srgbClr val="5A6573"/>
                </a:solidFill>
              </a:defRPr>
            </a:lvl5pPr>
            <a:lvl6pPr>
              <a:defRPr sz="1200" b="0">
                <a:solidFill>
                  <a:srgbClr val="5A6573"/>
                </a:solidFill>
              </a:defRPr>
            </a:lvl6pPr>
            <a:lvl7pPr>
              <a:defRPr sz="1200" b="0">
                <a:solidFill>
                  <a:srgbClr val="5A6573"/>
                </a:solidFill>
              </a:defRPr>
            </a:lvl7pPr>
            <a:lvl8pPr>
              <a:defRPr sz="1200" b="0">
                <a:solidFill>
                  <a:srgbClr val="5A6573"/>
                </a:solidFill>
              </a:defRPr>
            </a:lvl8pPr>
            <a:lvl9pPr>
              <a:defRPr sz="1200" b="0">
                <a:solidFill>
                  <a:srgbClr val="5A6573"/>
                </a:solidFill>
              </a:defRPr>
            </a:lvl9pPr>
          </a:lstStyle>
          <a:p xmlns:a="http://schemas.openxmlformats.org/drawingml/2006/main">
            <a:pPr>
              <a:defRPr sz="1200" b="0">
                <a:solidFill>
                  <a:srgbClr val="5A6573"/>
                </a:solidFill>
              </a:defRPr>
            </a:pPr>
            <a:r>
              <a:rPr sz="1200" b="0">
                <a:solidFill>
                  <a:srgbClr val="5A6573"/>
                </a:solidFill>
              </a:rPr>
              <a:t>Máy dev dùng chung. Số HTTP và độ trễ gồm 1 login setup. Không suy rộng thành tải production.</a:t>
            </a:r>
          </a:p>
        </p:txBody>
      </p:sp>
    </p:spTree>
    <p:extLst>
      <p:ext uri="{BB962C8B-B14F-4D97-AF65-F5344CB8AC3E}">
        <p14:creationId xmlns:p14="http://schemas.microsoft.com/office/powerpoint/2010/main" val="47768763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21143</Words>
  <Application>WPS Presentation</Application>
  <PresentationFormat>Converted Presentation</PresentationFormat>
  <Paragraphs>1381</Paragraphs>
  <Slides>41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37</vt:i4>
      </vt:variant>
    </vt:vector>
  </HeadingPairs>
  <TitlesOfParts>
    <vt:vector size="49" baseType="lpstr">
      <vt:lpstr>Arial</vt:lpstr>
      <vt:lpstr>SimSun</vt:lpstr>
      <vt:lpstr>Wingdings</vt:lpstr>
      <vt:lpstr>Arial</vt:lpstr>
      <vt:lpstr>Be Vietnam Pro</vt:lpstr>
      <vt:lpstr>Calibri</vt:lpstr>
      <vt:lpstr>Aptos</vt:lpstr>
      <vt:lpstr>Segoe UI</vt:lpstr>
      <vt:lpstr>JetBrains Mono</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NGUYEN VAN THANG</cp:lastModifiedBy>
  <cp:revision>1</cp:revision>
  <dcterms:created xsi:type="dcterms:W3CDTF">2026-10-23T13:31:21Z</dcterms:created>
  <dcterms:modified xsi:type="dcterms:W3CDTF">2026-10-23T13:31:23Z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199C9A9B02B74D46BFC9A8CED9B46309_12</vt:lpwstr>
  </property>
</Properties>
</file>